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279" autoAdjust="0"/>
  </p:normalViewPr>
  <p:slideViewPr>
    <p:cSldViewPr snapToGrid="0">
      <p:cViewPr varScale="1">
        <p:scale>
          <a:sx n="68" d="100"/>
          <a:sy n="68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1945CD-C0BC-4123-80C2-A802BC3E4444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790D90-8B34-494D-9695-3C63A6D4C6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3558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790D90-8B34-494D-9695-3C63A6D4C69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4377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98D05F6-912B-4DB0-876C-333ECB624930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6B16D3F-5D00-45CC-94F3-CA174D66B0BA}" type="slidenum">
              <a:rPr lang="pt-BR" smtClean="0"/>
              <a:t>‹nº›</a:t>
            </a:fld>
            <a:endParaRPr lang="pt-BR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03954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D05F6-912B-4DB0-876C-333ECB624930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16D3F-5D00-45CC-94F3-CA174D66B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6933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98D05F6-912B-4DB0-876C-333ECB624930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6B16D3F-5D00-45CC-94F3-CA174D66B0BA}" type="slidenum">
              <a:rPr lang="pt-BR" smtClean="0"/>
              <a:t>‹nº›</a:t>
            </a:fld>
            <a:endParaRPr lang="pt-BR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4440839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D05F6-912B-4DB0-876C-333ECB624930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16D3F-5D00-45CC-94F3-CA174D66B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48557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D05F6-912B-4DB0-876C-333ECB624930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16D3F-5D00-45CC-94F3-CA174D66B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27464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D05F6-912B-4DB0-876C-333ECB624930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16D3F-5D00-45CC-94F3-CA174D66B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7389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D05F6-912B-4DB0-876C-333ECB624930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16D3F-5D00-45CC-94F3-CA174D66B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1441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298D05F6-912B-4DB0-876C-333ECB624930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B6B16D3F-5D00-45CC-94F3-CA174D66B0B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96387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298D05F6-912B-4DB0-876C-333ECB624930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B6B16D3F-5D00-45CC-94F3-CA174D66B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520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D05F6-912B-4DB0-876C-333ECB624930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16D3F-5D00-45CC-94F3-CA174D66B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5717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D05F6-912B-4DB0-876C-333ECB624930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16D3F-5D00-45CC-94F3-CA174D66B0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2536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298D05F6-912B-4DB0-876C-333ECB624930}" type="datetimeFigureOut">
              <a:rPr lang="pt-BR" smtClean="0"/>
              <a:t>22/05/2026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6B16D3F-5D00-45CC-94F3-CA174D66B0BA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08332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Java Script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Aula 2 - </a:t>
            </a:r>
            <a:r>
              <a:rPr lang="pt-BR" dirty="0" err="1"/>
              <a:t>variaveis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875" y="4714875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656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Java Script – </a:t>
            </a:r>
            <a:r>
              <a:rPr lang="pt-BR" dirty="0" err="1"/>
              <a:t>Variaveis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51677" y="2286001"/>
            <a:ext cx="10560707" cy="139653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dirty="0" err="1">
                <a:solidFill>
                  <a:srgbClr val="FF0000"/>
                </a:solidFill>
              </a:rPr>
              <a:t>JavaScript</a:t>
            </a:r>
            <a:r>
              <a:rPr lang="pt-BR" dirty="0">
                <a:solidFill>
                  <a:srgbClr val="FF0000"/>
                </a:solidFill>
              </a:rPr>
              <a:t> - </a:t>
            </a:r>
            <a:r>
              <a:rPr lang="pt-BR" dirty="0" err="1">
                <a:solidFill>
                  <a:srgbClr val="FF0000"/>
                </a:solidFill>
              </a:rPr>
              <a:t>Variaveis</a:t>
            </a:r>
            <a:endParaRPr lang="pt-BR" dirty="0">
              <a:solidFill>
                <a:srgbClr val="FF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pt-BR" dirty="0"/>
              <a:t>Não é que elas sejam importante, são essenciais. É quase que impossível programar algum programa útil que não venha a usar nenhuma variável.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476" y="5879592"/>
            <a:ext cx="1626524" cy="978408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1389" y="3937279"/>
            <a:ext cx="5744095" cy="284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042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Java Script – </a:t>
            </a:r>
            <a:r>
              <a:rPr lang="pt-BR" dirty="0" err="1"/>
              <a:t>Variaveis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51677" y="2286001"/>
            <a:ext cx="10560707" cy="359359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dirty="0">
                <a:solidFill>
                  <a:srgbClr val="FF0000"/>
                </a:solidFill>
              </a:rPr>
              <a:t>Como declarar uma variável em </a:t>
            </a:r>
            <a:r>
              <a:rPr lang="pt-BR" dirty="0" err="1">
                <a:solidFill>
                  <a:srgbClr val="FF0000"/>
                </a:solidFill>
              </a:rPr>
              <a:t>JavaScript</a:t>
            </a:r>
            <a:r>
              <a:rPr lang="pt-BR" dirty="0">
                <a:solidFill>
                  <a:srgbClr val="FF0000"/>
                </a:solidFill>
              </a:rPr>
              <a:t>: </a:t>
            </a:r>
            <a:r>
              <a:rPr lang="pt-BR" b="1" i="1" dirty="0">
                <a:solidFill>
                  <a:srgbClr val="FF0000"/>
                </a:solidFill>
              </a:rPr>
              <a:t>var , </a:t>
            </a:r>
            <a:r>
              <a:rPr lang="pt-BR" b="1" i="1" dirty="0" err="1">
                <a:solidFill>
                  <a:srgbClr val="FF0000"/>
                </a:solidFill>
              </a:rPr>
              <a:t>let</a:t>
            </a:r>
            <a:r>
              <a:rPr lang="pt-BR" b="1" i="1" dirty="0">
                <a:solidFill>
                  <a:srgbClr val="FF0000"/>
                </a:solidFill>
              </a:rPr>
              <a:t> e </a:t>
            </a:r>
            <a:r>
              <a:rPr lang="pt-BR" b="1" i="1" dirty="0" err="1">
                <a:solidFill>
                  <a:srgbClr val="FF0000"/>
                </a:solidFill>
              </a:rPr>
              <a:t>const</a:t>
            </a:r>
            <a:endParaRPr lang="pt-BR" b="1" i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pt-BR" b="1" i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pt-BR" b="1" i="1" dirty="0">
                <a:solidFill>
                  <a:schemeClr val="tx1"/>
                </a:solidFill>
              </a:rPr>
              <a:t>Declarar uma variável é reservar memória para armazenar uma informação.</a:t>
            </a:r>
          </a:p>
          <a:p>
            <a:pPr marL="0" indent="0" algn="ctr">
              <a:buNone/>
            </a:pPr>
            <a:r>
              <a:rPr lang="pt-BR" b="1" i="1" dirty="0">
                <a:solidFill>
                  <a:schemeClr val="tx1"/>
                </a:solidFill>
              </a:rPr>
              <a:t>Essa informação vai ficar associada a essa variável, e para podermos fazer</a:t>
            </a:r>
          </a:p>
          <a:p>
            <a:pPr marL="0" indent="0" algn="ctr">
              <a:buNone/>
            </a:pPr>
            <a:r>
              <a:rPr lang="pt-BR" b="1" i="1" dirty="0">
                <a:solidFill>
                  <a:schemeClr val="tx1"/>
                </a:solidFill>
              </a:rPr>
              <a:t>isso temos que usar um comando especial, que diga ao </a:t>
            </a:r>
            <a:r>
              <a:rPr lang="pt-BR" b="1" i="1" dirty="0" err="1">
                <a:solidFill>
                  <a:schemeClr val="tx1"/>
                </a:solidFill>
              </a:rPr>
              <a:t>JavaScript</a:t>
            </a:r>
            <a:endParaRPr lang="pt-BR" b="1" i="1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476" y="5879592"/>
            <a:ext cx="1626524" cy="9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655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Java Script – </a:t>
            </a:r>
            <a:r>
              <a:rPr lang="pt-BR" dirty="0" err="1"/>
              <a:t>Variaveis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51677" y="2286001"/>
            <a:ext cx="10560707" cy="46582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dirty="0">
                <a:solidFill>
                  <a:srgbClr val="FF0000"/>
                </a:solidFill>
              </a:rPr>
              <a:t>Como declarar uma variável em </a:t>
            </a:r>
            <a:r>
              <a:rPr lang="pt-BR" dirty="0" err="1">
                <a:solidFill>
                  <a:srgbClr val="FF0000"/>
                </a:solidFill>
              </a:rPr>
              <a:t>JavaScript</a:t>
            </a:r>
            <a:r>
              <a:rPr lang="pt-BR" dirty="0">
                <a:solidFill>
                  <a:srgbClr val="FF0000"/>
                </a:solidFill>
              </a:rPr>
              <a:t>: </a:t>
            </a:r>
            <a:r>
              <a:rPr lang="pt-BR" b="1" i="1" dirty="0">
                <a:solidFill>
                  <a:srgbClr val="FF0000"/>
                </a:solidFill>
              </a:rPr>
              <a:t>var , </a:t>
            </a:r>
            <a:r>
              <a:rPr lang="pt-BR" b="1" i="1" dirty="0" err="1">
                <a:solidFill>
                  <a:srgbClr val="FF0000"/>
                </a:solidFill>
              </a:rPr>
              <a:t>let</a:t>
            </a:r>
            <a:r>
              <a:rPr lang="pt-BR" b="1" i="1" dirty="0">
                <a:solidFill>
                  <a:srgbClr val="FF0000"/>
                </a:solidFill>
              </a:rPr>
              <a:t> e </a:t>
            </a:r>
            <a:r>
              <a:rPr lang="pt-BR" b="1" i="1" dirty="0" err="1">
                <a:solidFill>
                  <a:srgbClr val="FF0000"/>
                </a:solidFill>
              </a:rPr>
              <a:t>const</a:t>
            </a:r>
            <a:endParaRPr lang="pt-BR" b="1" i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5476" y="5879592"/>
            <a:ext cx="1626524" cy="978408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879895" y="2887682"/>
            <a:ext cx="968558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a) As declarações de var tem escopo global ou de função, enquanto as declarações de </a:t>
            </a:r>
            <a:r>
              <a:rPr lang="pt-BR" dirty="0" err="1"/>
              <a:t>let</a:t>
            </a:r>
            <a:r>
              <a:rPr lang="pt-BR" dirty="0"/>
              <a:t> e de </a:t>
            </a:r>
            <a:r>
              <a:rPr lang="pt-BR" dirty="0" err="1"/>
              <a:t>const</a:t>
            </a:r>
            <a:r>
              <a:rPr lang="pt-BR" dirty="0"/>
              <a:t> têm escopo de bloco.</a:t>
            </a:r>
          </a:p>
          <a:p>
            <a:endParaRPr lang="pt-BR" dirty="0"/>
          </a:p>
          <a:p>
            <a:r>
              <a:rPr lang="pt-BR" dirty="0"/>
              <a:t>b)Variáveis de var podem ser atualizadas e declaradas novamente dentro de seu escopo. As variáveis de </a:t>
            </a:r>
            <a:r>
              <a:rPr lang="pt-BR" dirty="0" err="1"/>
              <a:t>let</a:t>
            </a:r>
            <a:r>
              <a:rPr lang="pt-BR" dirty="0"/>
              <a:t> podem ser atualizadas, mas não podem ser declaradas novamente. As variáveis de </a:t>
            </a:r>
            <a:r>
              <a:rPr lang="pt-BR" dirty="0" err="1"/>
              <a:t>const</a:t>
            </a:r>
            <a:r>
              <a:rPr lang="pt-BR" dirty="0"/>
              <a:t> não podem ser atualizadas nem declaradas novamente.</a:t>
            </a:r>
          </a:p>
          <a:p>
            <a:endParaRPr lang="pt-BR" dirty="0"/>
          </a:p>
          <a:p>
            <a:r>
              <a:rPr lang="pt-BR" dirty="0"/>
              <a:t>c)Todas elas passam por </a:t>
            </a:r>
            <a:r>
              <a:rPr lang="pt-BR" dirty="0" err="1">
                <a:solidFill>
                  <a:srgbClr val="FF0000"/>
                </a:solidFill>
              </a:rPr>
              <a:t>hoisting</a:t>
            </a:r>
            <a:r>
              <a:rPr lang="pt-BR" dirty="0">
                <a:solidFill>
                  <a:srgbClr val="FF0000"/>
                </a:solidFill>
              </a:rPr>
              <a:t>(</a:t>
            </a:r>
            <a:r>
              <a:rPr lang="pt-BR" dirty="0" err="1">
                <a:solidFill>
                  <a:srgbClr val="FF0000"/>
                </a:solidFill>
              </a:rPr>
              <a:t>Hoisting</a:t>
            </a:r>
            <a:r>
              <a:rPr lang="pt-BR" dirty="0">
                <a:solidFill>
                  <a:srgbClr val="FF0000"/>
                </a:solidFill>
              </a:rPr>
              <a:t> é um mecanismo do </a:t>
            </a:r>
            <a:r>
              <a:rPr lang="pt-BR" dirty="0" err="1">
                <a:solidFill>
                  <a:srgbClr val="FF0000"/>
                </a:solidFill>
              </a:rPr>
              <a:t>JavaScript</a:t>
            </a:r>
            <a:r>
              <a:rPr lang="pt-BR" dirty="0">
                <a:solidFill>
                  <a:srgbClr val="FF0000"/>
                </a:solidFill>
              </a:rPr>
              <a:t> que faz com que as declarações de variáveis e de funções sejam movidas para o topo de seu escopo antes da execução do código.) </a:t>
            </a:r>
            <a:r>
              <a:rPr lang="pt-BR" dirty="0"/>
              <a:t>Porém, enquanto variáveis com var são inicializadas com </a:t>
            </a:r>
            <a:r>
              <a:rPr lang="pt-BR" dirty="0" err="1"/>
              <a:t>undefined</a:t>
            </a:r>
            <a:r>
              <a:rPr lang="pt-BR" dirty="0"/>
              <a:t>, as variáveis com </a:t>
            </a:r>
            <a:r>
              <a:rPr lang="pt-BR" dirty="0" err="1"/>
              <a:t>let</a:t>
            </a:r>
            <a:r>
              <a:rPr lang="pt-BR" dirty="0"/>
              <a:t> e </a:t>
            </a:r>
            <a:r>
              <a:rPr lang="pt-BR" dirty="0" err="1"/>
              <a:t>const</a:t>
            </a:r>
            <a:r>
              <a:rPr lang="pt-BR" dirty="0"/>
              <a:t> não são inicializadas.</a:t>
            </a:r>
          </a:p>
          <a:p>
            <a:endParaRPr lang="pt-BR" dirty="0">
              <a:solidFill>
                <a:srgbClr val="7030A0"/>
              </a:solidFill>
            </a:endParaRPr>
          </a:p>
          <a:p>
            <a:r>
              <a:rPr lang="pt-BR" dirty="0"/>
              <a:t>d)Enquanto var e </a:t>
            </a:r>
            <a:r>
              <a:rPr lang="pt-BR" dirty="0" err="1"/>
              <a:t>let</a:t>
            </a:r>
            <a:r>
              <a:rPr lang="pt-BR" dirty="0"/>
              <a:t> podem ser declaradas sem ser inicializadas, </a:t>
            </a:r>
            <a:r>
              <a:rPr lang="pt-BR" dirty="0" err="1"/>
              <a:t>const</a:t>
            </a:r>
            <a:r>
              <a:rPr lang="pt-BR" dirty="0"/>
              <a:t> precisa da inicialização durante a declaração </a:t>
            </a:r>
            <a:r>
              <a:rPr lang="pt-BR" dirty="0" err="1"/>
              <a:t>enão</a:t>
            </a:r>
            <a:r>
              <a:rPr lang="pt-BR" dirty="0"/>
              <a:t> pode sofrer </a:t>
            </a:r>
            <a:r>
              <a:rPr lang="pt-BR"/>
              <a:t>açteração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10725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Java Script – </a:t>
            </a:r>
            <a:r>
              <a:rPr lang="pt-BR" dirty="0" err="1"/>
              <a:t>Variaveis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51677" y="2286001"/>
            <a:ext cx="10560707" cy="445562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dirty="0" err="1">
                <a:solidFill>
                  <a:srgbClr val="FF0000"/>
                </a:solidFill>
              </a:rPr>
              <a:t>JavaScript</a:t>
            </a:r>
            <a:r>
              <a:rPr lang="pt-BR" dirty="0">
                <a:solidFill>
                  <a:srgbClr val="FF0000"/>
                </a:solidFill>
              </a:rPr>
              <a:t> -  Tipos de dados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No </a:t>
            </a:r>
            <a:r>
              <a:rPr lang="pt-BR" dirty="0" err="1">
                <a:solidFill>
                  <a:schemeClr val="tx1"/>
                </a:solidFill>
              </a:rPr>
              <a:t>JavaScript</a:t>
            </a:r>
            <a:r>
              <a:rPr lang="pt-BR" dirty="0">
                <a:solidFill>
                  <a:schemeClr val="tx1"/>
                </a:solidFill>
              </a:rPr>
              <a:t>, vamos lidar com os seguintes tipos de dados</a:t>
            </a:r>
          </a:p>
          <a:p>
            <a:pPr marL="0" indent="0">
              <a:buNone/>
            </a:pPr>
            <a:endParaRPr lang="pt-B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•Números</a:t>
            </a: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•</a:t>
            </a:r>
            <a:r>
              <a:rPr lang="pt-BR" dirty="0" err="1">
                <a:solidFill>
                  <a:schemeClr val="tx1"/>
                </a:solidFill>
              </a:rPr>
              <a:t>Strings</a:t>
            </a:r>
            <a:endParaRPr lang="pt-B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•Booleanos</a:t>
            </a: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•</a:t>
            </a:r>
            <a:r>
              <a:rPr lang="pt-BR" dirty="0" err="1">
                <a:solidFill>
                  <a:schemeClr val="tx1"/>
                </a:solidFill>
              </a:rPr>
              <a:t>Null</a:t>
            </a:r>
            <a:endParaRPr lang="pt-B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•Objetos</a:t>
            </a: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•Funções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476" y="5879592"/>
            <a:ext cx="1626524" cy="9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65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Java Script – </a:t>
            </a:r>
            <a:r>
              <a:rPr lang="pt-BR" dirty="0" err="1"/>
              <a:t>Variaveis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51677" y="2286001"/>
            <a:ext cx="10835028" cy="4459855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pt-BR" sz="2600" dirty="0">
                <a:solidFill>
                  <a:srgbClr val="FF0000"/>
                </a:solidFill>
              </a:rPr>
              <a:t>1 - Tipo de dado: Número</a:t>
            </a: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Esse é o mais óbvio tipo de dado.</a:t>
            </a: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Seu dia de nascimento é um número, seu salário é um número.</a:t>
            </a: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Basicamente, temos dois tipos de números:</a:t>
            </a:r>
          </a:p>
          <a:p>
            <a:pPr marL="0" indent="0">
              <a:buNone/>
            </a:pPr>
            <a:r>
              <a:rPr lang="pt-BR" dirty="0">
                <a:solidFill>
                  <a:srgbClr val="7030A0"/>
                </a:solidFill>
              </a:rPr>
              <a:t>•Inteiro: </a:t>
            </a:r>
          </a:p>
          <a:p>
            <a:pPr marL="0" indent="0">
              <a:buNone/>
            </a:pPr>
            <a:r>
              <a:rPr lang="pt-BR" dirty="0">
                <a:solidFill>
                  <a:srgbClr val="7030A0"/>
                </a:solidFill>
              </a:rPr>
              <a:t>1, 2, 3, 4, 5, 2112, -10 </a:t>
            </a:r>
          </a:p>
          <a:p>
            <a:pPr marL="0" indent="0">
              <a:buNone/>
            </a:pPr>
            <a:r>
              <a:rPr lang="pt-BR" dirty="0">
                <a:solidFill>
                  <a:srgbClr val="7030A0"/>
                </a:solidFill>
              </a:rPr>
              <a:t>•Decimais:</a:t>
            </a: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São os quebrados, em nossa língua portuguesa usamos eles</a:t>
            </a: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separados por vírgulas:</a:t>
            </a: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Preço: R$ 1,99</a:t>
            </a: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Mas em programação, usamos ponto no lugar de vírgula:</a:t>
            </a:r>
          </a:p>
          <a:p>
            <a:pPr marL="0" indent="0">
              <a:buNone/>
            </a:pPr>
            <a:r>
              <a:rPr lang="pt-BR" dirty="0">
                <a:solidFill>
                  <a:srgbClr val="00B0F0"/>
                </a:solidFill>
              </a:rPr>
              <a:t>1, 99 para gente é 1.99 </a:t>
            </a:r>
            <a:r>
              <a:rPr lang="pt-BR" dirty="0">
                <a:solidFill>
                  <a:schemeClr val="tx1"/>
                </a:solidFill>
              </a:rPr>
              <a:t>em computação,</a:t>
            </a:r>
          </a:p>
          <a:p>
            <a:pPr marL="0" indent="0" algn="ctr">
              <a:buNone/>
            </a:pP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476" y="5879592"/>
            <a:ext cx="1626524" cy="9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342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Java Script – </a:t>
            </a:r>
            <a:r>
              <a:rPr lang="pt-BR" dirty="0" err="1"/>
              <a:t>Variaveis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51677" y="2286001"/>
            <a:ext cx="10835028" cy="445985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600" dirty="0">
                <a:solidFill>
                  <a:srgbClr val="FF0000"/>
                </a:solidFill>
              </a:rPr>
              <a:t>2 - Tipo de dado: </a:t>
            </a:r>
            <a:r>
              <a:rPr lang="pt-BR" sz="2600" dirty="0" err="1">
                <a:solidFill>
                  <a:srgbClr val="FF0000"/>
                </a:solidFill>
              </a:rPr>
              <a:t>Strings</a:t>
            </a:r>
            <a:endParaRPr lang="pt-BR" sz="26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pt-BR" dirty="0" err="1">
                <a:solidFill>
                  <a:schemeClr val="tx1"/>
                </a:solidFill>
              </a:rPr>
              <a:t>Strings</a:t>
            </a:r>
            <a:r>
              <a:rPr lang="pt-BR" dirty="0">
                <a:solidFill>
                  <a:schemeClr val="tx1"/>
                </a:solidFill>
              </a:rPr>
              <a:t> são, nada mais nada menos, que textos.</a:t>
            </a: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Uma palavra, uma frase, um caractere (como ! @ # $ % "+ _ []/ </a:t>
            </a:r>
            <a:r>
              <a:rPr lang="pt-BR" dirty="0" err="1">
                <a:solidFill>
                  <a:schemeClr val="tx1"/>
                </a:solidFill>
              </a:rPr>
              <a:t>etc</a:t>
            </a:r>
            <a:r>
              <a:rPr lang="pt-BR" dirty="0">
                <a:solidFill>
                  <a:schemeClr val="tx1"/>
                </a:solidFill>
              </a:rPr>
              <a:t>).</a:t>
            </a: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Uma </a:t>
            </a:r>
            <a:r>
              <a:rPr lang="pt-BR" dirty="0" err="1">
                <a:solidFill>
                  <a:schemeClr val="tx1"/>
                </a:solidFill>
              </a:rPr>
              <a:t>string</a:t>
            </a:r>
            <a:r>
              <a:rPr lang="pt-BR" dirty="0">
                <a:solidFill>
                  <a:schemeClr val="tx1"/>
                </a:solidFill>
              </a:rPr>
              <a:t> é sempre representada por algo que está dentro de aspas.</a:t>
            </a: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Exemplos :</a:t>
            </a: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•"Olá mundo"</a:t>
            </a: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•"Curso"</a:t>
            </a: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•"a"</a:t>
            </a: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•"b"</a:t>
            </a: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•"c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476" y="5879592"/>
            <a:ext cx="1626524" cy="9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243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Java Script – </a:t>
            </a:r>
            <a:r>
              <a:rPr lang="pt-BR" dirty="0" err="1"/>
              <a:t>Variaveis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51677" y="2286001"/>
            <a:ext cx="10835028" cy="445985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BR" sz="26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Mas, veja bem:</a:t>
            </a:r>
          </a:p>
          <a:p>
            <a:pPr marL="0" indent="0">
              <a:buNone/>
            </a:pPr>
            <a:endParaRPr lang="pt-B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Número: 2112</a:t>
            </a:r>
          </a:p>
          <a:p>
            <a:pPr marL="0" indent="0">
              <a:buNone/>
            </a:pPr>
            <a:endParaRPr lang="pt-B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pt-BR" dirty="0" err="1">
                <a:solidFill>
                  <a:schemeClr val="tx1"/>
                </a:solidFill>
              </a:rPr>
              <a:t>String</a:t>
            </a:r>
            <a:r>
              <a:rPr lang="pt-BR" dirty="0">
                <a:solidFill>
                  <a:schemeClr val="tx1"/>
                </a:solidFill>
              </a:rPr>
              <a:t> : "2112"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476" y="5879592"/>
            <a:ext cx="1626524" cy="978408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0151" y="1497582"/>
            <a:ext cx="3381375" cy="1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057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Java Script – </a:t>
            </a:r>
            <a:r>
              <a:rPr lang="pt-BR" dirty="0" err="1"/>
              <a:t>Variaveis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51677" y="2286001"/>
            <a:ext cx="10835028" cy="445985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600" dirty="0">
                <a:solidFill>
                  <a:srgbClr val="FF0000"/>
                </a:solidFill>
              </a:rPr>
              <a:t>Atribuindo valores:</a:t>
            </a:r>
          </a:p>
          <a:p>
            <a:pPr marL="0" indent="0" algn="ctr">
              <a:buNone/>
            </a:pPr>
            <a:endParaRPr lang="pt-BR" sz="26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Ou seja, vamos fazer uma variável que criamos armazenar determinada</a:t>
            </a: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informação.</a:t>
            </a:r>
          </a:p>
          <a:p>
            <a:pPr marL="0" indent="0">
              <a:buNone/>
            </a:pPr>
            <a:r>
              <a:rPr lang="pt-BR" dirty="0">
                <a:solidFill>
                  <a:schemeClr val="tx1"/>
                </a:solidFill>
              </a:rPr>
              <a:t>Vamos criar uma variável chamada idade e fazer ela receber um valor (por exemplo, 18):</a:t>
            </a:r>
          </a:p>
          <a:p>
            <a:pPr marL="0" indent="0">
              <a:buNone/>
            </a:pPr>
            <a:r>
              <a:rPr lang="pt-BR" dirty="0">
                <a:solidFill>
                  <a:srgbClr val="7030A0"/>
                </a:solidFill>
              </a:rPr>
              <a:t>var idade;</a:t>
            </a:r>
          </a:p>
          <a:p>
            <a:pPr marL="0" indent="0">
              <a:buNone/>
            </a:pPr>
            <a:r>
              <a:rPr lang="pt-BR" dirty="0">
                <a:solidFill>
                  <a:srgbClr val="7030A0"/>
                </a:solidFill>
              </a:rPr>
              <a:t>idade = 18;</a:t>
            </a:r>
          </a:p>
          <a:p>
            <a:pPr marL="0" indent="0">
              <a:buNone/>
            </a:pPr>
            <a:r>
              <a:rPr lang="pt-BR" dirty="0">
                <a:solidFill>
                  <a:srgbClr val="7030A0"/>
                </a:solidFill>
              </a:rPr>
              <a:t>var nome = "Olá, Mundo!"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476" y="5879592"/>
            <a:ext cx="1626524" cy="9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843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Java Script – </a:t>
            </a:r>
            <a:r>
              <a:rPr lang="pt-BR" dirty="0" err="1"/>
              <a:t>Variaveis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51677" y="2286001"/>
            <a:ext cx="10835028" cy="445985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600" dirty="0">
                <a:solidFill>
                  <a:srgbClr val="FF0000"/>
                </a:solidFill>
              </a:rPr>
              <a:t>O Método </a:t>
            </a:r>
            <a:r>
              <a:rPr lang="pt-BR" sz="2600" dirty="0" err="1">
                <a:solidFill>
                  <a:srgbClr val="FF0000"/>
                </a:solidFill>
              </a:rPr>
              <a:t>document.write</a:t>
            </a:r>
            <a:r>
              <a:rPr lang="pt-BR" sz="2600" dirty="0">
                <a:solidFill>
                  <a:srgbClr val="FF0000"/>
                </a:solidFill>
              </a:rPr>
              <a:t>() - Exibindo coisas no documento </a:t>
            </a:r>
          </a:p>
          <a:p>
            <a:pPr marL="0" indent="0" algn="ctr">
              <a:buNone/>
            </a:pPr>
            <a:endParaRPr lang="pt-BR" sz="2600" dirty="0">
              <a:solidFill>
                <a:srgbClr val="FF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pt-BR" dirty="0">
                <a:solidFill>
                  <a:schemeClr val="tx1"/>
                </a:solidFill>
              </a:rPr>
              <a:t>O método </a:t>
            </a:r>
            <a:r>
              <a:rPr lang="pt-BR" dirty="0" err="1">
                <a:solidFill>
                  <a:schemeClr val="tx1"/>
                </a:solidFill>
              </a:rPr>
              <a:t>write</a:t>
            </a:r>
            <a:r>
              <a:rPr lang="pt-BR" dirty="0">
                <a:solidFill>
                  <a:schemeClr val="tx1"/>
                </a:solidFill>
              </a:rPr>
              <a:t>() serve para você escrever informações no documento.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dirty="0">
                <a:solidFill>
                  <a:schemeClr val="tx1"/>
                </a:solidFill>
              </a:rPr>
              <a:t>Ele é bem simples de usar, basta colocar dentro dos parêntesis o que deseja que apareça no documento (no caso, a página HTML).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dirty="0">
                <a:solidFill>
                  <a:schemeClr val="tx1"/>
                </a:solidFill>
              </a:rPr>
              <a:t>Exemplo 1: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dirty="0">
                <a:solidFill>
                  <a:srgbClr val="7030A0"/>
                </a:solidFill>
              </a:rPr>
              <a:t>Para exibir o valor de uma variável de nome teste: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dirty="0" err="1">
                <a:solidFill>
                  <a:srgbClr val="7030A0"/>
                </a:solidFill>
              </a:rPr>
              <a:t>document.write</a:t>
            </a:r>
            <a:r>
              <a:rPr lang="pt-BR" dirty="0">
                <a:solidFill>
                  <a:srgbClr val="7030A0"/>
                </a:solidFill>
              </a:rPr>
              <a:t>(teste)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476" y="5879592"/>
            <a:ext cx="1626524" cy="9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35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Java Script – </a:t>
            </a:r>
            <a:r>
              <a:rPr lang="pt-BR" dirty="0" err="1"/>
              <a:t>Variaveis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51677" y="2286001"/>
            <a:ext cx="10835028" cy="445985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600" dirty="0">
                <a:solidFill>
                  <a:srgbClr val="FF0000"/>
                </a:solidFill>
              </a:rPr>
              <a:t>O Método </a:t>
            </a:r>
            <a:r>
              <a:rPr lang="pt-BR" sz="2600" dirty="0" err="1">
                <a:solidFill>
                  <a:srgbClr val="FF0000"/>
                </a:solidFill>
              </a:rPr>
              <a:t>document.write</a:t>
            </a:r>
            <a:r>
              <a:rPr lang="pt-BR" sz="2600" dirty="0">
                <a:solidFill>
                  <a:srgbClr val="FF0000"/>
                </a:solidFill>
              </a:rPr>
              <a:t>() - Exibindo coisas no documento </a:t>
            </a:r>
          </a:p>
          <a:p>
            <a:pPr marL="0" indent="0" algn="ctr">
              <a:buNone/>
            </a:pPr>
            <a:endParaRPr lang="pt-BR" sz="2600" dirty="0">
              <a:solidFill>
                <a:srgbClr val="FF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pt-BR" dirty="0">
                <a:solidFill>
                  <a:schemeClr val="tx1"/>
                </a:solidFill>
              </a:rPr>
              <a:t>O método </a:t>
            </a:r>
            <a:r>
              <a:rPr lang="pt-BR" dirty="0" err="1">
                <a:solidFill>
                  <a:schemeClr val="tx1"/>
                </a:solidFill>
              </a:rPr>
              <a:t>write</a:t>
            </a:r>
            <a:r>
              <a:rPr lang="pt-BR" dirty="0">
                <a:solidFill>
                  <a:schemeClr val="tx1"/>
                </a:solidFill>
              </a:rPr>
              <a:t>() serve para você escrever informações no documento.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dirty="0">
                <a:solidFill>
                  <a:schemeClr val="tx1"/>
                </a:solidFill>
              </a:rPr>
              <a:t>Ele é bem simples de usar, basta colocar dentro dos parêntesis o que deseja que apareça no documento (no caso, a página HTML).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dirty="0">
                <a:solidFill>
                  <a:schemeClr val="tx1"/>
                </a:solidFill>
              </a:rPr>
              <a:t>Exemplo 2: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dirty="0" err="1">
                <a:solidFill>
                  <a:srgbClr val="7030A0"/>
                </a:solidFill>
              </a:rPr>
              <a:t>document.write</a:t>
            </a:r>
            <a:r>
              <a:rPr lang="pt-BR" dirty="0">
                <a:solidFill>
                  <a:srgbClr val="7030A0"/>
                </a:solidFill>
              </a:rPr>
              <a:t>("Minha idade: ", idade)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dirty="0">
                <a:solidFill>
                  <a:srgbClr val="7030A0"/>
                </a:solidFill>
              </a:rPr>
              <a:t>O resultado: Minha idade: 18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476" y="5879592"/>
            <a:ext cx="1626524" cy="9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022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Java Script – </a:t>
            </a:r>
            <a:r>
              <a:rPr lang="pt-BR" dirty="0" err="1"/>
              <a:t>Variaveis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51677" y="2286001"/>
            <a:ext cx="10835028" cy="4459855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pt-BR" dirty="0">
                <a:solidFill>
                  <a:srgbClr val="7030A0"/>
                </a:solidFill>
              </a:rPr>
              <a:t> Codificação </a:t>
            </a:r>
            <a:r>
              <a:rPr lang="pt-BR" dirty="0" err="1">
                <a:solidFill>
                  <a:srgbClr val="7030A0"/>
                </a:solidFill>
              </a:rPr>
              <a:t>Exemplo:index.html</a:t>
            </a:r>
            <a:endParaRPr lang="pt-BR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pt-BR" dirty="0">
                <a:solidFill>
                  <a:srgbClr val="7030A0"/>
                </a:solidFill>
              </a:rPr>
              <a:t>&lt;!DOCTYPE </a:t>
            </a:r>
            <a:r>
              <a:rPr lang="pt-BR" dirty="0" err="1">
                <a:solidFill>
                  <a:srgbClr val="7030A0"/>
                </a:solidFill>
              </a:rPr>
              <a:t>html</a:t>
            </a:r>
            <a:r>
              <a:rPr lang="pt-BR" dirty="0">
                <a:solidFill>
                  <a:srgbClr val="7030A0"/>
                </a:solidFill>
              </a:rPr>
              <a:t>&gt;</a:t>
            </a:r>
          </a:p>
          <a:p>
            <a:pPr marL="0" indent="0">
              <a:buNone/>
            </a:pPr>
            <a:r>
              <a:rPr lang="pt-BR" dirty="0">
                <a:solidFill>
                  <a:srgbClr val="7030A0"/>
                </a:solidFill>
              </a:rPr>
              <a:t>&lt;</a:t>
            </a:r>
            <a:r>
              <a:rPr lang="pt-BR" dirty="0" err="1">
                <a:solidFill>
                  <a:srgbClr val="7030A0"/>
                </a:solidFill>
              </a:rPr>
              <a:t>html</a:t>
            </a:r>
            <a:r>
              <a:rPr lang="pt-BR" dirty="0">
                <a:solidFill>
                  <a:srgbClr val="7030A0"/>
                </a:solidFill>
              </a:rPr>
              <a:t>&gt;</a:t>
            </a:r>
          </a:p>
          <a:p>
            <a:pPr marL="0" indent="0">
              <a:buNone/>
            </a:pPr>
            <a:r>
              <a:rPr lang="pt-BR" dirty="0">
                <a:solidFill>
                  <a:srgbClr val="7030A0"/>
                </a:solidFill>
              </a:rPr>
              <a:t>&lt;</a:t>
            </a:r>
            <a:r>
              <a:rPr lang="pt-BR" dirty="0" err="1">
                <a:solidFill>
                  <a:srgbClr val="7030A0"/>
                </a:solidFill>
              </a:rPr>
              <a:t>head</a:t>
            </a:r>
            <a:r>
              <a:rPr lang="pt-BR" dirty="0">
                <a:solidFill>
                  <a:srgbClr val="7030A0"/>
                </a:solidFill>
              </a:rPr>
              <a:t>&gt;</a:t>
            </a:r>
          </a:p>
          <a:p>
            <a:pPr marL="0" indent="0">
              <a:buNone/>
            </a:pPr>
            <a:r>
              <a:rPr lang="pt-BR" dirty="0">
                <a:solidFill>
                  <a:srgbClr val="7030A0"/>
                </a:solidFill>
              </a:rPr>
              <a:t>&lt;</a:t>
            </a:r>
            <a:r>
              <a:rPr lang="pt-BR" dirty="0" err="1">
                <a:solidFill>
                  <a:srgbClr val="7030A0"/>
                </a:solidFill>
              </a:rPr>
              <a:t>title</a:t>
            </a:r>
            <a:r>
              <a:rPr lang="pt-BR" dirty="0">
                <a:solidFill>
                  <a:srgbClr val="7030A0"/>
                </a:solidFill>
              </a:rPr>
              <a:t>&gt;Primeiro Programa em Java Script&lt;/</a:t>
            </a:r>
            <a:r>
              <a:rPr lang="pt-BR" dirty="0" err="1">
                <a:solidFill>
                  <a:srgbClr val="7030A0"/>
                </a:solidFill>
              </a:rPr>
              <a:t>title</a:t>
            </a:r>
            <a:r>
              <a:rPr lang="pt-BR" dirty="0">
                <a:solidFill>
                  <a:srgbClr val="7030A0"/>
                </a:solidFill>
              </a:rPr>
              <a:t>&gt;</a:t>
            </a:r>
          </a:p>
          <a:p>
            <a:pPr marL="0" indent="0">
              <a:buNone/>
            </a:pPr>
            <a:r>
              <a:rPr lang="pt-BR" dirty="0">
                <a:solidFill>
                  <a:srgbClr val="7030A0"/>
                </a:solidFill>
              </a:rPr>
              <a:t>&lt;/script&gt;</a:t>
            </a:r>
          </a:p>
          <a:p>
            <a:pPr marL="0" indent="0">
              <a:buNone/>
            </a:pPr>
            <a:r>
              <a:rPr lang="pt-BR" dirty="0">
                <a:solidFill>
                  <a:srgbClr val="7030A0"/>
                </a:solidFill>
              </a:rPr>
              <a:t>&lt;/</a:t>
            </a:r>
            <a:r>
              <a:rPr lang="pt-BR" dirty="0" err="1">
                <a:solidFill>
                  <a:srgbClr val="7030A0"/>
                </a:solidFill>
              </a:rPr>
              <a:t>head</a:t>
            </a:r>
            <a:r>
              <a:rPr lang="pt-BR" dirty="0">
                <a:solidFill>
                  <a:srgbClr val="7030A0"/>
                </a:solidFill>
              </a:rPr>
              <a:t>&gt;</a:t>
            </a:r>
          </a:p>
          <a:p>
            <a:pPr marL="0" indent="0">
              <a:buNone/>
            </a:pPr>
            <a:r>
              <a:rPr lang="pt-BR" dirty="0">
                <a:solidFill>
                  <a:srgbClr val="7030A0"/>
                </a:solidFill>
              </a:rPr>
              <a:t>&lt;body&gt;</a:t>
            </a:r>
          </a:p>
          <a:p>
            <a:pPr marL="0" indent="0">
              <a:buNone/>
            </a:pPr>
            <a:r>
              <a:rPr lang="pt-BR" dirty="0">
                <a:solidFill>
                  <a:srgbClr val="7030A0"/>
                </a:solidFill>
              </a:rPr>
              <a:t>&lt;script </a:t>
            </a:r>
            <a:r>
              <a:rPr lang="pt-BR" dirty="0" err="1">
                <a:solidFill>
                  <a:srgbClr val="7030A0"/>
                </a:solidFill>
              </a:rPr>
              <a:t>type</a:t>
            </a:r>
            <a:r>
              <a:rPr lang="pt-BR" dirty="0">
                <a:solidFill>
                  <a:srgbClr val="7030A0"/>
                </a:solidFill>
              </a:rPr>
              <a:t>="</a:t>
            </a:r>
            <a:r>
              <a:rPr lang="pt-BR" dirty="0" err="1">
                <a:solidFill>
                  <a:srgbClr val="7030A0"/>
                </a:solidFill>
              </a:rPr>
              <a:t>text</a:t>
            </a:r>
            <a:r>
              <a:rPr lang="pt-BR" dirty="0">
                <a:solidFill>
                  <a:srgbClr val="7030A0"/>
                </a:solidFill>
              </a:rPr>
              <a:t>/</a:t>
            </a:r>
            <a:r>
              <a:rPr lang="pt-BR" dirty="0" err="1">
                <a:solidFill>
                  <a:srgbClr val="7030A0"/>
                </a:solidFill>
              </a:rPr>
              <a:t>javascript</a:t>
            </a:r>
            <a:r>
              <a:rPr lang="pt-BR" dirty="0">
                <a:solidFill>
                  <a:srgbClr val="7030A0"/>
                </a:solidFill>
              </a:rPr>
              <a:t>“ </a:t>
            </a:r>
            <a:r>
              <a:rPr lang="pt-BR" dirty="0" err="1">
                <a:solidFill>
                  <a:srgbClr val="7030A0"/>
                </a:solidFill>
              </a:rPr>
              <a:t>src</a:t>
            </a:r>
            <a:r>
              <a:rPr lang="pt-BR" dirty="0">
                <a:solidFill>
                  <a:srgbClr val="7030A0"/>
                </a:solidFill>
              </a:rPr>
              <a:t> = “</a:t>
            </a:r>
            <a:r>
              <a:rPr lang="pt-BR" dirty="0" err="1">
                <a:solidFill>
                  <a:srgbClr val="7030A0"/>
                </a:solidFill>
              </a:rPr>
              <a:t>js</a:t>
            </a:r>
            <a:r>
              <a:rPr lang="pt-BR" dirty="0">
                <a:solidFill>
                  <a:srgbClr val="7030A0"/>
                </a:solidFill>
              </a:rPr>
              <a:t>/script.js”&gt;</a:t>
            </a:r>
          </a:p>
          <a:p>
            <a:pPr marL="0" indent="0">
              <a:buNone/>
            </a:pPr>
            <a:r>
              <a:rPr lang="pt-BR" dirty="0">
                <a:solidFill>
                  <a:srgbClr val="7030A0"/>
                </a:solidFill>
              </a:rPr>
              <a:t> &lt;/body&gt;</a:t>
            </a:r>
          </a:p>
          <a:p>
            <a:pPr marL="0" indent="0">
              <a:buNone/>
            </a:pPr>
            <a:r>
              <a:rPr lang="pt-BR" dirty="0">
                <a:solidFill>
                  <a:srgbClr val="7030A0"/>
                </a:solidFill>
              </a:rPr>
              <a:t>&lt;/</a:t>
            </a:r>
            <a:r>
              <a:rPr lang="pt-BR" dirty="0" err="1">
                <a:solidFill>
                  <a:srgbClr val="7030A0"/>
                </a:solidFill>
              </a:rPr>
              <a:t>html</a:t>
            </a:r>
            <a:r>
              <a:rPr lang="pt-BR" dirty="0">
                <a:solidFill>
                  <a:srgbClr val="7030A0"/>
                </a:solidFill>
              </a:rPr>
              <a:t>&gt;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476" y="5879592"/>
            <a:ext cx="1626524" cy="9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475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Java Script – </a:t>
            </a:r>
            <a:r>
              <a:rPr lang="pt-BR" dirty="0" err="1"/>
              <a:t>Variaveis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51677" y="2286001"/>
            <a:ext cx="10835028" cy="445985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dirty="0">
                <a:solidFill>
                  <a:srgbClr val="7030A0"/>
                </a:solidFill>
              </a:rPr>
              <a:t> Codificação </a:t>
            </a:r>
            <a:r>
              <a:rPr lang="pt-BR" dirty="0" err="1">
                <a:solidFill>
                  <a:srgbClr val="7030A0"/>
                </a:solidFill>
              </a:rPr>
              <a:t>Exemplo:script.js</a:t>
            </a:r>
            <a:endParaRPr lang="pt-BR" dirty="0">
              <a:solidFill>
                <a:srgbClr val="7030A0"/>
              </a:solidFill>
            </a:endParaRPr>
          </a:p>
          <a:p>
            <a:pPr marL="0" indent="0" algn="ctr">
              <a:buNone/>
            </a:pPr>
            <a:endParaRPr lang="pt-BR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pt-BR" dirty="0"/>
              <a:t>var nome="Carlos";</a:t>
            </a:r>
          </a:p>
          <a:p>
            <a:pPr marL="0" indent="0">
              <a:buNone/>
            </a:pPr>
            <a:br>
              <a:rPr lang="pt-BR" dirty="0"/>
            </a:br>
            <a:r>
              <a:rPr lang="pt-BR" dirty="0"/>
              <a:t>var idade=18;</a:t>
            </a:r>
          </a:p>
          <a:p>
            <a:pPr marL="0" indent="0">
              <a:buNone/>
            </a:pPr>
            <a:r>
              <a:rPr lang="pt-BR" dirty="0"/>
              <a:t>//usando </a:t>
            </a:r>
            <a:r>
              <a:rPr lang="pt-BR" dirty="0" err="1"/>
              <a:t>document</a:t>
            </a:r>
            <a:r>
              <a:rPr lang="pt-BR" dirty="0"/>
              <a:t> </a:t>
            </a:r>
            <a:r>
              <a:rPr lang="pt-BR" dirty="0" err="1"/>
              <a:t>write</a:t>
            </a:r>
            <a:r>
              <a:rPr lang="pt-BR" dirty="0"/>
              <a:t>//</a:t>
            </a:r>
            <a:br>
              <a:rPr lang="pt-BR" dirty="0"/>
            </a:br>
            <a:r>
              <a:rPr lang="pt-BR" dirty="0" err="1"/>
              <a:t>document.write</a:t>
            </a:r>
            <a:r>
              <a:rPr lang="pt-BR" dirty="0"/>
              <a:t>("Meu nome é ", nome," e tenho ", idade, " anos");</a:t>
            </a:r>
          </a:p>
          <a:p>
            <a:pPr marL="0" indent="0">
              <a:buNone/>
            </a:pPr>
            <a:r>
              <a:rPr lang="pt-BR" dirty="0"/>
              <a:t>//usando console//</a:t>
            </a:r>
            <a:br>
              <a:rPr lang="pt-BR" dirty="0"/>
            </a:br>
            <a:r>
              <a:rPr lang="pt-BR" dirty="0"/>
              <a:t>console.log("Meu nome é ", nome," e tenho ", idade, " anos");</a:t>
            </a:r>
          </a:p>
          <a:p>
            <a:pPr marL="0" indent="0">
              <a:buNone/>
            </a:pPr>
            <a:br>
              <a:rPr lang="pt-BR" dirty="0"/>
            </a:br>
            <a:endParaRPr lang="pt-BR" dirty="0"/>
          </a:p>
          <a:p>
            <a:pPr marL="0" indent="0" algn="ctr">
              <a:buNone/>
            </a:pPr>
            <a:endParaRPr lang="pt-BR" dirty="0">
              <a:solidFill>
                <a:srgbClr val="7030A0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476" y="5879592"/>
            <a:ext cx="1626524" cy="97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729640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TM10001106[[fn=Selo]]</Template>
  <TotalTime>219</TotalTime>
  <Words>820</Words>
  <Application>Microsoft Office PowerPoint</Application>
  <PresentationFormat>Widescreen</PresentationFormat>
  <Paragraphs>108</Paragraphs>
  <Slides>13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Calibri</vt:lpstr>
      <vt:lpstr>Gill Sans MT</vt:lpstr>
      <vt:lpstr>Impact</vt:lpstr>
      <vt:lpstr>Badge</vt:lpstr>
      <vt:lpstr>Java Script</vt:lpstr>
      <vt:lpstr>Java Script – Variaveis</vt:lpstr>
      <vt:lpstr>Java Script – Variaveis</vt:lpstr>
      <vt:lpstr>Java Script – Variaveis</vt:lpstr>
      <vt:lpstr>Java Script – Variaveis</vt:lpstr>
      <vt:lpstr>Java Script – Variaveis</vt:lpstr>
      <vt:lpstr>Java Script – Variaveis</vt:lpstr>
      <vt:lpstr>Java Script – Variaveis</vt:lpstr>
      <vt:lpstr>Java Script – Variaveis</vt:lpstr>
      <vt:lpstr>Java Script – Variaveis</vt:lpstr>
      <vt:lpstr>Java Script – Variaveis</vt:lpstr>
      <vt:lpstr>Java Script – Variaveis</vt:lpstr>
      <vt:lpstr>Java Script – Variaveis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Script</dc:title>
  <dc:creator>Admin</dc:creator>
  <cp:lastModifiedBy>Edneia Torres Gomes</cp:lastModifiedBy>
  <cp:revision>23</cp:revision>
  <dcterms:created xsi:type="dcterms:W3CDTF">2023-11-21T14:43:30Z</dcterms:created>
  <dcterms:modified xsi:type="dcterms:W3CDTF">2026-05-22T15:08:13Z</dcterms:modified>
</cp:coreProperties>
</file>