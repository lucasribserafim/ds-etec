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98D05F6-912B-4DB0-876C-333ECB624930}" type="datetimeFigureOut">
              <a:rPr lang="pt-BR" smtClean="0"/>
              <a:t>21/11/2023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03954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21/11/2023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6933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98D05F6-912B-4DB0-876C-333ECB624930}" type="datetimeFigureOut">
              <a:rPr lang="pt-BR" smtClean="0"/>
              <a:t>21/11/2023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4440839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21/11/2023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4855723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21/11/2023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274641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21/11/2023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738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21/11/2023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144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298D05F6-912B-4DB0-876C-333ECB624930}" type="datetimeFigureOut">
              <a:rPr lang="pt-BR" smtClean="0"/>
              <a:t>21/11/2023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9638762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298D05F6-912B-4DB0-876C-333ECB624930}" type="datetimeFigureOut">
              <a:rPr lang="pt-BR" smtClean="0"/>
              <a:t>21/11/2023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520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21/11/2023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5717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21/11/2023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2536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8D05F6-912B-4DB0-876C-333ECB624930}" type="datetimeFigureOut">
              <a:rPr lang="pt-BR" smtClean="0"/>
              <a:t>21/11/2023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0833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Java Script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Aula 1 – Conceitos Iniciais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875" y="471487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656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Java Script – Conceitos Iniciais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1"/>
            <a:ext cx="10560707" cy="359359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pt-BR" dirty="0" err="1">
                <a:solidFill>
                  <a:srgbClr val="FF0000"/>
                </a:solidFill>
              </a:rPr>
              <a:t>JavaScript</a:t>
            </a:r>
            <a:r>
              <a:rPr lang="pt-BR" dirty="0">
                <a:solidFill>
                  <a:srgbClr val="FF0000"/>
                </a:solidFill>
              </a:rPr>
              <a:t> - O que é e Para que serve</a:t>
            </a:r>
          </a:p>
          <a:p>
            <a:endParaRPr lang="pt-BR" dirty="0"/>
          </a:p>
          <a:p>
            <a:r>
              <a:rPr lang="pt-BR" dirty="0" err="1" smtClean="0"/>
              <a:t>JavaScript</a:t>
            </a:r>
            <a:r>
              <a:rPr lang="pt-BR" dirty="0" smtClean="0"/>
              <a:t> </a:t>
            </a:r>
            <a:r>
              <a:rPr lang="pt-BR" dirty="0"/>
              <a:t>– Uma linguagem de Script e </a:t>
            </a:r>
            <a:r>
              <a:rPr lang="pt-BR" dirty="0" smtClean="0"/>
              <a:t>Interpretada.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A característica básica de uma linguagem de script, é que seu código é</a:t>
            </a:r>
          </a:p>
          <a:p>
            <a:pPr marL="0" indent="0">
              <a:buNone/>
            </a:pPr>
            <a:r>
              <a:rPr lang="pt-BR" dirty="0"/>
              <a:t>executado dentro de outro programa. 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r>
              <a:rPr lang="pt-BR" dirty="0" smtClean="0"/>
              <a:t>O </a:t>
            </a:r>
            <a:r>
              <a:rPr lang="pt-BR" dirty="0" err="1"/>
              <a:t>JavaScript</a:t>
            </a:r>
            <a:r>
              <a:rPr lang="pt-BR" dirty="0"/>
              <a:t>, por exemplo, vai </a:t>
            </a:r>
            <a:r>
              <a:rPr lang="pt-BR" dirty="0" smtClean="0"/>
              <a:t>ser executado </a:t>
            </a:r>
            <a:r>
              <a:rPr lang="pt-BR" dirty="0"/>
              <a:t>dentro do navegador (browser) de seu sistema, ou seja, sem </a:t>
            </a:r>
            <a:r>
              <a:rPr lang="pt-BR" dirty="0" smtClean="0"/>
              <a:t>um navegador</a:t>
            </a:r>
            <a:r>
              <a:rPr lang="pt-BR" dirty="0"/>
              <a:t>, o </a:t>
            </a:r>
            <a:r>
              <a:rPr lang="pt-BR" dirty="0" err="1"/>
              <a:t>JavaScript</a:t>
            </a:r>
            <a:r>
              <a:rPr lang="pt-BR" dirty="0"/>
              <a:t> não serve de nada.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42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Java Script – Conceitos Iniciais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1"/>
            <a:ext cx="10560707" cy="359359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dirty="0" err="1">
                <a:solidFill>
                  <a:srgbClr val="FF0000"/>
                </a:solidFill>
              </a:rPr>
              <a:t>JavaScript</a:t>
            </a:r>
            <a:r>
              <a:rPr lang="pt-BR" dirty="0">
                <a:solidFill>
                  <a:srgbClr val="FF0000"/>
                </a:solidFill>
              </a:rPr>
              <a:t> - O que é e Para que serve</a:t>
            </a:r>
          </a:p>
          <a:p>
            <a:endParaRPr lang="pt-BR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pt-BR" dirty="0" smtClean="0"/>
              <a:t>Algumas linguagens como por exemplo </a:t>
            </a:r>
            <a:r>
              <a:rPr lang="pt-BR" dirty="0"/>
              <a:t>linguagem C ou C++, por exemplo, não são linguagens de scripts, elas </a:t>
            </a:r>
            <a:r>
              <a:rPr lang="pt-BR" dirty="0" smtClean="0"/>
              <a:t>são linguagens </a:t>
            </a:r>
            <a:r>
              <a:rPr lang="pt-BR" dirty="0"/>
              <a:t>compiladas. Ou seja, assim que terminamos de programar, </a:t>
            </a:r>
            <a:r>
              <a:rPr lang="pt-BR" dirty="0" smtClean="0"/>
              <a:t>temos que </a:t>
            </a:r>
            <a:r>
              <a:rPr lang="pt-BR" dirty="0"/>
              <a:t>compilar  </a:t>
            </a:r>
            <a:r>
              <a:rPr lang="pt-BR" dirty="0" smtClean="0"/>
              <a:t>e </a:t>
            </a:r>
            <a:r>
              <a:rPr lang="pt-BR" dirty="0"/>
              <a:t>o resultado será a criação de um novo programa, um </a:t>
            </a:r>
            <a:r>
              <a:rPr lang="pt-BR" dirty="0" smtClean="0"/>
              <a:t>novo aplicativo, um </a:t>
            </a:r>
            <a:r>
              <a:rPr lang="pt-BR" dirty="0"/>
              <a:t>executável.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655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Java Script – Conceitos Iniciais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1"/>
            <a:ext cx="10560707" cy="445562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pt-BR" dirty="0" err="1">
                <a:solidFill>
                  <a:srgbClr val="FF0000"/>
                </a:solidFill>
              </a:rPr>
              <a:t>JavaScript</a:t>
            </a:r>
            <a:r>
              <a:rPr lang="pt-BR" dirty="0">
                <a:solidFill>
                  <a:srgbClr val="FF0000"/>
                </a:solidFill>
              </a:rPr>
              <a:t> - O que é e Para que serve</a:t>
            </a:r>
          </a:p>
          <a:p>
            <a:endParaRPr lang="pt-BR" dirty="0" smtClean="0"/>
          </a:p>
          <a:p>
            <a:pPr>
              <a:lnSpc>
                <a:spcPct val="150000"/>
              </a:lnSpc>
            </a:pPr>
            <a:r>
              <a:rPr lang="pt-BR" dirty="0"/>
              <a:t>Os códigos, chamados </a:t>
            </a:r>
            <a:r>
              <a:rPr lang="pt-BR" dirty="0" smtClean="0"/>
              <a:t>scripts, </a:t>
            </a:r>
            <a:r>
              <a:rPr lang="pt-BR" dirty="0"/>
              <a:t>são ditos serem interpretados. Ou seja, eles não são compilados.</a:t>
            </a:r>
          </a:p>
          <a:p>
            <a:pPr>
              <a:lnSpc>
                <a:spcPct val="150000"/>
              </a:lnSpc>
            </a:pPr>
            <a:r>
              <a:rPr lang="pt-BR" dirty="0" smtClean="0"/>
              <a:t>Eles </a:t>
            </a:r>
            <a:r>
              <a:rPr lang="pt-BR" dirty="0"/>
              <a:t>serão escritos, e um programa (navegador ou browser) vai ler cada um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/>
              <a:t>destes comandos do script e vai interpretar eles.</a:t>
            </a:r>
          </a:p>
          <a:p>
            <a:pPr>
              <a:lnSpc>
                <a:spcPct val="150000"/>
              </a:lnSpc>
            </a:pPr>
            <a:r>
              <a:rPr lang="pt-BR" dirty="0"/>
              <a:t>Esses programas são chamados também de interpretadores, pois eles vão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/>
              <a:t>ler cada comando, interpretar o que eles querem dizer e executar esses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/>
              <a:t>códigos, sem haver a necessidade de um processo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65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Java Script – Conceitos Iniciais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2"/>
            <a:ext cx="10835028" cy="69826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dirty="0" err="1" smtClean="0">
                <a:solidFill>
                  <a:srgbClr val="FF0000"/>
                </a:solidFill>
              </a:rPr>
              <a:t>JavaScript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– Uma linguagem do lado do cliente (</a:t>
            </a:r>
            <a:r>
              <a:rPr lang="pt-BR" dirty="0" smtClean="0">
                <a:solidFill>
                  <a:srgbClr val="FF0000"/>
                </a:solidFill>
              </a:rPr>
              <a:t>cliente-</a:t>
            </a:r>
            <a:r>
              <a:rPr lang="pt-BR" dirty="0" err="1" smtClean="0">
                <a:solidFill>
                  <a:srgbClr val="FF0000"/>
                </a:solidFill>
              </a:rPr>
              <a:t>side</a:t>
            </a:r>
            <a:r>
              <a:rPr lang="pt-BR" dirty="0" smtClean="0">
                <a:solidFill>
                  <a:srgbClr val="FF0000"/>
                </a:solidFill>
              </a:rPr>
              <a:t>)</a:t>
            </a:r>
          </a:p>
          <a:p>
            <a:pPr marL="0" indent="0" algn="ctr">
              <a:buNone/>
            </a:pPr>
            <a:endParaRPr lang="pt-BR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  <p:pic>
        <p:nvPicPr>
          <p:cNvPr id="1028" name="Picture 4" descr="How Does Client-Side Scripting Improve Web Application Performance? - AnAr  Solu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3986" y="3084022"/>
            <a:ext cx="6324785" cy="3449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0342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Java Script – Conceitos Iniciais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2"/>
            <a:ext cx="10835028" cy="69826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dirty="0" err="1" smtClean="0">
                <a:solidFill>
                  <a:srgbClr val="FF0000"/>
                </a:solidFill>
              </a:rPr>
              <a:t>JavaScript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– Uma linguagem do lado do cliente (</a:t>
            </a:r>
            <a:r>
              <a:rPr lang="pt-BR" dirty="0" smtClean="0">
                <a:solidFill>
                  <a:srgbClr val="FF0000"/>
                </a:solidFill>
              </a:rPr>
              <a:t>cliente-</a:t>
            </a:r>
            <a:r>
              <a:rPr lang="pt-BR" dirty="0" err="1" smtClean="0">
                <a:solidFill>
                  <a:srgbClr val="FF0000"/>
                </a:solidFill>
              </a:rPr>
              <a:t>side</a:t>
            </a:r>
            <a:r>
              <a:rPr lang="pt-BR" dirty="0" smtClean="0">
                <a:solidFill>
                  <a:srgbClr val="FF0000"/>
                </a:solidFill>
              </a:rPr>
              <a:t>)</a:t>
            </a:r>
          </a:p>
          <a:p>
            <a:pPr marL="0" indent="0" algn="ctr">
              <a:buNone/>
            </a:pPr>
            <a:endParaRPr lang="pt-BR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  <p:pic>
        <p:nvPicPr>
          <p:cNvPr id="2050" name="Picture 2" descr="What is the Server-Side Rendering and how it works | by Riccardo Andreatta  |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189" y="2984270"/>
            <a:ext cx="7481455" cy="356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625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Java Script – Conceitos Iniciais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1"/>
            <a:ext cx="10560707" cy="445562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Onde colocar o </a:t>
            </a:r>
            <a:r>
              <a:rPr lang="pt-BR" dirty="0" err="1">
                <a:solidFill>
                  <a:srgbClr val="FF0000"/>
                </a:solidFill>
              </a:rPr>
              <a:t>JavaScript</a:t>
            </a:r>
            <a:r>
              <a:rPr lang="pt-BR" dirty="0">
                <a:solidFill>
                  <a:srgbClr val="FF0000"/>
                </a:solidFill>
              </a:rPr>
              <a:t> em um </a:t>
            </a:r>
            <a:r>
              <a:rPr lang="pt-BR" dirty="0" smtClean="0">
                <a:solidFill>
                  <a:srgbClr val="FF0000"/>
                </a:solidFill>
              </a:rPr>
              <a:t>site</a:t>
            </a:r>
          </a:p>
          <a:p>
            <a:pPr marL="0" indent="0" algn="ctr">
              <a:buNone/>
            </a:pPr>
            <a:endParaRPr lang="pt-BR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 dirty="0" smtClean="0">
                <a:solidFill>
                  <a:srgbClr val="FF0000"/>
                </a:solidFill>
              </a:rPr>
              <a:t>1 -  </a:t>
            </a:r>
            <a:r>
              <a:rPr lang="pt-BR" dirty="0" err="1">
                <a:solidFill>
                  <a:schemeClr val="tx1"/>
                </a:solidFill>
              </a:rPr>
              <a:t>JavaScript</a:t>
            </a:r>
            <a:r>
              <a:rPr lang="pt-BR" dirty="0">
                <a:solidFill>
                  <a:schemeClr val="tx1"/>
                </a:solidFill>
              </a:rPr>
              <a:t> na </a:t>
            </a:r>
            <a:r>
              <a:rPr lang="pt-BR" dirty="0" err="1">
                <a:solidFill>
                  <a:schemeClr val="tx1"/>
                </a:solidFill>
              </a:rPr>
              <a:t>tag</a:t>
            </a:r>
            <a:r>
              <a:rPr lang="pt-BR" dirty="0">
                <a:solidFill>
                  <a:schemeClr val="tx1"/>
                </a:solidFill>
              </a:rPr>
              <a:t> &lt;</a:t>
            </a:r>
            <a:r>
              <a:rPr lang="pt-BR" dirty="0" err="1" smtClean="0">
                <a:solidFill>
                  <a:schemeClr val="tx1"/>
                </a:solidFill>
              </a:rPr>
              <a:t>head</a:t>
            </a:r>
            <a:r>
              <a:rPr lang="pt-BR" dirty="0">
                <a:solidFill>
                  <a:schemeClr val="tx1"/>
                </a:solidFill>
              </a:rPr>
              <a:t>&gt; do </a:t>
            </a:r>
            <a:r>
              <a:rPr lang="pt-BR" dirty="0" smtClean="0">
                <a:solidFill>
                  <a:schemeClr val="tx1"/>
                </a:solidFill>
              </a:rPr>
              <a:t>HTML</a:t>
            </a:r>
          </a:p>
          <a:p>
            <a:pPr marL="0" indent="0">
              <a:buNone/>
            </a:pPr>
            <a:endParaRPr lang="pt-B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A primeira coisa que um navegador lê e interpreta, é o conteúdo da </a:t>
            </a:r>
            <a:r>
              <a:rPr lang="pt-BR" dirty="0" err="1">
                <a:solidFill>
                  <a:schemeClr val="tx1"/>
                </a:solidFill>
              </a:rPr>
              <a:t>tag</a:t>
            </a:r>
            <a:endParaRPr lang="pt-B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&lt;</a:t>
            </a:r>
            <a:r>
              <a:rPr lang="pt-BR" dirty="0" err="1">
                <a:solidFill>
                  <a:schemeClr val="tx1"/>
                </a:solidFill>
              </a:rPr>
              <a:t>head</a:t>
            </a:r>
            <a:r>
              <a:rPr lang="pt-BR" dirty="0">
                <a:solidFill>
                  <a:schemeClr val="tx1"/>
                </a:solidFill>
              </a:rPr>
              <a:t>&gt; do HTML, pois lá existe contém informações importantes do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documento (página) em questão, como título, descrição, língua, dentre outras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coisas</a:t>
            </a:r>
            <a:r>
              <a:rPr lang="pt-BR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Colocamos nossos scripts na </a:t>
            </a:r>
            <a:r>
              <a:rPr lang="pt-BR" dirty="0" err="1">
                <a:solidFill>
                  <a:schemeClr val="tx1"/>
                </a:solidFill>
              </a:rPr>
              <a:t>head</a:t>
            </a:r>
            <a:r>
              <a:rPr lang="pt-BR" dirty="0">
                <a:solidFill>
                  <a:schemeClr val="tx1"/>
                </a:solidFill>
              </a:rPr>
              <a:t> sempre que desejamos que ele seja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executado antes do restante da página do site.</a:t>
            </a:r>
            <a:endParaRPr lang="pt-BR" dirty="0" smtClean="0">
              <a:solidFill>
                <a:schemeClr val="tx1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999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Java Script – Conceitos Iniciais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8" y="1874517"/>
            <a:ext cx="10560707" cy="445562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Onde colocar o </a:t>
            </a:r>
            <a:r>
              <a:rPr lang="pt-BR" dirty="0" err="1">
                <a:solidFill>
                  <a:srgbClr val="FF0000"/>
                </a:solidFill>
              </a:rPr>
              <a:t>JavaScript</a:t>
            </a:r>
            <a:r>
              <a:rPr lang="pt-BR" dirty="0">
                <a:solidFill>
                  <a:srgbClr val="FF0000"/>
                </a:solidFill>
              </a:rPr>
              <a:t> em um </a:t>
            </a:r>
            <a:r>
              <a:rPr lang="pt-BR" dirty="0" smtClean="0">
                <a:solidFill>
                  <a:srgbClr val="FF0000"/>
                </a:solidFill>
              </a:rPr>
              <a:t>site</a:t>
            </a:r>
          </a:p>
          <a:p>
            <a:pPr marL="0" indent="0" algn="ctr">
              <a:buNone/>
            </a:pPr>
            <a:endParaRPr lang="pt-BR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rgbClr val="FF0000"/>
                </a:solidFill>
              </a:rPr>
              <a:t>2</a:t>
            </a:r>
            <a:r>
              <a:rPr lang="pt-BR" dirty="0" smtClean="0">
                <a:solidFill>
                  <a:srgbClr val="FF0000"/>
                </a:solidFill>
              </a:rPr>
              <a:t> -  </a:t>
            </a:r>
            <a:r>
              <a:rPr lang="pl-PL" dirty="0">
                <a:solidFill>
                  <a:schemeClr val="tx1"/>
                </a:solidFill>
              </a:rPr>
              <a:t>JavaScript na tag &lt;body&gt; do </a:t>
            </a:r>
            <a:r>
              <a:rPr lang="pl-PL" dirty="0" smtClean="0">
                <a:solidFill>
                  <a:schemeClr val="tx1"/>
                </a:solidFill>
              </a:rPr>
              <a:t>HTML</a:t>
            </a:r>
            <a:endParaRPr lang="pt-BR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pt-B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Muitas vezes não é necessário carregar um script na </a:t>
            </a:r>
            <a:r>
              <a:rPr lang="pt-BR" dirty="0" err="1">
                <a:solidFill>
                  <a:schemeClr val="tx1"/>
                </a:solidFill>
              </a:rPr>
              <a:t>head</a:t>
            </a:r>
            <a:r>
              <a:rPr lang="pt-BR" dirty="0">
                <a:solidFill>
                  <a:schemeClr val="tx1"/>
                </a:solidFill>
              </a:rPr>
              <a:t>, antes </a:t>
            </a:r>
            <a:r>
              <a:rPr lang="pt-BR" dirty="0" err="1" smtClean="0">
                <a:solidFill>
                  <a:schemeClr val="tx1"/>
                </a:solidFill>
              </a:rPr>
              <a:t>doconteúdo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da página ser carregado.</a:t>
            </a:r>
          </a:p>
          <a:p>
            <a:pPr marL="0" indent="0">
              <a:buNone/>
            </a:pPr>
            <a:endParaRPr lang="pt-BR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dirty="0" smtClean="0">
                <a:solidFill>
                  <a:schemeClr val="tx1"/>
                </a:solidFill>
              </a:rPr>
              <a:t>Por </a:t>
            </a:r>
            <a:r>
              <a:rPr lang="pt-BR" dirty="0">
                <a:solidFill>
                  <a:schemeClr val="tx1"/>
                </a:solidFill>
              </a:rPr>
              <a:t>exemplo, você pode colocar um script que seja rodado apenas </a:t>
            </a:r>
            <a:r>
              <a:rPr lang="pt-BR" dirty="0" err="1" smtClean="0">
                <a:solidFill>
                  <a:schemeClr val="tx1"/>
                </a:solidFill>
              </a:rPr>
              <a:t>quandose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clica em um botão. Não há necessidade de colocar ele na </a:t>
            </a:r>
            <a:r>
              <a:rPr lang="pt-BR" dirty="0" err="1">
                <a:solidFill>
                  <a:schemeClr val="tx1"/>
                </a:solidFill>
              </a:rPr>
              <a:t>head</a:t>
            </a:r>
            <a:r>
              <a:rPr lang="pt-BR" dirty="0">
                <a:solidFill>
                  <a:schemeClr val="tx1"/>
                </a:solidFill>
              </a:rPr>
              <a:t>, </a:t>
            </a:r>
            <a:r>
              <a:rPr lang="pt-BR" dirty="0" smtClean="0">
                <a:solidFill>
                  <a:schemeClr val="tx1"/>
                </a:solidFill>
              </a:rPr>
              <a:t>pois talvez </a:t>
            </a:r>
            <a:r>
              <a:rPr lang="pt-BR" dirty="0">
                <a:solidFill>
                  <a:schemeClr val="tx1"/>
                </a:solidFill>
              </a:rPr>
              <a:t>não seja nem preciso que ele rode (talvez o usuário nem clique </a:t>
            </a:r>
            <a:r>
              <a:rPr lang="pt-BR" dirty="0" smtClean="0">
                <a:solidFill>
                  <a:schemeClr val="tx1"/>
                </a:solidFill>
              </a:rPr>
              <a:t>no botão).</a:t>
            </a:r>
          </a:p>
          <a:p>
            <a:pPr marL="0" indent="0">
              <a:buNone/>
            </a:pPr>
            <a:endParaRPr lang="pt-B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Por isso, podemos colocar nossos scripts dentro da </a:t>
            </a:r>
            <a:r>
              <a:rPr lang="pt-BR" dirty="0" err="1">
                <a:solidFill>
                  <a:schemeClr val="tx1"/>
                </a:solidFill>
              </a:rPr>
              <a:t>tag</a:t>
            </a:r>
            <a:r>
              <a:rPr lang="pt-BR" dirty="0">
                <a:solidFill>
                  <a:schemeClr val="tx1"/>
                </a:solidFill>
              </a:rPr>
              <a:t> &lt;</a:t>
            </a:r>
            <a:r>
              <a:rPr lang="pt-BR" dirty="0" err="1">
                <a:solidFill>
                  <a:schemeClr val="tx1"/>
                </a:solidFill>
              </a:rPr>
              <a:t>body</a:t>
            </a:r>
            <a:r>
              <a:rPr lang="pt-BR" dirty="0">
                <a:solidFill>
                  <a:schemeClr val="tx1"/>
                </a:solidFill>
              </a:rPr>
              <a:t>&gt;, </a:t>
            </a:r>
            <a:r>
              <a:rPr lang="pt-BR" dirty="0" smtClean="0">
                <a:solidFill>
                  <a:schemeClr val="tx1"/>
                </a:solidFill>
              </a:rPr>
              <a:t>assim podemos </a:t>
            </a:r>
            <a:r>
              <a:rPr lang="pt-BR" dirty="0">
                <a:solidFill>
                  <a:schemeClr val="tx1"/>
                </a:solidFill>
              </a:rPr>
              <a:t>ter um controle maior sobre quando o script deve ser </a:t>
            </a:r>
            <a:r>
              <a:rPr lang="pt-BR" dirty="0" smtClean="0">
                <a:solidFill>
                  <a:schemeClr val="tx1"/>
                </a:solidFill>
              </a:rPr>
              <a:t>interpretado pelo </a:t>
            </a:r>
            <a:r>
              <a:rPr lang="pt-BR" dirty="0">
                <a:solidFill>
                  <a:schemeClr val="tx1"/>
                </a:solidFill>
              </a:rPr>
              <a:t>navegador.</a:t>
            </a:r>
            <a:endParaRPr lang="pt-BR" dirty="0" smtClean="0">
              <a:solidFill>
                <a:schemeClr val="tx1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977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Java Script – Conceitos Iniciais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8" y="1874517"/>
            <a:ext cx="10560707" cy="445562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pt-BR" dirty="0" err="1">
                <a:solidFill>
                  <a:srgbClr val="FF0000"/>
                </a:solidFill>
              </a:rPr>
              <a:t>JavaScript</a:t>
            </a:r>
            <a:r>
              <a:rPr lang="pt-BR" dirty="0">
                <a:solidFill>
                  <a:srgbClr val="FF0000"/>
                </a:solidFill>
              </a:rPr>
              <a:t> em arquivo externo .</a:t>
            </a:r>
            <a:r>
              <a:rPr lang="pt-BR" dirty="0" err="1" smtClean="0">
                <a:solidFill>
                  <a:srgbClr val="FF0000"/>
                </a:solidFill>
              </a:rPr>
              <a:t>js</a:t>
            </a:r>
            <a:endParaRPr lang="pt-BR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pt-BR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Visando organizar nossos códigos </a:t>
            </a:r>
            <a:r>
              <a:rPr lang="pt-BR" dirty="0" err="1">
                <a:solidFill>
                  <a:schemeClr val="tx1"/>
                </a:solidFill>
              </a:rPr>
              <a:t>JavaScript</a:t>
            </a:r>
            <a:r>
              <a:rPr lang="pt-BR" dirty="0">
                <a:solidFill>
                  <a:schemeClr val="tx1"/>
                </a:solidFill>
              </a:rPr>
              <a:t>, nós iremos colocar nosso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código em um arquivo externo, um arquivo de script.</a:t>
            </a:r>
          </a:p>
          <a:p>
            <a:pPr marL="0" indent="0">
              <a:buNone/>
            </a:pPr>
            <a:endParaRPr lang="pt-BR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dirty="0" smtClean="0">
                <a:solidFill>
                  <a:schemeClr val="tx1"/>
                </a:solidFill>
              </a:rPr>
              <a:t>Será </a:t>
            </a:r>
            <a:r>
              <a:rPr lang="pt-BR" dirty="0">
                <a:solidFill>
                  <a:schemeClr val="tx1"/>
                </a:solidFill>
              </a:rPr>
              <a:t>um simples arquivo de texto, a única diferença é que ele deve ter a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extensão .</a:t>
            </a:r>
            <a:r>
              <a:rPr lang="pt-BR" dirty="0" err="1" smtClean="0">
                <a:solidFill>
                  <a:schemeClr val="tx1"/>
                </a:solidFill>
              </a:rPr>
              <a:t>js</a:t>
            </a:r>
            <a:endParaRPr lang="pt-BR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dirty="0" smtClean="0">
                <a:solidFill>
                  <a:schemeClr val="tx1"/>
                </a:solidFill>
              </a:rPr>
              <a:t>Exemplo:</a:t>
            </a:r>
            <a:endParaRPr lang="pt-B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&lt;script </a:t>
            </a:r>
            <a:r>
              <a:rPr lang="pt-BR" dirty="0" err="1">
                <a:solidFill>
                  <a:schemeClr val="tx1"/>
                </a:solidFill>
              </a:rPr>
              <a:t>type</a:t>
            </a:r>
            <a:r>
              <a:rPr lang="pt-BR" dirty="0">
                <a:solidFill>
                  <a:schemeClr val="tx1"/>
                </a:solidFill>
              </a:rPr>
              <a:t>="</a:t>
            </a:r>
            <a:r>
              <a:rPr lang="pt-BR" dirty="0" err="1">
                <a:solidFill>
                  <a:schemeClr val="tx1"/>
                </a:solidFill>
              </a:rPr>
              <a:t>text</a:t>
            </a:r>
            <a:r>
              <a:rPr lang="pt-BR" dirty="0">
                <a:solidFill>
                  <a:schemeClr val="tx1"/>
                </a:solidFill>
              </a:rPr>
              <a:t>/</a:t>
            </a:r>
            <a:r>
              <a:rPr lang="pt-BR" dirty="0" err="1">
                <a:solidFill>
                  <a:schemeClr val="tx1"/>
                </a:solidFill>
              </a:rPr>
              <a:t>javascript</a:t>
            </a:r>
            <a:r>
              <a:rPr lang="pt-BR" dirty="0">
                <a:solidFill>
                  <a:schemeClr val="tx1"/>
                </a:solidFill>
              </a:rPr>
              <a:t>" </a:t>
            </a:r>
            <a:r>
              <a:rPr lang="pt-BR" dirty="0" err="1" smtClean="0">
                <a:solidFill>
                  <a:schemeClr val="tx1"/>
                </a:solidFill>
              </a:rPr>
              <a:t>src</a:t>
            </a:r>
            <a:r>
              <a:rPr lang="pt-BR" dirty="0" smtClean="0">
                <a:solidFill>
                  <a:schemeClr val="tx1"/>
                </a:solidFill>
              </a:rPr>
              <a:t>=“</a:t>
            </a:r>
            <a:r>
              <a:rPr lang="pt-BR" dirty="0" err="1" smtClean="0">
                <a:solidFill>
                  <a:schemeClr val="tx1"/>
                </a:solidFill>
              </a:rPr>
              <a:t>js</a:t>
            </a:r>
            <a:r>
              <a:rPr lang="pt-BR" dirty="0" smtClean="0">
                <a:solidFill>
                  <a:schemeClr val="tx1"/>
                </a:solidFill>
              </a:rPr>
              <a:t>/script.js”&gt;&lt;/</a:t>
            </a:r>
            <a:r>
              <a:rPr lang="pt-BR" dirty="0">
                <a:solidFill>
                  <a:schemeClr val="tx1"/>
                </a:solidFill>
              </a:rPr>
              <a:t>script</a:t>
            </a:r>
            <a:r>
              <a:rPr lang="pt-BR" dirty="0" smtClean="0">
                <a:solidFill>
                  <a:schemeClr val="tx1"/>
                </a:solidFill>
              </a:rPr>
              <a:t>&gt; </a:t>
            </a:r>
          </a:p>
          <a:p>
            <a:pPr marL="0" indent="0">
              <a:buNone/>
            </a:pPr>
            <a:r>
              <a:rPr lang="pt-BR" dirty="0" smtClean="0">
                <a:solidFill>
                  <a:schemeClr val="tx1"/>
                </a:solidFill>
              </a:rPr>
              <a:t>                                                 </a:t>
            </a:r>
            <a:r>
              <a:rPr lang="pt-BR" sz="1600" dirty="0" smtClean="0">
                <a:solidFill>
                  <a:srgbClr val="7030A0"/>
                </a:solidFill>
              </a:rPr>
              <a:t>nome da pasta / nome do arquivo</a:t>
            </a:r>
            <a:endParaRPr lang="pt-BR" sz="16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pt-BR" sz="1600" dirty="0" err="1" smtClean="0">
                <a:solidFill>
                  <a:srgbClr val="FF0000"/>
                </a:solidFill>
              </a:rPr>
              <a:t>Obs:dentro</a:t>
            </a:r>
            <a:r>
              <a:rPr lang="pt-BR" sz="1600" dirty="0" smtClean="0">
                <a:solidFill>
                  <a:srgbClr val="FF0000"/>
                </a:solidFill>
              </a:rPr>
              <a:t> do &lt;</a:t>
            </a:r>
            <a:r>
              <a:rPr lang="pt-BR" sz="1600" dirty="0" err="1" smtClean="0">
                <a:solidFill>
                  <a:srgbClr val="FF0000"/>
                </a:solidFill>
              </a:rPr>
              <a:t>head</a:t>
            </a:r>
            <a:r>
              <a:rPr lang="pt-BR" sz="1600" dirty="0" smtClean="0">
                <a:solidFill>
                  <a:srgbClr val="FF0000"/>
                </a:solidFill>
              </a:rPr>
              <a:t>&gt; ou do rodapé do &lt;</a:t>
            </a:r>
            <a:r>
              <a:rPr lang="pt-BR" sz="1600" dirty="0" err="1" smtClean="0">
                <a:solidFill>
                  <a:srgbClr val="FF0000"/>
                </a:solidFill>
              </a:rPr>
              <a:t>body</a:t>
            </a:r>
            <a:r>
              <a:rPr lang="pt-BR" sz="1600" dirty="0" smtClean="0">
                <a:solidFill>
                  <a:srgbClr val="FF0000"/>
                </a:solidFill>
              </a:rPr>
              <a:t>&gt;</a:t>
            </a:r>
            <a:endParaRPr lang="pt-BR" sz="1600" dirty="0">
              <a:solidFill>
                <a:srgbClr val="FF000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746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Java Script – Conceitos Iniciais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8" y="1874517"/>
            <a:ext cx="10560707" cy="445562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Erros em </a:t>
            </a:r>
            <a:r>
              <a:rPr lang="pt-BR" dirty="0" err="1">
                <a:solidFill>
                  <a:srgbClr val="FF0000"/>
                </a:solidFill>
              </a:rPr>
              <a:t>JavaScript</a:t>
            </a:r>
            <a:r>
              <a:rPr lang="pt-BR" dirty="0">
                <a:solidFill>
                  <a:srgbClr val="FF0000"/>
                </a:solidFill>
              </a:rPr>
              <a:t> – Como usar o </a:t>
            </a:r>
            <a:r>
              <a:rPr lang="pt-BR" dirty="0" smtClean="0">
                <a:solidFill>
                  <a:srgbClr val="FF0000"/>
                </a:solidFill>
              </a:rPr>
              <a:t>Console</a:t>
            </a:r>
          </a:p>
          <a:p>
            <a:pPr marL="0" indent="0" algn="ctr">
              <a:buNone/>
            </a:pPr>
            <a:endParaRPr lang="pt-BR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pt-BR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dirty="0" smtClean="0">
                <a:solidFill>
                  <a:schemeClr val="tx1"/>
                </a:solidFill>
              </a:rPr>
              <a:t>Ao rodar r </a:t>
            </a:r>
            <a:r>
              <a:rPr lang="pt-BR" dirty="0">
                <a:solidFill>
                  <a:schemeClr val="tx1"/>
                </a:solidFill>
              </a:rPr>
              <a:t>seu script </a:t>
            </a:r>
            <a:r>
              <a:rPr lang="pt-BR" dirty="0" smtClean="0">
                <a:solidFill>
                  <a:schemeClr val="tx1"/>
                </a:solidFill>
              </a:rPr>
              <a:t>JS e </a:t>
            </a:r>
            <a:r>
              <a:rPr lang="pt-BR" dirty="0">
                <a:solidFill>
                  <a:schemeClr val="tx1"/>
                </a:solidFill>
              </a:rPr>
              <a:t>caso der algum erro, pode ser que não aconteça simplesmente nada</a:t>
            </a:r>
            <a:r>
              <a:rPr lang="pt-BR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pt-BR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BR" dirty="0">
                <a:solidFill>
                  <a:schemeClr val="tx1"/>
                </a:solidFill>
              </a:rPr>
              <a:t>Agora imagine que você fez um sistema com </a:t>
            </a:r>
            <a:r>
              <a:rPr lang="pt-BR" dirty="0" err="1">
                <a:solidFill>
                  <a:schemeClr val="tx1"/>
                </a:solidFill>
              </a:rPr>
              <a:t>JavaScript</a:t>
            </a:r>
            <a:r>
              <a:rPr lang="pt-BR" dirty="0">
                <a:solidFill>
                  <a:schemeClr val="tx1"/>
                </a:solidFill>
              </a:rPr>
              <a:t> enorme, </a:t>
            </a:r>
            <a:r>
              <a:rPr lang="pt-BR" dirty="0" smtClean="0">
                <a:solidFill>
                  <a:schemeClr val="tx1"/>
                </a:solidFill>
              </a:rPr>
              <a:t>com centenas </a:t>
            </a:r>
            <a:r>
              <a:rPr lang="pt-BR" dirty="0">
                <a:solidFill>
                  <a:schemeClr val="tx1"/>
                </a:solidFill>
              </a:rPr>
              <a:t>ou milhares de linhas, com vários arquivos .</a:t>
            </a:r>
            <a:r>
              <a:rPr lang="pt-BR" dirty="0" err="1">
                <a:solidFill>
                  <a:schemeClr val="tx1"/>
                </a:solidFill>
              </a:rPr>
              <a:t>js</a:t>
            </a:r>
            <a:r>
              <a:rPr lang="pt-BR" dirty="0">
                <a:solidFill>
                  <a:schemeClr val="tx1"/>
                </a:solidFill>
              </a:rPr>
              <a:t>, muitas </a:t>
            </a:r>
            <a:r>
              <a:rPr lang="pt-BR" dirty="0" smtClean="0">
                <a:solidFill>
                  <a:schemeClr val="tx1"/>
                </a:solidFill>
              </a:rPr>
              <a:t>funções, coisas </a:t>
            </a:r>
            <a:r>
              <a:rPr lang="pt-BR" dirty="0">
                <a:solidFill>
                  <a:schemeClr val="tx1"/>
                </a:solidFill>
              </a:rPr>
              <a:t>complexas e tal, foi rodar e nada. Sim, nada apareceu.</a:t>
            </a:r>
            <a:endParaRPr lang="pt-BR" dirty="0" smtClean="0">
              <a:solidFill>
                <a:schemeClr val="tx1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78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Java Script – Conceitos Iniciais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8" y="1874517"/>
            <a:ext cx="10560707" cy="445562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Abrindo o Console de </a:t>
            </a:r>
            <a:r>
              <a:rPr lang="pt-BR" dirty="0" smtClean="0">
                <a:solidFill>
                  <a:srgbClr val="FF0000"/>
                </a:solidFill>
              </a:rPr>
              <a:t>Comando (F12 ou Inspecionar)</a:t>
            </a:r>
            <a:endParaRPr lang="pt-BR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pt-BR" dirty="0" smtClean="0">
              <a:solidFill>
                <a:schemeClr val="tx1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19" y="2643447"/>
            <a:ext cx="5569527" cy="413142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987" y="3451684"/>
            <a:ext cx="4853398" cy="1257475"/>
          </a:xfrm>
          <a:prstGeom prst="rect">
            <a:avLst/>
          </a:prstGeom>
        </p:spPr>
      </p:pic>
      <p:sp>
        <p:nvSpPr>
          <p:cNvPr id="9" name="Seta para Cima 8"/>
          <p:cNvSpPr/>
          <p:nvPr/>
        </p:nvSpPr>
        <p:spPr>
          <a:xfrm>
            <a:off x="2078182" y="3142211"/>
            <a:ext cx="473825" cy="532014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059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Java Script – Conceitos Iniciais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8" y="1874517"/>
            <a:ext cx="10560707" cy="445562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dirty="0" smtClean="0">
                <a:solidFill>
                  <a:srgbClr val="FF0000"/>
                </a:solidFill>
              </a:rPr>
              <a:t>Comentários em Java Script</a:t>
            </a:r>
            <a:endParaRPr lang="pt-BR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pt-BR" dirty="0" smtClean="0">
              <a:solidFill>
                <a:srgbClr val="FF0000"/>
              </a:solidFill>
            </a:endParaRPr>
          </a:p>
          <a:p>
            <a:r>
              <a:rPr lang="pt-BR" dirty="0">
                <a:solidFill>
                  <a:schemeClr val="tx1"/>
                </a:solidFill>
              </a:rPr>
              <a:t>Única linha </a:t>
            </a:r>
            <a:r>
              <a:rPr lang="pt-BR" dirty="0" smtClean="0">
                <a:solidFill>
                  <a:schemeClr val="tx1"/>
                </a:solidFill>
              </a:rPr>
              <a:t>Comentários - Linha </a:t>
            </a:r>
            <a:r>
              <a:rPr lang="pt-BR" dirty="0">
                <a:solidFill>
                  <a:schemeClr val="tx1"/>
                </a:solidFill>
              </a:rPr>
              <a:t>única comenta começar com // </a:t>
            </a:r>
            <a:r>
              <a:rPr lang="pt-BR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pt-BR" dirty="0" smtClean="0">
              <a:solidFill>
                <a:schemeClr val="tx1"/>
              </a:solidFill>
            </a:endParaRPr>
          </a:p>
          <a:p>
            <a:r>
              <a:rPr lang="pt-BR" dirty="0" err="1">
                <a:solidFill>
                  <a:schemeClr val="tx1"/>
                </a:solidFill>
              </a:rPr>
              <a:t>Multi-linha</a:t>
            </a:r>
            <a:r>
              <a:rPr lang="pt-BR" dirty="0">
                <a:solidFill>
                  <a:schemeClr val="tx1"/>
                </a:solidFill>
              </a:rPr>
              <a:t> Comentários iniciam com /* e terminam com */ .</a:t>
            </a:r>
            <a:endParaRPr lang="pt-B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pt-BR" dirty="0" smtClean="0">
              <a:solidFill>
                <a:schemeClr val="tx1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72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Java Script – Conceitos Iniciais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8" y="1874517"/>
            <a:ext cx="10560707" cy="445562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Possibilidades de visualização de </a:t>
            </a:r>
            <a:r>
              <a:rPr lang="pt-BR" dirty="0" err="1">
                <a:solidFill>
                  <a:srgbClr val="FF0000"/>
                </a:solidFill>
              </a:rPr>
              <a:t>JavaScript</a:t>
            </a:r>
            <a:endParaRPr lang="pt-BR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err="1" smtClean="0">
                <a:solidFill>
                  <a:schemeClr val="tx1"/>
                </a:solidFill>
              </a:rPr>
              <a:t>JavaScript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consegue os dados "display" de diferentes maneiras</a:t>
            </a:r>
            <a:r>
              <a:rPr lang="pt-BR" dirty="0" smtClean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>
                <a:solidFill>
                  <a:schemeClr val="tx1"/>
                </a:solidFill>
              </a:rPr>
              <a:t>Escrevendo em uma caixa de alerta, usando </a:t>
            </a:r>
            <a:r>
              <a:rPr lang="pt-BR" b="1" dirty="0" err="1">
                <a:solidFill>
                  <a:schemeClr val="tx1"/>
                </a:solidFill>
              </a:rPr>
              <a:t>window.alert</a:t>
            </a:r>
            <a:r>
              <a:rPr lang="pt-BR" b="1" dirty="0">
                <a:solidFill>
                  <a:schemeClr val="tx1"/>
                </a:solidFill>
              </a:rPr>
              <a:t>()</a:t>
            </a:r>
            <a:r>
              <a:rPr lang="pt-BR" dirty="0">
                <a:solidFill>
                  <a:schemeClr val="tx1"/>
                </a:solidFill>
              </a:rPr>
              <a:t> .</a:t>
            </a:r>
          </a:p>
          <a:p>
            <a:r>
              <a:rPr lang="pt-BR" dirty="0">
                <a:solidFill>
                  <a:schemeClr val="tx1"/>
                </a:solidFill>
              </a:rPr>
              <a:t>Escrevendo para a saída HTML usando </a:t>
            </a:r>
            <a:r>
              <a:rPr lang="pt-BR" b="1" dirty="0" err="1">
                <a:solidFill>
                  <a:schemeClr val="tx1"/>
                </a:solidFill>
              </a:rPr>
              <a:t>document.write</a:t>
            </a:r>
            <a:r>
              <a:rPr lang="pt-BR" b="1" dirty="0">
                <a:solidFill>
                  <a:schemeClr val="tx1"/>
                </a:solidFill>
              </a:rPr>
              <a:t>()</a:t>
            </a:r>
            <a:r>
              <a:rPr lang="pt-BR" dirty="0">
                <a:solidFill>
                  <a:schemeClr val="tx1"/>
                </a:solidFill>
              </a:rPr>
              <a:t> .</a:t>
            </a:r>
          </a:p>
          <a:p>
            <a:r>
              <a:rPr lang="pt-BR" dirty="0">
                <a:solidFill>
                  <a:schemeClr val="tx1"/>
                </a:solidFill>
              </a:rPr>
              <a:t>Escrevendo em um elemento HTML, usando </a:t>
            </a:r>
            <a:r>
              <a:rPr lang="pt-BR" b="1" dirty="0" err="1">
                <a:solidFill>
                  <a:schemeClr val="tx1"/>
                </a:solidFill>
              </a:rPr>
              <a:t>innerHTML</a:t>
            </a:r>
            <a:r>
              <a:rPr lang="pt-BR" dirty="0">
                <a:solidFill>
                  <a:schemeClr val="tx1"/>
                </a:solidFill>
              </a:rPr>
              <a:t> .</a:t>
            </a:r>
          </a:p>
          <a:p>
            <a:r>
              <a:rPr lang="pt-BR" dirty="0">
                <a:solidFill>
                  <a:schemeClr val="tx1"/>
                </a:solidFill>
              </a:rPr>
              <a:t>Escrevendo para o console do navegador, usando </a:t>
            </a:r>
            <a:r>
              <a:rPr lang="pt-BR" b="1" dirty="0">
                <a:solidFill>
                  <a:schemeClr val="tx1"/>
                </a:solidFill>
              </a:rPr>
              <a:t>console.log()</a:t>
            </a:r>
            <a:r>
              <a:rPr lang="pt-BR" dirty="0">
                <a:solidFill>
                  <a:schemeClr val="tx1"/>
                </a:solidFill>
              </a:rPr>
              <a:t> .</a:t>
            </a:r>
          </a:p>
          <a:p>
            <a:pPr marL="0" indent="0">
              <a:buNone/>
            </a:pPr>
            <a:endParaRPr lang="pt-BR" dirty="0" smtClean="0">
              <a:solidFill>
                <a:schemeClr val="tx1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477745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TM10001106[[fn=Selo]]</Template>
  <TotalTime>62</TotalTime>
  <Words>752</Words>
  <Application>Microsoft Office PowerPoint</Application>
  <PresentationFormat>Widescreen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Impact</vt:lpstr>
      <vt:lpstr>Badge</vt:lpstr>
      <vt:lpstr>Java Script</vt:lpstr>
      <vt:lpstr>Java Script – Conceitos Iniciais</vt:lpstr>
      <vt:lpstr>Java Script – Conceitos Iniciais</vt:lpstr>
      <vt:lpstr>Java Script – Conceitos Iniciais</vt:lpstr>
      <vt:lpstr>Java Script – Conceitos Iniciais</vt:lpstr>
      <vt:lpstr>Java Script – Conceitos Iniciais</vt:lpstr>
      <vt:lpstr>Java Script – Conceitos Iniciais</vt:lpstr>
      <vt:lpstr>Java Script – Conceitos Iniciais</vt:lpstr>
      <vt:lpstr>Java Script – Conceitos Iniciais</vt:lpstr>
      <vt:lpstr>Java Script – Conceitos Iniciais</vt:lpstr>
      <vt:lpstr>Java Script – Conceitos Iniciais</vt:lpstr>
      <vt:lpstr>Java Script – Conceitos Iniciais</vt:lpstr>
      <vt:lpstr>Java Script – Conceitos Iniciais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Script</dc:title>
  <dc:creator>Admin</dc:creator>
  <cp:lastModifiedBy>Admin</cp:lastModifiedBy>
  <cp:revision>11</cp:revision>
  <dcterms:created xsi:type="dcterms:W3CDTF">2023-11-21T14:43:30Z</dcterms:created>
  <dcterms:modified xsi:type="dcterms:W3CDTF">2023-11-21T16:11:46Z</dcterms:modified>
</cp:coreProperties>
</file>