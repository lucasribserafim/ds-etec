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4" r:id="rId4"/>
    <p:sldMasterId id="2147483963" r:id="rId5"/>
  </p:sldMasterIdLst>
  <p:sldIdLst>
    <p:sldId id="256" r:id="rId6"/>
    <p:sldId id="270" r:id="rId7"/>
    <p:sldId id="277" r:id="rId8"/>
    <p:sldId id="278" r:id="rId9"/>
    <p:sldId id="279" r:id="rId10"/>
    <p:sldId id="281" r:id="rId11"/>
    <p:sldId id="280" r:id="rId12"/>
    <p:sldId id="282" r:id="rId13"/>
    <p:sldId id="283" r:id="rId14"/>
    <p:sldId id="284" r:id="rId15"/>
    <p:sldId id="285" r:id="rId16"/>
    <p:sldId id="291" r:id="rId17"/>
    <p:sldId id="292" r:id="rId18"/>
    <p:sldId id="286" r:id="rId19"/>
    <p:sldId id="290" r:id="rId20"/>
    <p:sldId id="289" r:id="rId21"/>
    <p:sldId id="293" r:id="rId22"/>
    <p:sldId id="294" r:id="rId23"/>
    <p:sldId id="295" r:id="rId24"/>
    <p:sldId id="296" r:id="rId25"/>
    <p:sldId id="297" r:id="rId26"/>
    <p:sldId id="298" r:id="rId27"/>
    <p:sldId id="299" r:id="rId2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58197C-E19D-3448-6E8C-45BACB2880ED}" v="2" dt="2024-03-13T00:02:25.9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ROCHA PANTALEAO" userId="S::guilherme.pantaleao@etec.sp.gov.br::a0d94a1e-75ff-4832-838b-383568a06d50" providerId="AD" clId="Web-{6A58197C-E19D-3448-6E8C-45BACB2880ED}"/>
    <pc:docChg chg="modSld">
      <pc:chgData name="GUILHERME ROCHA PANTALEAO" userId="S::guilherme.pantaleao@etec.sp.gov.br::a0d94a1e-75ff-4832-838b-383568a06d50" providerId="AD" clId="Web-{6A58197C-E19D-3448-6E8C-45BACB2880ED}" dt="2024-03-13T00:02:25.845" v="1" actId="20577"/>
      <pc:docMkLst>
        <pc:docMk/>
      </pc:docMkLst>
      <pc:sldChg chg="modSp">
        <pc:chgData name="GUILHERME ROCHA PANTALEAO" userId="S::guilherme.pantaleao@etec.sp.gov.br::a0d94a1e-75ff-4832-838b-383568a06d50" providerId="AD" clId="Web-{6A58197C-E19D-3448-6E8C-45BACB2880ED}" dt="2024-03-13T00:02:25.845" v="1" actId="20577"/>
        <pc:sldMkLst>
          <pc:docMk/>
          <pc:sldMk cId="2269053298" sldId="281"/>
        </pc:sldMkLst>
        <pc:spChg chg="mod">
          <ac:chgData name="GUILHERME ROCHA PANTALEAO" userId="S::guilherme.pantaleao@etec.sp.gov.br::a0d94a1e-75ff-4832-838b-383568a06d50" providerId="AD" clId="Web-{6A58197C-E19D-3448-6E8C-45BACB2880ED}" dt="2024-03-13T00:02:25.845" v="1" actId="20577"/>
          <ac:spMkLst>
            <pc:docMk/>
            <pc:sldMk cId="2269053298" sldId="281"/>
            <ac:spMk id="3" creationId="{00000000-0000-0000-0000-000000000000}"/>
          </ac:spMkLst>
        </pc:spChg>
      </pc:sldChg>
    </pc:docChg>
  </pc:docChgLst>
  <pc:docChgLst>
    <pc:chgData name="ELLEN NOGUEIRA DE OLIVEIRA" userId="S::ellen.oliveira79@etec.sp.gov.br::ff084ff0-67a5-4e23-9ed7-9f03b0a574b5" providerId="AD" clId="Web-{85C70531-8411-D801-7644-4B21A4E3B483}"/>
    <pc:docChg chg="modSld">
      <pc:chgData name="ELLEN NOGUEIRA DE OLIVEIRA" userId="S::ellen.oliveira79@etec.sp.gov.br::ff084ff0-67a5-4e23-9ed7-9f03b0a574b5" providerId="AD" clId="Web-{85C70531-8411-D801-7644-4B21A4E3B483}" dt="2024-03-06T17:23:45.104" v="1" actId="1076"/>
      <pc:docMkLst>
        <pc:docMk/>
      </pc:docMkLst>
      <pc:sldChg chg="modSp">
        <pc:chgData name="ELLEN NOGUEIRA DE OLIVEIRA" userId="S::ellen.oliveira79@etec.sp.gov.br::ff084ff0-67a5-4e23-9ed7-9f03b0a574b5" providerId="AD" clId="Web-{85C70531-8411-D801-7644-4B21A4E3B483}" dt="2024-03-06T17:23:45.104" v="1" actId="1076"/>
        <pc:sldMkLst>
          <pc:docMk/>
          <pc:sldMk cId="342524865" sldId="282"/>
        </pc:sldMkLst>
        <pc:picChg chg="mod">
          <ac:chgData name="ELLEN NOGUEIRA DE OLIVEIRA" userId="S::ellen.oliveira79@etec.sp.gov.br::ff084ff0-67a5-4e23-9ed7-9f03b0a574b5" providerId="AD" clId="Web-{85C70531-8411-D801-7644-4B21A4E3B483}" dt="2024-03-06T17:23:45.104" v="1" actId="1076"/>
          <ac:picMkLst>
            <pc:docMk/>
            <pc:sldMk cId="342524865" sldId="282"/>
            <ac:picMk id="4" creationId="{00000000-0000-0000-0000-000000000000}"/>
          </ac:picMkLst>
        </pc:picChg>
      </pc:sldChg>
    </pc:docChg>
  </pc:docChgLst>
  <pc:docChgLst>
    <pc:chgData name="DIOGO SOUZA" userId="S::diogo.souza107@etec.sp.gov.br::af7ad0fe-162f-474a-8042-e2d42da0f4bf" providerId="AD" clId="Web-{9E8F8CAF-2B54-EFED-BC98-85FA951D5F3F}"/>
    <pc:docChg chg="modSld">
      <pc:chgData name="DIOGO SOUZA" userId="S::diogo.souza107@etec.sp.gov.br::af7ad0fe-162f-474a-8042-e2d42da0f4bf" providerId="AD" clId="Web-{9E8F8CAF-2B54-EFED-BC98-85FA951D5F3F}" dt="2024-03-06T17:50:20.083" v="7" actId="20577"/>
      <pc:docMkLst>
        <pc:docMk/>
      </pc:docMkLst>
      <pc:sldChg chg="modSp">
        <pc:chgData name="DIOGO SOUZA" userId="S::diogo.souza107@etec.sp.gov.br::af7ad0fe-162f-474a-8042-e2d42da0f4bf" providerId="AD" clId="Web-{9E8F8CAF-2B54-EFED-BC98-85FA951D5F3F}" dt="2024-03-06T17:50:20.083" v="7" actId="20577"/>
        <pc:sldMkLst>
          <pc:docMk/>
          <pc:sldMk cId="342524865" sldId="282"/>
        </pc:sldMkLst>
        <pc:spChg chg="mod">
          <ac:chgData name="DIOGO SOUZA" userId="S::diogo.souza107@etec.sp.gov.br::af7ad0fe-162f-474a-8042-e2d42da0f4bf" providerId="AD" clId="Web-{9E8F8CAF-2B54-EFED-BC98-85FA951D5F3F}" dt="2024-03-06T17:50:20.083" v="7" actId="20577"/>
          <ac:spMkLst>
            <pc:docMk/>
            <pc:sldMk cId="342524865" sldId="28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de cantos arredondados 6"/>
          <p:cNvSpPr/>
          <p:nvPr/>
        </p:nvSpPr>
        <p:spPr>
          <a:xfrm>
            <a:off x="380960" y="142852"/>
            <a:ext cx="11430080" cy="4857784"/>
          </a:xfrm>
          <a:prstGeom prst="roundRect">
            <a:avLst>
              <a:gd name="adj" fmla="val 2353"/>
            </a:avLst>
          </a:prstGeom>
          <a:gradFill>
            <a:gsLst>
              <a:gs pos="0">
                <a:schemeClr val="bg2"/>
              </a:gs>
              <a:gs pos="35000">
                <a:schemeClr val="bg2">
                  <a:lumMod val="90000"/>
                </a:schemeClr>
              </a:gs>
            </a:gsLst>
          </a:gradFill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62000" y="2928935"/>
            <a:ext cx="10668000" cy="1470025"/>
          </a:xfrm>
        </p:spPr>
        <p:txBody>
          <a:bodyPr/>
          <a:lstStyle>
            <a:lvl1pPr algn="ctr">
              <a:defRPr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09600" y="5000636"/>
            <a:ext cx="11201440" cy="107157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3946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/>
          <p:cNvSpPr/>
          <p:nvPr/>
        </p:nvSpPr>
        <p:spPr>
          <a:xfrm>
            <a:off x="609600" y="274638"/>
            <a:ext cx="10972800" cy="914400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33467" y="274638"/>
            <a:ext cx="10248933" cy="914400"/>
          </a:xfrm>
        </p:spPr>
        <p:txBody>
          <a:bodyPr>
            <a:noAutofit/>
          </a:bodyPr>
          <a:lstStyle>
            <a:lvl1pPr marL="742950" indent="-742950" algn="l">
              <a:buFont typeface="+mj-lt"/>
              <a:buNone/>
              <a:defRPr lang="pt-BR" sz="28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Espaço Reservado para Rodapé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  <p:cxnSp>
        <p:nvCxnSpPr>
          <p:cNvPr id="12" name="Straight Connector 16"/>
          <p:cNvCxnSpPr/>
          <p:nvPr/>
        </p:nvCxnSpPr>
        <p:spPr>
          <a:xfrm rot="5400000">
            <a:off x="875208" y="730780"/>
            <a:ext cx="914400" cy="2117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spaço Reservado para Texto 19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1" y="274638"/>
            <a:ext cx="685729" cy="914400"/>
          </a:xfrm>
        </p:spPr>
        <p:txBody>
          <a:bodyPr anchor="ctr"/>
          <a:lstStyle>
            <a:lvl1pPr>
              <a:buNone/>
              <a:defRPr lang="pt-BR" sz="5000" kern="1200" dirty="0" smtClean="0">
                <a:solidFill>
                  <a:srgbClr val="EEECE1">
                    <a:lumMod val="75000"/>
                  </a:srgbClr>
                </a:solidFill>
                <a:latin typeface="Calisto MT" pitchFamily="18" charset="0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pt-BR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9671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539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4" name="Rectangle 5"/>
          <p:cNvSpPr/>
          <p:nvPr/>
        </p:nvSpPr>
        <p:spPr>
          <a:xfrm>
            <a:off x="512619" y="1524000"/>
            <a:ext cx="3657600" cy="914400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cxnSp>
        <p:nvCxnSpPr>
          <p:cNvPr id="36" name="Straight Connector 9"/>
          <p:cNvCxnSpPr/>
          <p:nvPr/>
        </p:nvCxnSpPr>
        <p:spPr>
          <a:xfrm rot="5400000">
            <a:off x="1085177" y="1980141"/>
            <a:ext cx="685800" cy="2117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10"/>
          <p:cNvSpPr/>
          <p:nvPr/>
        </p:nvSpPr>
        <p:spPr>
          <a:xfrm>
            <a:off x="4318000" y="1524000"/>
            <a:ext cx="3556000" cy="914400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cxnSp>
        <p:nvCxnSpPr>
          <p:cNvPr id="39" name="Straight Connector 12"/>
          <p:cNvCxnSpPr/>
          <p:nvPr/>
        </p:nvCxnSpPr>
        <p:spPr>
          <a:xfrm rot="5400000">
            <a:off x="4890559" y="1980141"/>
            <a:ext cx="685800" cy="2117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14"/>
          <p:cNvSpPr/>
          <p:nvPr/>
        </p:nvSpPr>
        <p:spPr>
          <a:xfrm>
            <a:off x="8132619" y="1524000"/>
            <a:ext cx="3556000" cy="914400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cxnSp>
        <p:nvCxnSpPr>
          <p:cNvPr id="42" name="Straight Connector 16"/>
          <p:cNvCxnSpPr/>
          <p:nvPr/>
        </p:nvCxnSpPr>
        <p:spPr>
          <a:xfrm rot="5400000">
            <a:off x="8705177" y="1980141"/>
            <a:ext cx="685800" cy="2117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spaço Reservado para Texto 54"/>
          <p:cNvSpPr>
            <a:spLocks noGrp="1"/>
          </p:cNvSpPr>
          <p:nvPr>
            <p:ph type="body" sz="quarter" idx="14" hasCustomPrompt="1"/>
          </p:nvPr>
        </p:nvSpPr>
        <p:spPr>
          <a:xfrm>
            <a:off x="1407950" y="1533532"/>
            <a:ext cx="2762269" cy="904868"/>
          </a:xfrm>
          <a:noFill/>
        </p:spPr>
        <p:txBody>
          <a:bodyPr anchor="ctr"/>
          <a:lstStyle>
            <a:lvl1pPr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pt-BR"/>
              <a:t>Titulo 1</a:t>
            </a:r>
          </a:p>
        </p:txBody>
      </p:sp>
      <p:sp>
        <p:nvSpPr>
          <p:cNvPr id="56" name="Espaço Reservado para Texto 54"/>
          <p:cNvSpPr>
            <a:spLocks noGrp="1"/>
          </p:cNvSpPr>
          <p:nvPr>
            <p:ph type="body" sz="quarter" idx="15" hasCustomPrompt="1"/>
          </p:nvPr>
        </p:nvSpPr>
        <p:spPr>
          <a:xfrm>
            <a:off x="5234518" y="1524000"/>
            <a:ext cx="2671245" cy="904868"/>
          </a:xfrm>
          <a:noFill/>
        </p:spPr>
        <p:txBody>
          <a:bodyPr anchor="ctr"/>
          <a:lstStyle>
            <a:lvl1pPr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pt-BR"/>
              <a:t>Titulo 2</a:t>
            </a:r>
          </a:p>
        </p:txBody>
      </p:sp>
      <p:sp>
        <p:nvSpPr>
          <p:cNvPr id="57" name="Espaço Reservado para Texto 54"/>
          <p:cNvSpPr>
            <a:spLocks noGrp="1"/>
          </p:cNvSpPr>
          <p:nvPr>
            <p:ph type="body" sz="quarter" idx="16" hasCustomPrompt="1"/>
          </p:nvPr>
        </p:nvSpPr>
        <p:spPr>
          <a:xfrm>
            <a:off x="9049136" y="1524000"/>
            <a:ext cx="2666653" cy="904868"/>
          </a:xfrm>
        </p:spPr>
        <p:txBody>
          <a:bodyPr anchor="ctr"/>
          <a:lstStyle>
            <a:lvl1pPr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pt-BR"/>
              <a:t>Titulo 3</a:t>
            </a:r>
          </a:p>
        </p:txBody>
      </p:sp>
      <p:sp>
        <p:nvSpPr>
          <p:cNvPr id="59" name="Espaço Reservado para Texto 58"/>
          <p:cNvSpPr>
            <a:spLocks noGrp="1"/>
          </p:cNvSpPr>
          <p:nvPr>
            <p:ph type="body" sz="quarter" idx="17"/>
          </p:nvPr>
        </p:nvSpPr>
        <p:spPr>
          <a:xfrm>
            <a:off x="512619" y="2428868"/>
            <a:ext cx="3657600" cy="3888000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 anchorCtr="0"/>
          <a:lstStyle>
            <a:lvl1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0" name="Espaço Reservado para Texto 58"/>
          <p:cNvSpPr>
            <a:spLocks noGrp="1"/>
          </p:cNvSpPr>
          <p:nvPr>
            <p:ph type="body" sz="quarter" idx="18"/>
          </p:nvPr>
        </p:nvSpPr>
        <p:spPr>
          <a:xfrm>
            <a:off x="4318000" y="2428868"/>
            <a:ext cx="3587763" cy="3929090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 anchorCtr="0"/>
          <a:lstStyle>
            <a:lvl1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1" name="Espaço Reservado para Texto 58"/>
          <p:cNvSpPr>
            <a:spLocks noGrp="1"/>
          </p:cNvSpPr>
          <p:nvPr>
            <p:ph type="body" sz="quarter" idx="19"/>
          </p:nvPr>
        </p:nvSpPr>
        <p:spPr>
          <a:xfrm>
            <a:off x="8123435" y="2438400"/>
            <a:ext cx="3592355" cy="3835374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 anchorCtr="0"/>
          <a:lstStyle>
            <a:lvl1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3" name="Espaço Reservado para Texto 62"/>
          <p:cNvSpPr>
            <a:spLocks noGrp="1"/>
          </p:cNvSpPr>
          <p:nvPr>
            <p:ph type="body" sz="quarter" idx="20" hasCustomPrompt="1"/>
          </p:nvPr>
        </p:nvSpPr>
        <p:spPr>
          <a:xfrm>
            <a:off x="512619" y="1524000"/>
            <a:ext cx="895331" cy="861774"/>
          </a:xfrm>
        </p:spPr>
        <p:txBody>
          <a:bodyPr anchor="ctr">
            <a:noAutofit/>
          </a:bodyPr>
          <a:lstStyle>
            <a:lvl1pPr marL="0" algn="ctr" defTabSz="914400" rtl="0" eaLnBrk="1" latinLnBrk="0" hangingPunct="1">
              <a:buNone/>
              <a:defRPr lang="pt-BR" sz="5000" kern="1200" dirty="0">
                <a:solidFill>
                  <a:srgbClr val="EEECE1">
                    <a:lumMod val="75000"/>
                  </a:srgbClr>
                </a:solidFill>
                <a:latin typeface="Calisto MT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64" name="Espaço Reservado para Texto 62"/>
          <p:cNvSpPr>
            <a:spLocks noGrp="1"/>
          </p:cNvSpPr>
          <p:nvPr>
            <p:ph type="body" sz="quarter" idx="21" hasCustomPrompt="1"/>
          </p:nvPr>
        </p:nvSpPr>
        <p:spPr>
          <a:xfrm>
            <a:off x="4339187" y="1524000"/>
            <a:ext cx="895331" cy="861774"/>
          </a:xfrm>
        </p:spPr>
        <p:txBody>
          <a:bodyPr anchor="ctr">
            <a:noAutofit/>
          </a:bodyPr>
          <a:lstStyle>
            <a:lvl1pPr marL="0" algn="ctr" defTabSz="914400" rtl="0" eaLnBrk="1" latinLnBrk="0" hangingPunct="1">
              <a:buNone/>
              <a:defRPr lang="pt-BR" sz="5000" kern="1200" dirty="0">
                <a:solidFill>
                  <a:srgbClr val="EEECE1">
                    <a:lumMod val="75000"/>
                  </a:srgbClr>
                </a:solidFill>
                <a:latin typeface="Calisto MT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65" name="Espaço Reservado para Texto 62"/>
          <p:cNvSpPr>
            <a:spLocks noGrp="1"/>
          </p:cNvSpPr>
          <p:nvPr>
            <p:ph type="body" sz="quarter" idx="22" hasCustomPrompt="1"/>
          </p:nvPr>
        </p:nvSpPr>
        <p:spPr>
          <a:xfrm>
            <a:off x="8123435" y="1524000"/>
            <a:ext cx="895331" cy="861774"/>
          </a:xfrm>
        </p:spPr>
        <p:txBody>
          <a:bodyPr anchor="ctr">
            <a:noAutofit/>
          </a:bodyPr>
          <a:lstStyle>
            <a:lvl1pPr marL="0" algn="ctr" defTabSz="914400" rtl="0" eaLnBrk="1" latinLnBrk="0" hangingPunct="1">
              <a:buNone/>
              <a:defRPr lang="pt-BR" sz="5000" kern="1200" dirty="0">
                <a:solidFill>
                  <a:srgbClr val="EEECE1">
                    <a:lumMod val="75000"/>
                  </a:srgbClr>
                </a:solidFill>
                <a:latin typeface="Calisto MT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pt-BR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16809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709083" y="2143116"/>
            <a:ext cx="5386917" cy="3951288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9144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9144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Rectangle 5"/>
          <p:cNvSpPr/>
          <p:nvPr/>
        </p:nvSpPr>
        <p:spPr>
          <a:xfrm>
            <a:off x="709083" y="1417639"/>
            <a:ext cx="5386917" cy="757237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609568" y="1357298"/>
            <a:ext cx="914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>
                <a:solidFill>
                  <a:srgbClr val="EEECE1">
                    <a:lumMod val="75000"/>
                  </a:srgbClr>
                </a:solidFill>
                <a:latin typeface="Calisto MT" pitchFamily="18" charset="0"/>
              </a:rPr>
              <a:t>1</a:t>
            </a:r>
          </a:p>
        </p:txBody>
      </p:sp>
      <p:cxnSp>
        <p:nvCxnSpPr>
          <p:cNvPr id="12" name="Straight Connector 9"/>
          <p:cNvCxnSpPr/>
          <p:nvPr/>
        </p:nvCxnSpPr>
        <p:spPr>
          <a:xfrm rot="5400000">
            <a:off x="1086876" y="1799158"/>
            <a:ext cx="685800" cy="2117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30836" y="1428737"/>
            <a:ext cx="4565683" cy="717559"/>
          </a:xfr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9144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4" name="Rectangle 5"/>
          <p:cNvSpPr/>
          <p:nvPr/>
        </p:nvSpPr>
        <p:spPr>
          <a:xfrm>
            <a:off x="6193368" y="1417639"/>
            <a:ext cx="5389033" cy="757237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sp>
        <p:nvSpPr>
          <p:cNvPr id="15" name="TextBox 7"/>
          <p:cNvSpPr txBox="1"/>
          <p:nvPr/>
        </p:nvSpPr>
        <p:spPr>
          <a:xfrm>
            <a:off x="6096000" y="1357298"/>
            <a:ext cx="914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>
                <a:solidFill>
                  <a:srgbClr val="EEECE1">
                    <a:lumMod val="75000"/>
                  </a:srgbClr>
                </a:solidFill>
                <a:latin typeface="Calisto MT" pitchFamily="18" charset="0"/>
              </a:rPr>
              <a:t>2</a:t>
            </a:r>
          </a:p>
        </p:txBody>
      </p:sp>
      <p:cxnSp>
        <p:nvCxnSpPr>
          <p:cNvPr id="16" name="Straight Connector 9"/>
          <p:cNvCxnSpPr/>
          <p:nvPr/>
        </p:nvCxnSpPr>
        <p:spPr>
          <a:xfrm rot="5400000">
            <a:off x="6611415" y="1799158"/>
            <a:ext cx="685800" cy="2117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spaço Reservado para Texto 2"/>
          <p:cNvSpPr>
            <a:spLocks noGrp="1"/>
          </p:cNvSpPr>
          <p:nvPr>
            <p:ph type="body" idx="13"/>
          </p:nvPr>
        </p:nvSpPr>
        <p:spPr>
          <a:xfrm>
            <a:off x="6953256" y="1428737"/>
            <a:ext cx="4565683" cy="717559"/>
          </a:xfr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9144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255965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4851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807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gradFill>
            <a:gsLst>
              <a:gs pos="0">
                <a:schemeClr val="bg1">
                  <a:alpha val="0"/>
                </a:schemeClr>
              </a:gs>
              <a:gs pos="55000">
                <a:schemeClr val="bg2">
                  <a:lumMod val="9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solidFill>
              <a:schemeClr val="bg2">
                <a:lumMod val="75000"/>
              </a:schemeClr>
            </a:solidFill>
          </a:ln>
        </p:spPr>
        <p:txBody>
          <a:bodyPr anchor="ctr"/>
          <a:lstStyle>
            <a:lvl1pPr algn="l">
              <a:defRPr sz="2000"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gradFill>
            <a:gsLst>
              <a:gs pos="0">
                <a:schemeClr val="bg1">
                  <a:alpha val="0"/>
                </a:schemeClr>
              </a:gs>
              <a:gs pos="55000">
                <a:schemeClr val="bg2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 sz="1400"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109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0885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6059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2695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463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7830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9913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8685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6911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14425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76447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56156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97525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93290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6110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09854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42421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82772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1983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13187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263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/>
            </a:gs>
            <a:gs pos="100000">
              <a:schemeClr val="bg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1367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E6AF9-F7D4-4C45-9F16-4BC65E636369}" type="datetimeFigureOut">
              <a:rPr lang="pt-BR" smtClean="0"/>
              <a:t>12/03/2024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ED21B1A-71FD-4DD8-B271-956185582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4997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  <p:sldLayoutId id="2147483975" r:id="rId12"/>
    <p:sldLayoutId id="2147483976" r:id="rId13"/>
    <p:sldLayoutId id="2147483977" r:id="rId14"/>
    <p:sldLayoutId id="2147483978" r:id="rId15"/>
    <p:sldLayoutId id="214748397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88214" y="2404531"/>
            <a:ext cx="7766936" cy="1646302"/>
          </a:xfrm>
        </p:spPr>
        <p:txBody>
          <a:bodyPr>
            <a:normAutofit/>
          </a:bodyPr>
          <a:lstStyle/>
          <a:p>
            <a:r>
              <a:rPr lang="pt-BR" sz="4000">
                <a:latin typeface="Arial Black" panose="020B0A04020102020204" pitchFamily="34" charset="0"/>
              </a:rPr>
              <a:t>PW I – Programação WEB 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/>
              <a:t>Aula 4</a:t>
            </a:r>
          </a:p>
        </p:txBody>
      </p:sp>
    </p:spTree>
    <p:extLst>
      <p:ext uri="{BB962C8B-B14F-4D97-AF65-F5344CB8AC3E}">
        <p14:creationId xmlns:p14="http://schemas.microsoft.com/office/powerpoint/2010/main" val="3181433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>
                <a:latin typeface="Arial Black" panose="020B0A04020102020204" pitchFamily="34" charset="0"/>
              </a:rPr>
              <a:t>PW I – Programação WEB I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4546" y="1455313"/>
            <a:ext cx="9903854" cy="49970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/>
              <a:t>                                                 </a:t>
            </a:r>
            <a:r>
              <a:rPr lang="pt-BR" sz="2400"/>
              <a:t>Tabelas </a:t>
            </a:r>
          </a:p>
          <a:p>
            <a:pPr marL="0" indent="0">
              <a:buNone/>
            </a:pPr>
            <a:r>
              <a:rPr lang="pt-BR" sz="2400"/>
              <a:t>As tabelas são elementos da HTML que servem para organizar o </a:t>
            </a:r>
            <a:r>
              <a:rPr lang="pt-BR" sz="2400" i="1"/>
              <a:t>layout </a:t>
            </a:r>
            <a:r>
              <a:rPr lang="pt-BR" sz="2400"/>
              <a:t>da página e também organizar dados e informações. </a:t>
            </a:r>
          </a:p>
          <a:p>
            <a:pPr marL="0" indent="0">
              <a:buNone/>
            </a:pPr>
            <a:r>
              <a:rPr lang="pt-BR" sz="2400"/>
              <a:t> São formadas por, basicamente, linhas e colunas. </a:t>
            </a:r>
          </a:p>
          <a:p>
            <a:pPr marL="0" indent="0">
              <a:buNone/>
            </a:pPr>
            <a:r>
              <a:rPr lang="pt-BR" sz="2400"/>
              <a:t>Os dados (texto) ou outros elementos da HTML são posicionados dentro das células da tabela. </a:t>
            </a:r>
          </a:p>
          <a:p>
            <a:pPr marL="0" indent="0">
              <a:buNone/>
            </a:pPr>
            <a:r>
              <a:rPr lang="pt-BR" sz="2400"/>
              <a:t>As tabelas são formadas pelas </a:t>
            </a:r>
            <a:r>
              <a:rPr lang="pt-BR" sz="2400" err="1"/>
              <a:t>tags</a:t>
            </a:r>
            <a:r>
              <a:rPr lang="pt-BR" sz="2400"/>
              <a:t> TABLE, TR e TD, porém pode conter outras </a:t>
            </a:r>
            <a:r>
              <a:rPr lang="pt-BR" sz="2400" err="1"/>
              <a:t>tags</a:t>
            </a:r>
            <a:r>
              <a:rPr lang="pt-BR" sz="2400"/>
              <a:t> auxiliares e também diversos atributos que formatam a tabela. </a:t>
            </a:r>
            <a:endParaRPr lang="pt-BR" b="1"/>
          </a:p>
        </p:txBody>
      </p:sp>
    </p:spTree>
    <p:extLst>
      <p:ext uri="{BB962C8B-B14F-4D97-AF65-F5344CB8AC3E}">
        <p14:creationId xmlns:p14="http://schemas.microsoft.com/office/powerpoint/2010/main" val="1924906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>
                <a:latin typeface="Arial Black" panose="020B0A04020102020204" pitchFamily="34" charset="0"/>
              </a:rPr>
              <a:t>PW I – Programação WEB I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4546" y="1455313"/>
            <a:ext cx="9903854" cy="499700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400" b="1"/>
              <a:t>                                                 </a:t>
            </a:r>
            <a:r>
              <a:rPr lang="pt-BR" sz="2400"/>
              <a:t>Tabelas </a:t>
            </a:r>
          </a:p>
          <a:p>
            <a:endParaRPr lang="pt-BR" sz="2400"/>
          </a:p>
          <a:p>
            <a:pPr marL="0" indent="0">
              <a:buNone/>
            </a:pPr>
            <a:r>
              <a:rPr lang="pt-BR" sz="2400" b="1"/>
              <a:t>  TABLE </a:t>
            </a:r>
            <a:r>
              <a:rPr lang="pt-BR" sz="2400"/>
              <a:t>- A </a:t>
            </a:r>
            <a:r>
              <a:rPr lang="pt-BR" sz="2400" err="1"/>
              <a:t>tag</a:t>
            </a:r>
            <a:r>
              <a:rPr lang="pt-BR" sz="2400"/>
              <a:t> TABLE define uma tabela. </a:t>
            </a:r>
          </a:p>
          <a:p>
            <a:pPr marL="0" indent="0">
              <a:buNone/>
            </a:pPr>
            <a:r>
              <a:rPr lang="pt-BR" sz="2400"/>
              <a:t>  Esta </a:t>
            </a:r>
            <a:r>
              <a:rPr lang="pt-BR" sz="2400" err="1"/>
              <a:t>tag</a:t>
            </a:r>
            <a:r>
              <a:rPr lang="pt-BR" sz="2400"/>
              <a:t> aceita os seguintes parâmetros: </a:t>
            </a:r>
          </a:p>
          <a:p>
            <a:pPr marL="0" indent="0">
              <a:buNone/>
            </a:pPr>
            <a:r>
              <a:rPr lang="pt-BR" sz="2400" b="1"/>
              <a:t>  BORDER </a:t>
            </a:r>
            <a:r>
              <a:rPr lang="pt-BR" sz="2400"/>
              <a:t>– Largura da borda da tabela, em pixels (padrão = 0). </a:t>
            </a:r>
          </a:p>
          <a:p>
            <a:pPr marL="0" indent="0">
              <a:buNone/>
            </a:pPr>
            <a:r>
              <a:rPr lang="pt-BR" sz="2400" b="1"/>
              <a:t>  WIDTH </a:t>
            </a:r>
            <a:r>
              <a:rPr lang="pt-BR" sz="2400"/>
              <a:t>– Largura da tabela, em pixels ou em percentual. </a:t>
            </a:r>
          </a:p>
          <a:p>
            <a:pPr marL="0" indent="0">
              <a:buNone/>
            </a:pPr>
            <a:r>
              <a:rPr lang="pt-BR" sz="2400" b="1"/>
              <a:t>  CELLPADDING </a:t>
            </a:r>
            <a:r>
              <a:rPr lang="pt-BR" sz="2400"/>
              <a:t>– Distância, em pixels, da borda até o dado da célula. </a:t>
            </a:r>
          </a:p>
          <a:p>
            <a:pPr marL="0" indent="0">
              <a:buNone/>
            </a:pPr>
            <a:r>
              <a:rPr lang="pt-BR" sz="2400" b="1"/>
              <a:t>  CELLSPACING </a:t>
            </a:r>
            <a:r>
              <a:rPr lang="pt-BR" sz="2400"/>
              <a:t>– Distância entre as células, em pixels. </a:t>
            </a:r>
          </a:p>
          <a:p>
            <a:pPr marL="0" indent="0">
              <a:buNone/>
            </a:pPr>
            <a:r>
              <a:rPr lang="pt-BR" sz="2400" b="1"/>
              <a:t>  RULES </a:t>
            </a:r>
            <a:r>
              <a:rPr lang="pt-BR" sz="2400"/>
              <a:t>– Define as linhas da tabela (NONE, ALL, ROWS, COLS). </a:t>
            </a:r>
          </a:p>
          <a:p>
            <a:pPr marL="0" indent="0">
              <a:buNone/>
            </a:pPr>
            <a:r>
              <a:rPr lang="pt-BR" sz="2400" b="1"/>
              <a:t>  ALIGN </a:t>
            </a:r>
            <a:r>
              <a:rPr lang="pt-BR" sz="2400"/>
              <a:t>– Define o alinhamento da tabela (CENTER, LEFT, RIGHT). </a:t>
            </a:r>
          </a:p>
          <a:p>
            <a:pPr marL="0" indent="0">
              <a:buNone/>
            </a:pPr>
            <a:r>
              <a:rPr lang="pt-BR" sz="2400" b="1"/>
              <a:t>  FRAME </a:t>
            </a:r>
            <a:r>
              <a:rPr lang="pt-BR" sz="2400"/>
              <a:t>– Define o desenho das bordas externas (BORDER, BOX, VOID, </a:t>
            </a:r>
          </a:p>
          <a:p>
            <a:pPr marL="0" indent="0">
              <a:buNone/>
            </a:pPr>
            <a:r>
              <a:rPr lang="en-US" sz="2400"/>
              <a:t>   ABOVE, BELLOW, HSIDES, VSIDES, LHS, RHS). </a:t>
            </a:r>
            <a:endParaRPr lang="pt-BR" b="1"/>
          </a:p>
        </p:txBody>
      </p:sp>
    </p:spTree>
    <p:extLst>
      <p:ext uri="{BB962C8B-B14F-4D97-AF65-F5344CB8AC3E}">
        <p14:creationId xmlns:p14="http://schemas.microsoft.com/office/powerpoint/2010/main" val="3903198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>
                <a:latin typeface="Arial Black" panose="020B0A04020102020204" pitchFamily="34" charset="0"/>
              </a:rPr>
              <a:t>PW I – Programação WEB I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4546" y="1455313"/>
            <a:ext cx="9903854" cy="49970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/>
              <a:t>                                                 </a:t>
            </a:r>
            <a:r>
              <a:rPr lang="pt-BR" sz="2400"/>
              <a:t>Tabelas </a:t>
            </a:r>
          </a:p>
          <a:p>
            <a:pPr marL="0" indent="0">
              <a:buNone/>
            </a:pPr>
            <a:endParaRPr lang="pt-BR" sz="2400"/>
          </a:p>
          <a:p>
            <a:pPr marL="0" indent="0">
              <a:buNone/>
            </a:pPr>
            <a:r>
              <a:rPr lang="pt-BR" sz="2400" b="1"/>
              <a:t>BACKGROUND </a:t>
            </a:r>
            <a:r>
              <a:rPr lang="pt-BR" sz="2400"/>
              <a:t>– Define uma imagem de fundo. </a:t>
            </a:r>
          </a:p>
          <a:p>
            <a:pPr marL="0" indent="0">
              <a:buNone/>
            </a:pPr>
            <a:r>
              <a:rPr lang="pt-BR" sz="2400" b="1"/>
              <a:t>BGCOLOR </a:t>
            </a:r>
            <a:r>
              <a:rPr lang="pt-BR" sz="2400"/>
              <a:t>– Define a cor de fundo da tabela. </a:t>
            </a:r>
          </a:p>
          <a:p>
            <a:pPr marL="0" indent="0">
              <a:buNone/>
            </a:pPr>
            <a:r>
              <a:rPr lang="pt-BR" sz="2400" b="1"/>
              <a:t>BORDERCOLOR </a:t>
            </a:r>
            <a:r>
              <a:rPr lang="pt-BR" sz="2400"/>
              <a:t>– Define a cor da borda. </a:t>
            </a:r>
          </a:p>
          <a:p>
            <a:pPr marL="0" indent="0">
              <a:buNone/>
            </a:pPr>
            <a:r>
              <a:rPr lang="pt-BR" sz="2400" b="1"/>
              <a:t>BORDERCOLORDARK </a:t>
            </a:r>
            <a:r>
              <a:rPr lang="pt-BR" sz="2400"/>
              <a:t>– Define a cor escura da borda (apenas IE). </a:t>
            </a:r>
          </a:p>
          <a:p>
            <a:pPr marL="0" indent="0">
              <a:buNone/>
            </a:pPr>
            <a:r>
              <a:rPr lang="pt-BR" sz="2400" b="1"/>
              <a:t>BORDERCOLORLIGHT </a:t>
            </a:r>
            <a:r>
              <a:rPr lang="pt-BR" sz="2400"/>
              <a:t>– Define a cor clara da borda (apenas IE). </a:t>
            </a:r>
            <a:endParaRPr lang="pt-BR" b="1"/>
          </a:p>
        </p:txBody>
      </p:sp>
    </p:spTree>
    <p:extLst>
      <p:ext uri="{BB962C8B-B14F-4D97-AF65-F5344CB8AC3E}">
        <p14:creationId xmlns:p14="http://schemas.microsoft.com/office/powerpoint/2010/main" val="2633918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>
                <a:latin typeface="Arial Black" panose="020B0A04020102020204" pitchFamily="34" charset="0"/>
              </a:rPr>
              <a:t>PW I – Programação WEB I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4546" y="1455313"/>
            <a:ext cx="9903854" cy="499700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sz="2400" b="1"/>
              <a:t>                                                 </a:t>
            </a:r>
            <a:r>
              <a:rPr lang="pt-BR" sz="2400"/>
              <a:t>Tabelas </a:t>
            </a:r>
          </a:p>
          <a:p>
            <a:pPr marL="0" indent="0">
              <a:buNone/>
            </a:pPr>
            <a:endParaRPr lang="pt-BR" sz="2400"/>
          </a:p>
          <a:p>
            <a:pPr marL="0" indent="0">
              <a:buNone/>
            </a:pPr>
            <a:r>
              <a:rPr lang="pt-BR" sz="2400" b="1"/>
              <a:t>TR </a:t>
            </a:r>
            <a:endParaRPr lang="pt-BR" sz="2400"/>
          </a:p>
          <a:p>
            <a:pPr marL="0" indent="0">
              <a:buNone/>
            </a:pPr>
            <a:r>
              <a:rPr lang="pt-BR" sz="2400"/>
              <a:t>  A </a:t>
            </a:r>
            <a:r>
              <a:rPr lang="pt-BR" sz="2400" err="1"/>
              <a:t>tag</a:t>
            </a:r>
            <a:r>
              <a:rPr lang="pt-BR" sz="2400"/>
              <a:t> TR define uma linha da tabela. </a:t>
            </a:r>
          </a:p>
          <a:p>
            <a:pPr marL="0" indent="0">
              <a:buNone/>
            </a:pPr>
            <a:r>
              <a:rPr lang="pt-BR" sz="2400"/>
              <a:t>  Esta </a:t>
            </a:r>
            <a:r>
              <a:rPr lang="pt-BR" sz="2400" err="1"/>
              <a:t>tag</a:t>
            </a:r>
            <a:r>
              <a:rPr lang="pt-BR" sz="2400"/>
              <a:t> aceita os seguintes parâmetros: </a:t>
            </a:r>
          </a:p>
          <a:p>
            <a:pPr marL="0" indent="0">
              <a:buNone/>
            </a:pPr>
            <a:r>
              <a:rPr lang="pt-BR" sz="2400" b="1"/>
              <a:t>  HEIGHT </a:t>
            </a:r>
            <a:r>
              <a:rPr lang="pt-BR" sz="2400"/>
              <a:t>– Altura da linha, em pixels. </a:t>
            </a:r>
          </a:p>
          <a:p>
            <a:pPr marL="0" indent="0">
              <a:buNone/>
            </a:pPr>
            <a:r>
              <a:rPr lang="pt-BR" sz="2400" b="1"/>
              <a:t>  ALIGN </a:t>
            </a:r>
            <a:r>
              <a:rPr lang="pt-BR" sz="2400"/>
              <a:t>– Define o alinhamento horizontal na linha (CENTER, LEFT, RIGHT, JUSTIFY). </a:t>
            </a:r>
          </a:p>
          <a:p>
            <a:pPr marL="0" indent="0">
              <a:buNone/>
            </a:pPr>
            <a:r>
              <a:rPr lang="pt-BR" sz="2400" b="1"/>
              <a:t>  VALIGN </a:t>
            </a:r>
            <a:r>
              <a:rPr lang="pt-BR" sz="2400"/>
              <a:t>– Define o alinhamento vertical na linha (MIDDLE, TOP, BOTTOM). </a:t>
            </a:r>
          </a:p>
          <a:p>
            <a:pPr marL="0" indent="0">
              <a:buNone/>
            </a:pPr>
            <a:r>
              <a:rPr lang="pt-BR" sz="2400" b="1"/>
              <a:t>  BGCOLOR </a:t>
            </a:r>
            <a:r>
              <a:rPr lang="pt-BR" sz="2400"/>
              <a:t>– Define a cor de fundo da linha. </a:t>
            </a:r>
          </a:p>
          <a:p>
            <a:pPr marL="0" indent="0">
              <a:buNone/>
            </a:pPr>
            <a:r>
              <a:rPr lang="pt-BR" sz="2400" b="1"/>
              <a:t>  BACKGROUND </a:t>
            </a:r>
            <a:r>
              <a:rPr lang="pt-BR" sz="2400"/>
              <a:t>– Define uma imagem de fundo. </a:t>
            </a:r>
          </a:p>
          <a:p>
            <a:pPr marL="0" indent="0">
              <a:buNone/>
            </a:pPr>
            <a:r>
              <a:rPr lang="pt-BR" sz="2400" b="1"/>
              <a:t>  BORDERCOLOR </a:t>
            </a:r>
            <a:r>
              <a:rPr lang="pt-BR" sz="2400"/>
              <a:t>– Define a cor da borda. </a:t>
            </a:r>
          </a:p>
          <a:p>
            <a:pPr marL="0" indent="0">
              <a:buNone/>
            </a:pPr>
            <a:r>
              <a:rPr lang="pt-BR" sz="2400" b="1"/>
              <a:t>  BORDERCOLORDARK </a:t>
            </a:r>
            <a:r>
              <a:rPr lang="pt-BR" sz="2400"/>
              <a:t>– Define a cor escura da borda (apenas IE). </a:t>
            </a:r>
          </a:p>
          <a:p>
            <a:pPr marL="0" indent="0">
              <a:buNone/>
            </a:pPr>
            <a:r>
              <a:rPr lang="pt-BR" sz="2400" b="1"/>
              <a:t>  BORDERCOLORLIGHT </a:t>
            </a:r>
            <a:r>
              <a:rPr lang="pt-BR" sz="2400"/>
              <a:t>– Define a cor clara da borda (apenas IE). </a:t>
            </a:r>
            <a:endParaRPr lang="pt-BR" b="1"/>
          </a:p>
        </p:txBody>
      </p:sp>
    </p:spTree>
    <p:extLst>
      <p:ext uri="{BB962C8B-B14F-4D97-AF65-F5344CB8AC3E}">
        <p14:creationId xmlns:p14="http://schemas.microsoft.com/office/powerpoint/2010/main" val="2795446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>
                <a:latin typeface="Arial Black" panose="020B0A04020102020204" pitchFamily="34" charset="0"/>
              </a:rPr>
              <a:t>PW I – Programação WEB I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4546" y="1455313"/>
            <a:ext cx="9903854" cy="499700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pt-BR" sz="2400" b="1" dirty="0"/>
              <a:t>                                                 </a:t>
            </a:r>
            <a:r>
              <a:rPr lang="pt-BR" sz="2400" dirty="0"/>
              <a:t>Tabelas </a:t>
            </a:r>
            <a:endParaRPr lang="pt-BR" sz="2400"/>
          </a:p>
          <a:p>
            <a:pPr marL="0" indent="0">
              <a:buNone/>
            </a:pPr>
            <a:endParaRPr lang="pt-BR" sz="2400"/>
          </a:p>
          <a:p>
            <a:pPr marL="0" indent="0">
              <a:buNone/>
            </a:pPr>
            <a:r>
              <a:rPr lang="pt-BR" sz="2000" b="1" dirty="0"/>
              <a:t>TD </a:t>
            </a:r>
            <a:endParaRPr lang="pt-BR" sz="2000"/>
          </a:p>
          <a:p>
            <a:pPr marL="0" indent="0">
              <a:buNone/>
            </a:pPr>
            <a:r>
              <a:rPr lang="pt-BR" sz="2000" dirty="0"/>
              <a:t>  A </a:t>
            </a:r>
            <a:r>
              <a:rPr lang="pt-BR" sz="2000" dirty="0" err="1"/>
              <a:t>tag</a:t>
            </a:r>
            <a:r>
              <a:rPr lang="pt-BR" sz="2000" dirty="0"/>
              <a:t> TD define uma célula da tabela. Cada célula em uma linha define uma coluna. </a:t>
            </a:r>
          </a:p>
          <a:p>
            <a:pPr marL="0" indent="0">
              <a:buNone/>
            </a:pPr>
            <a:r>
              <a:rPr lang="pt-BR" sz="2000" dirty="0"/>
              <a:t>  Esta </a:t>
            </a:r>
            <a:r>
              <a:rPr lang="pt-BR" sz="2000" dirty="0" err="1"/>
              <a:t>tag</a:t>
            </a:r>
            <a:r>
              <a:rPr lang="pt-BR" sz="2000" dirty="0"/>
              <a:t> aceita os seguintes parâmetros: </a:t>
            </a:r>
          </a:p>
          <a:p>
            <a:pPr marL="0" indent="0">
              <a:buNone/>
            </a:pPr>
            <a:r>
              <a:rPr lang="pt-BR" sz="2000" b="1" dirty="0"/>
              <a:t>   WIDTH </a:t>
            </a:r>
            <a:r>
              <a:rPr lang="pt-BR" sz="2000" dirty="0"/>
              <a:t>– Largura da célula, em pixels. </a:t>
            </a:r>
          </a:p>
          <a:p>
            <a:pPr marL="0" indent="0">
              <a:buNone/>
            </a:pPr>
            <a:r>
              <a:rPr lang="pt-BR" sz="2000" b="1" dirty="0"/>
              <a:t>   HEIGHT </a:t>
            </a:r>
            <a:r>
              <a:rPr lang="pt-BR" sz="2000" dirty="0"/>
              <a:t>– Altura da célula, em pixels. </a:t>
            </a:r>
          </a:p>
          <a:p>
            <a:pPr marL="0" indent="0">
              <a:buNone/>
            </a:pPr>
            <a:r>
              <a:rPr lang="pt-BR" sz="2000" b="1" dirty="0"/>
              <a:t>   ALIGN </a:t>
            </a:r>
            <a:r>
              <a:rPr lang="pt-BR" sz="2000" dirty="0"/>
              <a:t>– Define o alinhamento horizontal na linha (CENTER, LEFT, RIGHT, JUSTIFY). </a:t>
            </a:r>
          </a:p>
          <a:p>
            <a:pPr marL="0" indent="0">
              <a:buNone/>
            </a:pPr>
            <a:r>
              <a:rPr lang="pt-BR" sz="2000" b="1" dirty="0"/>
              <a:t>   VALIGN </a:t>
            </a:r>
            <a:r>
              <a:rPr lang="pt-BR" sz="2000" dirty="0"/>
              <a:t>– Define o alinhamento vertical na linha (MIDDLE, TOP, BOTTOM). </a:t>
            </a:r>
          </a:p>
          <a:p>
            <a:pPr marL="0" indent="0">
              <a:buNone/>
            </a:pPr>
            <a:r>
              <a:rPr lang="pt-BR" sz="2000" b="1" dirty="0"/>
              <a:t>    BGCOLOR </a:t>
            </a:r>
            <a:r>
              <a:rPr lang="pt-BR" sz="2000" dirty="0"/>
              <a:t>– Define a cor de fundo da linha. </a:t>
            </a:r>
          </a:p>
          <a:p>
            <a:pPr marL="0" indent="0">
              <a:buNone/>
            </a:pPr>
            <a:r>
              <a:rPr lang="pt-BR" sz="2000" b="1" dirty="0"/>
              <a:t>    BACKGROUND </a:t>
            </a:r>
            <a:r>
              <a:rPr lang="pt-BR" sz="2000" dirty="0"/>
              <a:t>– Define uma imagem de fundo. </a:t>
            </a:r>
          </a:p>
          <a:p>
            <a:pPr marL="0" indent="0">
              <a:buNone/>
            </a:pPr>
            <a:r>
              <a:rPr lang="pt-BR" sz="2000" b="1" dirty="0"/>
              <a:t>    NOWRAP </a:t>
            </a:r>
            <a:r>
              <a:rPr lang="pt-BR" sz="2000" dirty="0"/>
              <a:t>– Expande a célula para não haver quebra de texto. </a:t>
            </a:r>
            <a:endParaRPr lang="pt-BR" b="1"/>
          </a:p>
        </p:txBody>
      </p:sp>
    </p:spTree>
    <p:extLst>
      <p:ext uri="{BB962C8B-B14F-4D97-AF65-F5344CB8AC3E}">
        <p14:creationId xmlns:p14="http://schemas.microsoft.com/office/powerpoint/2010/main" val="2269053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>
                <a:latin typeface="Arial Black" panose="020B0A04020102020204" pitchFamily="34" charset="0"/>
              </a:rPr>
              <a:t>PW I – Programação WEB I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4546" y="1455313"/>
            <a:ext cx="9903854" cy="499700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sz="2400" b="1"/>
              <a:t>                                                 </a:t>
            </a:r>
            <a:r>
              <a:rPr lang="pt-BR" sz="2400"/>
              <a:t>Tabelas </a:t>
            </a:r>
          </a:p>
          <a:p>
            <a:pPr marL="0" indent="0">
              <a:buNone/>
            </a:pPr>
            <a:r>
              <a:rPr lang="pt-BR" sz="2000" b="1"/>
              <a:t> 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TH </a:t>
            </a:r>
            <a:endParaRPr lang="pt-BR" sz="2000"/>
          </a:p>
          <a:p>
            <a:pPr marL="0" indent="0">
              <a:buNone/>
            </a:pPr>
            <a:r>
              <a:rPr lang="pt-BR" sz="2000"/>
              <a:t>A </a:t>
            </a:r>
            <a:r>
              <a:rPr lang="pt-BR" sz="2000" err="1"/>
              <a:t>tag</a:t>
            </a:r>
            <a:r>
              <a:rPr lang="pt-BR" sz="2000"/>
              <a:t> TH define uma célula de cabeçalho da tabela. Cada célula em uma linha define uma coluna. O texto do cabeçalho fica em negrito. </a:t>
            </a:r>
          </a:p>
          <a:p>
            <a:pPr marL="0" indent="0">
              <a:buNone/>
            </a:pPr>
            <a:r>
              <a:rPr lang="pt-BR" sz="2000"/>
              <a:t>Esta </a:t>
            </a:r>
            <a:r>
              <a:rPr lang="pt-BR" sz="2000" err="1"/>
              <a:t>tag</a:t>
            </a:r>
            <a:r>
              <a:rPr lang="pt-BR" sz="2000"/>
              <a:t> aceita os seguintes parâmetros: </a:t>
            </a:r>
          </a:p>
          <a:p>
            <a:pPr marL="0" indent="0">
              <a:buNone/>
            </a:pPr>
            <a:r>
              <a:rPr lang="pt-BR" sz="2000" b="1"/>
              <a:t> WIDTH </a:t>
            </a:r>
            <a:r>
              <a:rPr lang="pt-BR" sz="2000"/>
              <a:t>– Largura da célula, em pixels. </a:t>
            </a:r>
          </a:p>
          <a:p>
            <a:pPr marL="0" indent="0">
              <a:buNone/>
            </a:pPr>
            <a:r>
              <a:rPr lang="pt-BR" sz="2000" b="1"/>
              <a:t> HEIGHT </a:t>
            </a:r>
            <a:r>
              <a:rPr lang="pt-BR" sz="2000"/>
              <a:t>– Altura da célula, em pixels. </a:t>
            </a:r>
          </a:p>
          <a:p>
            <a:pPr marL="0" indent="0">
              <a:buNone/>
            </a:pPr>
            <a:r>
              <a:rPr lang="pt-BR" sz="2000" b="1"/>
              <a:t> ALIGN </a:t>
            </a:r>
            <a:r>
              <a:rPr lang="pt-BR" sz="2000"/>
              <a:t>– Define o alinhamento horizontal na linha (CENTER, LEFT, RIGHT, JUSTIFY).  </a:t>
            </a:r>
          </a:p>
          <a:p>
            <a:pPr marL="0" indent="0">
              <a:buNone/>
            </a:pPr>
            <a:r>
              <a:rPr lang="pt-BR" sz="2000" b="1"/>
              <a:t> VALIGN </a:t>
            </a:r>
            <a:r>
              <a:rPr lang="pt-BR" sz="2000"/>
              <a:t>– Define o alinhamento vertical na linha (MIDDLE, TOP, BOTTOM). </a:t>
            </a:r>
          </a:p>
          <a:p>
            <a:pPr marL="0" indent="0">
              <a:buNone/>
            </a:pPr>
            <a:r>
              <a:rPr lang="pt-BR" sz="2000" b="1"/>
              <a:t>  BGCOLOR </a:t>
            </a:r>
            <a:r>
              <a:rPr lang="pt-BR" sz="2000"/>
              <a:t>– Define a cor de fundo da linha. </a:t>
            </a:r>
          </a:p>
          <a:p>
            <a:pPr marL="0" indent="0">
              <a:buNone/>
            </a:pPr>
            <a:r>
              <a:rPr lang="pt-BR" sz="2000" b="1"/>
              <a:t>  BACKGROUND </a:t>
            </a:r>
            <a:r>
              <a:rPr lang="pt-BR" sz="2000"/>
              <a:t>– Define uma imagem de fundo. </a:t>
            </a:r>
          </a:p>
          <a:p>
            <a:pPr marL="0" indent="0">
              <a:buNone/>
            </a:pPr>
            <a:r>
              <a:rPr lang="pt-BR" sz="2000" b="1"/>
              <a:t>  NOWRAP </a:t>
            </a:r>
            <a:r>
              <a:rPr lang="pt-BR" sz="2000"/>
              <a:t>– Expande a célula para não haver quebra de texto. </a:t>
            </a:r>
            <a:endParaRPr lang="pt-BR" b="1"/>
          </a:p>
        </p:txBody>
      </p:sp>
    </p:spTree>
    <p:extLst>
      <p:ext uri="{BB962C8B-B14F-4D97-AF65-F5344CB8AC3E}">
        <p14:creationId xmlns:p14="http://schemas.microsoft.com/office/powerpoint/2010/main" val="3505839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9244" y="0"/>
            <a:ext cx="9659155" cy="645231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sz="2000"/>
              <a:t>Exemplo 1 Tabelas:</a:t>
            </a:r>
          </a:p>
          <a:p>
            <a:pPr marL="0" indent="0">
              <a:buNone/>
            </a:pPr>
            <a:r>
              <a:rPr lang="pt-BR" sz="2000"/>
              <a:t>&lt;!DOCTYPE </a:t>
            </a:r>
            <a:r>
              <a:rPr lang="pt-BR" sz="2000" err="1"/>
              <a:t>html</a:t>
            </a:r>
            <a:r>
              <a:rPr lang="pt-BR" sz="2000"/>
              <a:t>!&gt;</a:t>
            </a:r>
          </a:p>
          <a:p>
            <a:pPr marL="0" indent="0">
              <a:buNone/>
            </a:pPr>
            <a:r>
              <a:rPr lang="pt-BR" sz="2000"/>
              <a:t>&lt;</a:t>
            </a:r>
            <a:r>
              <a:rPr lang="pt-BR" sz="2000" err="1"/>
              <a:t>html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&lt;</a:t>
            </a:r>
            <a:r>
              <a:rPr lang="pt-BR" sz="2000" err="1"/>
              <a:t>html</a:t>
            </a:r>
            <a:r>
              <a:rPr lang="pt-BR" sz="2000"/>
              <a:t> </a:t>
            </a:r>
            <a:r>
              <a:rPr lang="pt-BR" sz="2000" err="1"/>
              <a:t>lang</a:t>
            </a:r>
            <a:r>
              <a:rPr lang="pt-BR" sz="2000"/>
              <a:t>="</a:t>
            </a:r>
            <a:r>
              <a:rPr lang="pt-BR" sz="2000" err="1"/>
              <a:t>pt-br</a:t>
            </a:r>
            <a:r>
              <a:rPr lang="pt-BR" sz="2000"/>
              <a:t>"&gt;&lt;HEAD&gt;</a:t>
            </a:r>
          </a:p>
          <a:p>
            <a:pPr marL="0" indent="0">
              <a:buNone/>
            </a:pPr>
            <a:r>
              <a:rPr lang="pt-BR" sz="2000"/>
              <a:t>&lt;meta </a:t>
            </a:r>
            <a:r>
              <a:rPr lang="pt-BR" sz="2000" err="1"/>
              <a:t>http-equiv</a:t>
            </a:r>
            <a:r>
              <a:rPr lang="pt-BR" sz="2000"/>
              <a:t>="</a:t>
            </a:r>
            <a:r>
              <a:rPr lang="pt-BR" sz="2000" err="1"/>
              <a:t>Content-Type</a:t>
            </a:r>
            <a:r>
              <a:rPr lang="pt-BR" sz="2000"/>
              <a:t>" </a:t>
            </a:r>
            <a:r>
              <a:rPr lang="pt-BR" sz="2000" err="1"/>
              <a:t>content</a:t>
            </a:r>
            <a:r>
              <a:rPr lang="pt-BR" sz="2000"/>
              <a:t>="</a:t>
            </a:r>
            <a:r>
              <a:rPr lang="pt-BR" sz="2000" err="1"/>
              <a:t>text</a:t>
            </a:r>
            <a:r>
              <a:rPr lang="pt-BR" sz="2000"/>
              <a:t>/</a:t>
            </a:r>
            <a:r>
              <a:rPr lang="pt-BR" sz="2000" err="1"/>
              <a:t>html;charset</a:t>
            </a:r>
            <a:r>
              <a:rPr lang="pt-BR" sz="2000"/>
              <a:t>=iso-8859-1" /&gt;</a:t>
            </a:r>
          </a:p>
          <a:p>
            <a:pPr marL="0" indent="0">
              <a:buNone/>
            </a:pPr>
            <a:r>
              <a:rPr lang="pt-BR" sz="2000"/>
              <a:t>&lt;TITLE&gt;Criando Tabelas&lt;/TITLE&gt;&lt;/HEAD&gt;</a:t>
            </a:r>
          </a:p>
          <a:p>
            <a:pPr marL="0" indent="0">
              <a:buNone/>
            </a:pPr>
            <a:r>
              <a:rPr lang="pt-BR" sz="2000"/>
              <a:t>&lt;BODY&gt;&lt;CENTER&gt;&lt;FONT COLOR=BLUE SIZE=6&gt;TABELA&lt;/FONT&gt;&lt;/CENTER&gt;</a:t>
            </a:r>
          </a:p>
          <a:p>
            <a:pPr marL="0" indent="0">
              <a:buNone/>
            </a:pPr>
            <a:r>
              <a:rPr lang="pt-BR" sz="2000"/>
              <a:t>&lt;BR&gt;</a:t>
            </a:r>
          </a:p>
          <a:p>
            <a:pPr marL="0" indent="0">
              <a:buNone/>
            </a:pPr>
            <a:r>
              <a:rPr lang="pt-BR" sz="2000"/>
              <a:t>&lt;TABLE BORDER=1&gt; &lt;! Inicia a tabela e coloca uma borda de espessura igual a 1&gt;</a:t>
            </a:r>
          </a:p>
          <a:p>
            <a:pPr marL="0" indent="0">
              <a:buNone/>
            </a:pPr>
            <a:r>
              <a:rPr lang="pt-BR" sz="2000"/>
              <a:t>&lt;TR&gt; &lt;! Cria a primeira linha da tabela&gt;</a:t>
            </a:r>
          </a:p>
          <a:p>
            <a:pPr marL="0" indent="0">
              <a:buNone/>
            </a:pPr>
            <a:r>
              <a:rPr lang="pt-BR" sz="2000"/>
              <a:t>&lt;TD&gt;PRIMEIRA COLUNA &lt;/TD&gt; &lt;! Aqui foi criada uma célula&gt;</a:t>
            </a:r>
          </a:p>
          <a:p>
            <a:pPr marL="0" indent="0">
              <a:buNone/>
            </a:pPr>
            <a:r>
              <a:rPr lang="pt-BR" sz="2000"/>
              <a:t>&lt;TD&gt;SEGUNDA COLUNA &lt;/TD&gt;</a:t>
            </a:r>
          </a:p>
          <a:p>
            <a:pPr marL="0" indent="0">
              <a:buNone/>
            </a:pPr>
            <a:r>
              <a:rPr lang="pt-BR" sz="2000"/>
              <a:t>&lt;TD&gt;TERCEIRA COLUNA &lt;/TD&gt;</a:t>
            </a:r>
          </a:p>
          <a:p>
            <a:pPr marL="0" indent="0">
              <a:buNone/>
            </a:pPr>
            <a:r>
              <a:rPr lang="pt-BR" sz="2000"/>
              <a:t>&lt;/TR&gt; &lt;! Fecha a primeira linha da tabela&gt;</a:t>
            </a:r>
          </a:p>
          <a:p>
            <a:pPr marL="0" indent="0">
              <a:buNone/>
            </a:pPr>
            <a:r>
              <a:rPr lang="pt-BR" sz="2000"/>
              <a:t>&lt;TR&gt; &lt;! Abre a segunda linha da tabela&gt;</a:t>
            </a:r>
          </a:p>
          <a:p>
            <a:pPr marL="0" indent="0">
              <a:buNone/>
            </a:pPr>
            <a:r>
              <a:rPr lang="pt-BR" sz="2000"/>
              <a:t>&lt;TD&gt; PRIMEIRA COLUNA&lt;/TD&gt;</a:t>
            </a:r>
          </a:p>
          <a:p>
            <a:pPr marL="0" indent="0">
              <a:buNone/>
            </a:pPr>
            <a:r>
              <a:rPr lang="pt-BR" sz="2000"/>
              <a:t>&lt;TD&gt;SEGUNDA COLUNA &lt;/TD&gt;</a:t>
            </a:r>
          </a:p>
          <a:p>
            <a:pPr marL="0" indent="0">
              <a:buNone/>
            </a:pPr>
            <a:r>
              <a:rPr lang="pt-BR" sz="2000"/>
              <a:t>&lt;TD&gt;TERCEIRA COLUNA &lt;/TD&gt;</a:t>
            </a:r>
          </a:p>
          <a:p>
            <a:pPr marL="0" indent="0">
              <a:buNone/>
            </a:pPr>
            <a:r>
              <a:rPr lang="pt-BR" sz="2000"/>
              <a:t>&lt;TR&gt; &lt;! Encerra a Segunda linha da tabela&gt;</a:t>
            </a:r>
          </a:p>
          <a:p>
            <a:pPr marL="0" indent="0">
              <a:buNone/>
            </a:pPr>
            <a:r>
              <a:rPr lang="pt-BR" sz="2000"/>
              <a:t>&lt;/TABLE&gt; &lt;! Encerra a tabela&gt;</a:t>
            </a:r>
          </a:p>
          <a:p>
            <a:pPr marL="0" indent="0">
              <a:buNone/>
            </a:pPr>
            <a:r>
              <a:rPr lang="pt-BR" sz="2000"/>
              <a:t>&lt;/BODY&gt;</a:t>
            </a:r>
          </a:p>
          <a:p>
            <a:pPr marL="0" indent="0">
              <a:buNone/>
            </a:pPr>
            <a:r>
              <a:rPr lang="pt-BR" sz="2000"/>
              <a:t>&lt;/HTML&gt;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2761" y="3224752"/>
            <a:ext cx="5228823" cy="191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24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0608" y="0"/>
            <a:ext cx="8886423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i="1"/>
              <a:t> Exemplo 2: Alterando a largura da </a:t>
            </a:r>
            <a:r>
              <a:rPr lang="pt-BR" sz="2000" b="1" i="1" err="1"/>
              <a:t>célula</a:t>
            </a:r>
            <a:r>
              <a:rPr lang="pt-BR" sz="2000" err="1"/>
              <a:t>Para</a:t>
            </a:r>
            <a:r>
              <a:rPr lang="pt-BR" sz="2000"/>
              <a:t> alterar o largura de uma célula da tabela basta acrescentar o parâmetro WIDTH dentro da </a:t>
            </a:r>
            <a:r>
              <a:rPr lang="pt-BR" sz="2000" err="1"/>
              <a:t>tag</a:t>
            </a:r>
            <a:r>
              <a:rPr lang="pt-BR" sz="2000"/>
              <a:t> </a:t>
            </a:r>
          </a:p>
          <a:p>
            <a:pPr marL="0" indent="0">
              <a:buNone/>
            </a:pPr>
            <a:r>
              <a:rPr lang="pt-BR" sz="2000" b="1"/>
              <a:t>&lt;TABLE BORDER=2&gt;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&lt;TR&gt;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&lt;TD WIDTH=25%&gt; </a:t>
            </a:r>
            <a:r>
              <a:rPr lang="pt-BR" sz="2000"/>
              <a:t>WIDTH=25%</a:t>
            </a:r>
            <a:r>
              <a:rPr lang="pt-BR" sz="2000" b="1"/>
              <a:t>&lt;/TD&gt;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&lt;TD ALIGN=MIDDLE WIDTH=75%&gt;</a:t>
            </a:r>
            <a:r>
              <a:rPr lang="pt-BR" sz="2000"/>
              <a:t>WIDTH=75%</a:t>
            </a:r>
            <a:r>
              <a:rPr lang="pt-BR" sz="2000" b="1"/>
              <a:t>&lt;/TD&gt;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&lt;/TR&gt;</a:t>
            </a:r>
            <a:endParaRPr lang="pt-BR" sz="2000"/>
          </a:p>
          <a:p>
            <a:pPr marL="0" indent="0">
              <a:buNone/>
            </a:pPr>
            <a:br>
              <a:rPr lang="pt-BR" sz="2000"/>
            </a:br>
            <a:endParaRPr lang="pt-BR" sz="200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074" y="2920284"/>
            <a:ext cx="7134895" cy="393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070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0608" y="0"/>
            <a:ext cx="8886423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i="1"/>
              <a:t> Exemplo3 : Inserindo cor de fundo e separação de células</a:t>
            </a:r>
          </a:p>
          <a:p>
            <a:pPr marL="0" indent="0">
              <a:buNone/>
            </a:pPr>
            <a:r>
              <a:rPr lang="pt-BR" sz="2000" b="1"/>
              <a:t>&lt;TABLE BORDER=0&gt;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&lt;TR&gt;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&lt;TD WIDTH=150 BGCOLOR=RED&gt;</a:t>
            </a:r>
            <a:r>
              <a:rPr lang="pt-BR" sz="2000"/>
              <a:t>VERMELHO</a:t>
            </a:r>
            <a:r>
              <a:rPr lang="pt-BR" sz="2000" b="1"/>
              <a:t> &lt;/TD&gt;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&lt;TD WIDTH=150 BGCOLOR=BLUE&gt;</a:t>
            </a:r>
            <a:r>
              <a:rPr lang="pt-BR" sz="2000"/>
              <a:t>AZUL</a:t>
            </a:r>
            <a:r>
              <a:rPr lang="pt-BR" sz="2000" b="1"/>
              <a:t> &lt;/TD&gt;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&lt;TD WIDTH=150 BGCOLOR=RED&gt;</a:t>
            </a:r>
            <a:r>
              <a:rPr lang="pt-BR" sz="2000"/>
              <a:t>VEMELHO</a:t>
            </a:r>
            <a:r>
              <a:rPr lang="pt-BR" sz="2000" b="1"/>
              <a:t>&lt;/TD&gt;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&lt;/TR&gt;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&lt;TR&gt;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&lt;TD WIDTH=150 BGCOLOR=BLUE&gt;</a:t>
            </a:r>
            <a:r>
              <a:rPr lang="pt-BR" sz="2000"/>
              <a:t>AZUL</a:t>
            </a:r>
            <a:r>
              <a:rPr lang="pt-BR" sz="2000" b="1"/>
              <a:t>&lt;/TD&gt;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&lt;TD WIDTH=150 BGCOLOR=RED&gt;</a:t>
            </a:r>
            <a:r>
              <a:rPr lang="pt-BR" sz="2000"/>
              <a:t>VEMELHO</a:t>
            </a:r>
            <a:r>
              <a:rPr lang="pt-BR" sz="2000" b="1"/>
              <a:t>&lt;/TD&gt;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&lt;TD WIDTH=150 BGCOLOR=BLUE&gt; </a:t>
            </a:r>
            <a:r>
              <a:rPr lang="pt-BR" sz="2000"/>
              <a:t>AZUL</a:t>
            </a:r>
            <a:r>
              <a:rPr lang="pt-BR" sz="2000" b="1"/>
              <a:t>&lt;/TD&gt;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&lt;/TR&gt;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&lt;/TABLE&gt;</a:t>
            </a:r>
            <a:endParaRPr lang="pt-BR" sz="2000"/>
          </a:p>
          <a:p>
            <a:pPr marL="0" indent="0">
              <a:buNone/>
            </a:pPr>
            <a:br>
              <a:rPr lang="pt-BR" sz="2000"/>
            </a:br>
            <a:endParaRPr lang="pt-BR" sz="200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921" y="1439214"/>
            <a:ext cx="5804079" cy="541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659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0608" y="0"/>
            <a:ext cx="8886423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i="1"/>
              <a:t> Exemplo3 : Inserindo cor de fundo sem separação de células</a:t>
            </a:r>
          </a:p>
          <a:p>
            <a:pPr marL="0" indent="0">
              <a:buNone/>
            </a:pPr>
            <a:r>
              <a:rPr lang="pt-BR" sz="2000" b="1"/>
              <a:t>&lt;TABLE BORDER=0 CELLSPACING=0&gt;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&lt;TR&gt;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&lt;TD WIDTH=150 BGCOLOR=RED&gt;</a:t>
            </a:r>
            <a:r>
              <a:rPr lang="pt-BR" sz="2000"/>
              <a:t>VERMELHO</a:t>
            </a:r>
            <a:r>
              <a:rPr lang="pt-BR" sz="2000" b="1"/>
              <a:t> &lt;/TD&gt;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&lt;TD WIDTH=150 BGCOLOR=BLUE&gt;</a:t>
            </a:r>
            <a:r>
              <a:rPr lang="pt-BR" sz="2000"/>
              <a:t>AZUL</a:t>
            </a:r>
            <a:r>
              <a:rPr lang="pt-BR" sz="2000" b="1"/>
              <a:t> &lt;/TD&gt;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&lt;TD WIDTH=150 BGCOLOR=RED&gt;</a:t>
            </a:r>
            <a:r>
              <a:rPr lang="pt-BR" sz="2000"/>
              <a:t>VEMELHO</a:t>
            </a:r>
            <a:r>
              <a:rPr lang="pt-BR" sz="2000" b="1"/>
              <a:t>&lt;/TD&gt;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&lt;/TR&gt;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&lt;TR&gt;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&lt;TD WIDTH=150 BGCOLOR=BLUE&gt;</a:t>
            </a:r>
            <a:r>
              <a:rPr lang="pt-BR" sz="2000"/>
              <a:t>AZUL</a:t>
            </a:r>
            <a:r>
              <a:rPr lang="pt-BR" sz="2000" b="1"/>
              <a:t>&lt;/TD&gt;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&lt;TD WIDTH=150 BGCOLOR=RED&gt;</a:t>
            </a:r>
            <a:r>
              <a:rPr lang="pt-BR" sz="2000"/>
              <a:t>VEMELHO</a:t>
            </a:r>
            <a:r>
              <a:rPr lang="pt-BR" sz="2000" b="1"/>
              <a:t>&lt;/TD&gt;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&lt;TD WIDTH=150 BGCOLOR=BLUE&gt; </a:t>
            </a:r>
            <a:r>
              <a:rPr lang="pt-BR" sz="2000"/>
              <a:t>AZUL</a:t>
            </a:r>
            <a:r>
              <a:rPr lang="pt-BR" sz="2000" b="1"/>
              <a:t>&lt;/TD&gt;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&lt;/TR&gt;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&lt;/TABLE&gt;</a:t>
            </a:r>
            <a:endParaRPr lang="pt-BR" sz="2000"/>
          </a:p>
          <a:p>
            <a:pPr marL="0" indent="0">
              <a:buNone/>
            </a:pPr>
            <a:br>
              <a:rPr lang="pt-BR" sz="2000"/>
            </a:br>
            <a:endParaRPr lang="pt-BR" sz="200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920" y="1143000"/>
            <a:ext cx="580407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888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0608" y="0"/>
            <a:ext cx="8886423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sz="2000"/>
              <a:t>Espaçamento de Célula – </a:t>
            </a:r>
            <a:r>
              <a:rPr lang="pt-BR" sz="2000" err="1"/>
              <a:t>CellPadding</a:t>
            </a:r>
            <a:endParaRPr lang="pt-BR" sz="2000"/>
          </a:p>
          <a:p>
            <a:pPr marL="0" indent="0">
              <a:buNone/>
            </a:pPr>
            <a:r>
              <a:rPr lang="pt-BR" sz="2000"/>
              <a:t>&lt;</a:t>
            </a:r>
            <a:r>
              <a:rPr lang="pt-BR" sz="2000" err="1"/>
              <a:t>html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&lt;</a:t>
            </a:r>
            <a:r>
              <a:rPr lang="pt-BR" sz="2000" err="1"/>
              <a:t>head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&lt;</a:t>
            </a:r>
            <a:r>
              <a:rPr lang="pt-BR" sz="2000" err="1"/>
              <a:t>title</a:t>
            </a:r>
            <a:r>
              <a:rPr lang="pt-BR" sz="2000"/>
              <a:t>&gt;Espaçamento de Célula&lt;/</a:t>
            </a:r>
            <a:r>
              <a:rPr lang="pt-BR" sz="2000" err="1"/>
              <a:t>Title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&lt;/</a:t>
            </a:r>
            <a:r>
              <a:rPr lang="pt-BR" sz="2000" err="1"/>
              <a:t>head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&lt;h4&gt;Com espaçamento de célula</a:t>
            </a:r>
          </a:p>
          <a:p>
            <a:pPr marL="0" indent="0">
              <a:buNone/>
            </a:pPr>
            <a:r>
              <a:rPr lang="pt-BR" sz="2000"/>
              <a:t>(</a:t>
            </a:r>
            <a:r>
              <a:rPr lang="pt-BR" sz="2000" err="1"/>
              <a:t>cellspacing</a:t>
            </a:r>
            <a:r>
              <a:rPr lang="pt-BR" sz="2000"/>
              <a:t>):&lt;/h4&gt;</a:t>
            </a:r>
          </a:p>
          <a:p>
            <a:pPr marL="0" indent="0">
              <a:buNone/>
            </a:pPr>
            <a:r>
              <a:rPr lang="pt-BR" sz="2000"/>
              <a:t>&lt;</a:t>
            </a:r>
            <a:r>
              <a:rPr lang="pt-BR" sz="2000" err="1"/>
              <a:t>table</a:t>
            </a:r>
            <a:r>
              <a:rPr lang="pt-BR" sz="2000"/>
              <a:t> </a:t>
            </a:r>
            <a:r>
              <a:rPr lang="pt-BR" sz="2000" err="1"/>
              <a:t>border</a:t>
            </a:r>
            <a:r>
              <a:rPr lang="pt-BR" sz="2000"/>
              <a:t>="1" &gt;</a:t>
            </a:r>
          </a:p>
          <a:p>
            <a:pPr marL="0" indent="0">
              <a:buNone/>
            </a:pPr>
            <a:r>
              <a:rPr lang="pt-BR" sz="2000"/>
              <a:t>&lt;</a:t>
            </a:r>
            <a:r>
              <a:rPr lang="pt-BR" sz="2000" err="1"/>
              <a:t>cellspacing</a:t>
            </a:r>
            <a:r>
              <a:rPr lang="pt-BR" sz="2000"/>
              <a:t>="10"&gt;</a:t>
            </a:r>
          </a:p>
          <a:p>
            <a:pPr marL="0" indent="0">
              <a:buNone/>
            </a:pPr>
            <a:r>
              <a:rPr lang="pt-BR" sz="2000"/>
              <a:t>&lt;</a:t>
            </a:r>
            <a:r>
              <a:rPr lang="pt-BR" sz="2000" err="1"/>
              <a:t>tr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  &lt;</a:t>
            </a:r>
            <a:r>
              <a:rPr lang="pt-BR" sz="2000" err="1"/>
              <a:t>td</a:t>
            </a:r>
            <a:r>
              <a:rPr lang="pt-BR" sz="2000"/>
              <a:t>&gt;Primeira&lt;/</a:t>
            </a:r>
            <a:r>
              <a:rPr lang="pt-BR" sz="2000" err="1"/>
              <a:t>td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  &lt;</a:t>
            </a:r>
            <a:r>
              <a:rPr lang="pt-BR" sz="2000" err="1"/>
              <a:t>td</a:t>
            </a:r>
            <a:r>
              <a:rPr lang="pt-BR" sz="2000"/>
              <a:t>&gt;Linha&lt;/</a:t>
            </a:r>
            <a:r>
              <a:rPr lang="pt-BR" sz="2000" err="1"/>
              <a:t>td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&lt;/</a:t>
            </a:r>
            <a:r>
              <a:rPr lang="pt-BR" sz="2000" err="1"/>
              <a:t>tr</a:t>
            </a:r>
            <a:r>
              <a:rPr lang="pt-BR" sz="2000"/>
              <a:t>&gt;   </a:t>
            </a:r>
          </a:p>
          <a:p>
            <a:pPr marL="0" indent="0">
              <a:buNone/>
            </a:pPr>
            <a:r>
              <a:rPr lang="pt-BR" sz="2000"/>
              <a:t>&lt;</a:t>
            </a:r>
            <a:r>
              <a:rPr lang="pt-BR" sz="2000" err="1"/>
              <a:t>tr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  &lt;</a:t>
            </a:r>
            <a:r>
              <a:rPr lang="pt-BR" sz="2000" err="1"/>
              <a:t>td</a:t>
            </a:r>
            <a:r>
              <a:rPr lang="pt-BR" sz="2000"/>
              <a:t>&gt;Segunda&lt;/</a:t>
            </a:r>
            <a:r>
              <a:rPr lang="pt-BR" sz="2000" err="1"/>
              <a:t>td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  &lt;</a:t>
            </a:r>
            <a:r>
              <a:rPr lang="pt-BR" sz="2000" err="1"/>
              <a:t>td</a:t>
            </a:r>
            <a:r>
              <a:rPr lang="pt-BR" sz="2000"/>
              <a:t>&gt;Linha&lt;/</a:t>
            </a:r>
            <a:r>
              <a:rPr lang="pt-BR" sz="2000" err="1"/>
              <a:t>td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&lt;/</a:t>
            </a:r>
            <a:r>
              <a:rPr lang="pt-BR" sz="2000" err="1"/>
              <a:t>tr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&lt;/</a:t>
            </a:r>
            <a:r>
              <a:rPr lang="pt-BR" sz="2000" err="1"/>
              <a:t>table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&lt;/</a:t>
            </a:r>
            <a:r>
              <a:rPr lang="pt-BR" sz="2000" err="1"/>
              <a:t>body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&lt;/</a:t>
            </a:r>
            <a:r>
              <a:rPr lang="pt-BR" sz="2000" err="1"/>
              <a:t>html</a:t>
            </a:r>
            <a:r>
              <a:rPr lang="pt-BR" sz="2000"/>
              <a:t>&gt;</a:t>
            </a:r>
            <a:br>
              <a:rPr lang="pt-BR" sz="2000"/>
            </a:br>
            <a:endParaRPr lang="pt-BR" sz="200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819" y="2190817"/>
            <a:ext cx="4284976" cy="247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272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0608" y="0"/>
            <a:ext cx="8886423" cy="6858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 sz="2000"/>
              <a:t>Sem Espaçamento de Célula – </a:t>
            </a:r>
            <a:r>
              <a:rPr lang="pt-BR" sz="2000" err="1"/>
              <a:t>CellPadding</a:t>
            </a:r>
            <a:endParaRPr lang="pt-BR" sz="2000"/>
          </a:p>
          <a:p>
            <a:pPr marL="0" indent="0">
              <a:buNone/>
            </a:pPr>
            <a:r>
              <a:rPr lang="pt-BR" sz="2000"/>
              <a:t>&lt;!DOCTYPE </a:t>
            </a:r>
            <a:r>
              <a:rPr lang="pt-BR" sz="2000" err="1"/>
              <a:t>html</a:t>
            </a:r>
            <a:r>
              <a:rPr lang="pt-BR" sz="2000"/>
              <a:t>!&gt;</a:t>
            </a:r>
          </a:p>
          <a:p>
            <a:pPr marL="0" indent="0">
              <a:buNone/>
            </a:pPr>
            <a:r>
              <a:rPr lang="pt-BR" sz="2000"/>
              <a:t>&lt;</a:t>
            </a:r>
            <a:r>
              <a:rPr lang="pt-BR" sz="2000" err="1"/>
              <a:t>html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&lt;</a:t>
            </a:r>
            <a:r>
              <a:rPr lang="pt-BR" sz="2000" err="1"/>
              <a:t>html</a:t>
            </a:r>
            <a:r>
              <a:rPr lang="pt-BR" sz="2000"/>
              <a:t> </a:t>
            </a:r>
            <a:r>
              <a:rPr lang="pt-BR" sz="2000" err="1"/>
              <a:t>lang</a:t>
            </a:r>
            <a:r>
              <a:rPr lang="pt-BR" sz="2000"/>
              <a:t>="</a:t>
            </a:r>
            <a:r>
              <a:rPr lang="pt-BR" sz="2000" err="1"/>
              <a:t>pt-br</a:t>
            </a:r>
            <a:r>
              <a:rPr lang="pt-BR" sz="2000"/>
              <a:t>"&gt;</a:t>
            </a:r>
          </a:p>
          <a:p>
            <a:pPr marL="0" indent="0">
              <a:buNone/>
            </a:pPr>
            <a:r>
              <a:rPr lang="pt-BR" sz="2000"/>
              <a:t>&lt;HEAD&gt;</a:t>
            </a:r>
          </a:p>
          <a:p>
            <a:pPr marL="0" indent="0">
              <a:buNone/>
            </a:pPr>
            <a:r>
              <a:rPr lang="pt-BR" sz="2000"/>
              <a:t>&lt;meta </a:t>
            </a:r>
            <a:r>
              <a:rPr lang="pt-BR" sz="2000" err="1"/>
              <a:t>http-equiv</a:t>
            </a:r>
            <a:r>
              <a:rPr lang="pt-BR" sz="2000"/>
              <a:t>="</a:t>
            </a:r>
            <a:r>
              <a:rPr lang="pt-BR" sz="2000" err="1"/>
              <a:t>Content-Type</a:t>
            </a:r>
            <a:r>
              <a:rPr lang="pt-BR" sz="2000"/>
              <a:t>" </a:t>
            </a:r>
            <a:r>
              <a:rPr lang="pt-BR" sz="2000" err="1"/>
              <a:t>content</a:t>
            </a:r>
            <a:r>
              <a:rPr lang="pt-BR" sz="2000"/>
              <a:t>="</a:t>
            </a:r>
            <a:r>
              <a:rPr lang="pt-BR" sz="2000" err="1"/>
              <a:t>text</a:t>
            </a:r>
            <a:r>
              <a:rPr lang="pt-BR" sz="2000"/>
              <a:t>/</a:t>
            </a:r>
            <a:r>
              <a:rPr lang="pt-BR" sz="2000" err="1"/>
              <a:t>html;charset</a:t>
            </a:r>
            <a:r>
              <a:rPr lang="pt-BR" sz="2000"/>
              <a:t>=iso-8859-1" /&gt;</a:t>
            </a:r>
          </a:p>
          <a:p>
            <a:pPr marL="0" indent="0">
              <a:buNone/>
            </a:pPr>
            <a:r>
              <a:rPr lang="pt-BR" sz="2000"/>
              <a:t>&lt;</a:t>
            </a:r>
            <a:r>
              <a:rPr lang="pt-BR" sz="2000" err="1"/>
              <a:t>Title</a:t>
            </a:r>
            <a:r>
              <a:rPr lang="pt-BR" sz="2000"/>
              <a:t>&gt;</a:t>
            </a:r>
            <a:r>
              <a:rPr lang="pt-BR" sz="2000" err="1"/>
              <a:t>Cellspacing</a:t>
            </a:r>
            <a:r>
              <a:rPr lang="pt-BR" sz="2000"/>
              <a:t>&lt;/</a:t>
            </a:r>
            <a:r>
              <a:rPr lang="pt-BR" sz="2000" err="1"/>
              <a:t>Title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&lt;</a:t>
            </a:r>
            <a:r>
              <a:rPr lang="pt-BR" sz="2000" err="1"/>
              <a:t>body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&lt;h4&gt;Sem espaçamento de célula</a:t>
            </a:r>
          </a:p>
          <a:p>
            <a:pPr marL="0" indent="0">
              <a:buNone/>
            </a:pPr>
            <a:r>
              <a:rPr lang="pt-BR" sz="2000"/>
              <a:t>(</a:t>
            </a:r>
            <a:r>
              <a:rPr lang="pt-BR" sz="2000" err="1"/>
              <a:t>cellspacing</a:t>
            </a:r>
            <a:r>
              <a:rPr lang="pt-BR" sz="2000"/>
              <a:t>):&lt;/h4&gt;</a:t>
            </a:r>
          </a:p>
          <a:p>
            <a:pPr marL="0" indent="0">
              <a:buNone/>
            </a:pPr>
            <a:r>
              <a:rPr lang="pt-BR" sz="2000"/>
              <a:t>&lt;</a:t>
            </a:r>
            <a:r>
              <a:rPr lang="pt-BR" sz="2000" err="1"/>
              <a:t>table</a:t>
            </a:r>
            <a:r>
              <a:rPr lang="pt-BR" sz="2000"/>
              <a:t> </a:t>
            </a:r>
            <a:r>
              <a:rPr lang="pt-BR" sz="2000" err="1"/>
              <a:t>border</a:t>
            </a:r>
            <a:r>
              <a:rPr lang="pt-BR" sz="2000"/>
              <a:t>="1"&gt;</a:t>
            </a:r>
          </a:p>
          <a:p>
            <a:pPr marL="0" indent="0">
              <a:buNone/>
            </a:pPr>
            <a:r>
              <a:rPr lang="pt-BR" sz="2000"/>
              <a:t>&lt;</a:t>
            </a:r>
            <a:r>
              <a:rPr lang="pt-BR" sz="2000" err="1"/>
              <a:t>tr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  &lt;</a:t>
            </a:r>
            <a:r>
              <a:rPr lang="pt-BR" sz="2000" err="1"/>
              <a:t>td</a:t>
            </a:r>
            <a:r>
              <a:rPr lang="pt-BR" sz="2000"/>
              <a:t>&gt;Primeira&lt;/</a:t>
            </a:r>
            <a:r>
              <a:rPr lang="pt-BR" sz="2000" err="1"/>
              <a:t>td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  &lt;</a:t>
            </a:r>
            <a:r>
              <a:rPr lang="pt-BR" sz="2000" err="1"/>
              <a:t>td</a:t>
            </a:r>
            <a:r>
              <a:rPr lang="pt-BR" sz="2000"/>
              <a:t>&gt;Linha&lt;/</a:t>
            </a:r>
            <a:r>
              <a:rPr lang="pt-BR" sz="2000" err="1"/>
              <a:t>td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&lt;/</a:t>
            </a:r>
            <a:r>
              <a:rPr lang="pt-BR" sz="2000" err="1"/>
              <a:t>tr</a:t>
            </a:r>
            <a:r>
              <a:rPr lang="pt-BR" sz="2000"/>
              <a:t>&gt;   </a:t>
            </a:r>
          </a:p>
          <a:p>
            <a:pPr marL="0" indent="0">
              <a:buNone/>
            </a:pPr>
            <a:r>
              <a:rPr lang="pt-BR" sz="2000"/>
              <a:t>&lt;</a:t>
            </a:r>
            <a:r>
              <a:rPr lang="pt-BR" sz="2000" err="1"/>
              <a:t>tr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  &lt;</a:t>
            </a:r>
            <a:r>
              <a:rPr lang="pt-BR" sz="2000" err="1"/>
              <a:t>td</a:t>
            </a:r>
            <a:r>
              <a:rPr lang="pt-BR" sz="2000"/>
              <a:t>&gt;Segunda&lt;/</a:t>
            </a:r>
            <a:r>
              <a:rPr lang="pt-BR" sz="2000" err="1"/>
              <a:t>td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  &lt;</a:t>
            </a:r>
            <a:r>
              <a:rPr lang="pt-BR" sz="2000" err="1"/>
              <a:t>td</a:t>
            </a:r>
            <a:r>
              <a:rPr lang="pt-BR" sz="2000"/>
              <a:t>&gt;Linha&lt;/</a:t>
            </a:r>
            <a:r>
              <a:rPr lang="pt-BR" sz="2000" err="1"/>
              <a:t>td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&lt;/</a:t>
            </a:r>
            <a:r>
              <a:rPr lang="pt-BR" sz="2000" err="1"/>
              <a:t>tr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&lt;/</a:t>
            </a:r>
            <a:r>
              <a:rPr lang="pt-BR" sz="2000" err="1"/>
              <a:t>table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&lt;/</a:t>
            </a:r>
            <a:r>
              <a:rPr lang="pt-BR" sz="2000" err="1"/>
              <a:t>body</a:t>
            </a:r>
            <a:r>
              <a:rPr lang="pt-BR" sz="2000"/>
              <a:t>&gt;</a:t>
            </a:r>
          </a:p>
          <a:p>
            <a:pPr marL="0" indent="0">
              <a:buNone/>
            </a:pPr>
            <a:r>
              <a:rPr lang="pt-BR" sz="2000"/>
              <a:t>&lt;/HTML&gt;</a:t>
            </a:r>
            <a:br>
              <a:rPr lang="pt-BR" sz="2000"/>
            </a:br>
            <a:endParaRPr lang="pt-BR" sz="200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966" y="2150772"/>
            <a:ext cx="5048519" cy="264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298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0608" y="0"/>
            <a:ext cx="8886423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000" b="1" i="1"/>
              <a:t> </a:t>
            </a:r>
            <a:r>
              <a:rPr lang="pt-BR" sz="2000"/>
              <a:t>Exibir  um texto centralizado em relação à tabela, como se fosse uma legenda. Exemplo:</a:t>
            </a:r>
          </a:p>
          <a:p>
            <a:pPr marL="0" indent="0">
              <a:buNone/>
            </a:pPr>
            <a:r>
              <a:rPr lang="pt-BR" sz="2000" b="1"/>
              <a:t>&lt;TABLE BORDER=1 CELLSPACING=2 CELLPADDING=6&gt;</a:t>
            </a:r>
            <a:r>
              <a:rPr lang="pt-BR" sz="2000"/>
              <a:t> </a:t>
            </a:r>
          </a:p>
          <a:p>
            <a:pPr marL="0" indent="0">
              <a:buNone/>
            </a:pPr>
            <a:r>
              <a:rPr lang="pt-BR" sz="2000"/>
              <a:t>&lt;! Esta linha inicia a tabela com borda de espessura 1 (</a:t>
            </a:r>
            <a:r>
              <a:rPr lang="pt-BR" sz="2000" err="1"/>
              <a:t>border</a:t>
            </a:r>
            <a:r>
              <a:rPr lang="pt-BR" sz="2000"/>
              <a:t>), espaço entre as células 2 (</a:t>
            </a:r>
            <a:r>
              <a:rPr lang="pt-BR" sz="2000" err="1"/>
              <a:t>Cellspacing</a:t>
            </a:r>
            <a:r>
              <a:rPr lang="pt-BR" sz="2000"/>
              <a:t>) e espaço dentro da célula 6 (</a:t>
            </a:r>
            <a:r>
              <a:rPr lang="pt-BR" sz="2000" err="1"/>
              <a:t>Cellpadding</a:t>
            </a:r>
            <a:r>
              <a:rPr lang="pt-BR" sz="2000"/>
              <a:t>)&gt;</a:t>
            </a:r>
          </a:p>
          <a:p>
            <a:pPr marL="0" indent="0">
              <a:buNone/>
            </a:pPr>
            <a:r>
              <a:rPr lang="pt-BR" sz="2000" b="1"/>
              <a:t>&lt;CAPTION&gt;</a:t>
            </a:r>
            <a:r>
              <a:rPr lang="pt-BR" sz="2000"/>
              <a:t>LEGENDA</a:t>
            </a:r>
            <a:r>
              <a:rPr lang="pt-BR" sz="2000" b="1"/>
              <a:t>&lt;/CAPTION&gt;</a:t>
            </a:r>
          </a:p>
          <a:p>
            <a:pPr marL="0" indent="0">
              <a:buNone/>
            </a:pPr>
            <a:r>
              <a:rPr lang="pt-BR" sz="2000"/>
              <a:t> &lt;! Introduz uma legenda na tabela&gt;</a:t>
            </a:r>
          </a:p>
          <a:p>
            <a:pPr marL="0" indent="0">
              <a:buNone/>
            </a:pPr>
            <a:r>
              <a:rPr lang="pt-BR" sz="2000" b="1"/>
              <a:t>&lt;TR&gt;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&lt;TH&gt;</a:t>
            </a:r>
            <a:r>
              <a:rPr lang="pt-BR" sz="2000"/>
              <a:t>Conteúdo em negrito&lt;/TH&gt;</a:t>
            </a:r>
          </a:p>
          <a:p>
            <a:pPr marL="0" indent="0">
              <a:buNone/>
            </a:pPr>
            <a:r>
              <a:rPr lang="pt-BR" sz="2000"/>
              <a:t> &lt;! Insere o texto na forma de cabeçalho (negrito)&gt;</a:t>
            </a:r>
          </a:p>
          <a:p>
            <a:pPr marL="0" indent="0">
              <a:buNone/>
            </a:pPr>
            <a:r>
              <a:rPr lang="pt-BR" sz="2000" b="1"/>
              <a:t>&lt;/TR&gt;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&lt;TR&gt;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&lt;TH&gt;</a:t>
            </a:r>
            <a:r>
              <a:rPr lang="pt-BR" sz="2000"/>
              <a:t>Conteúdo em negrito</a:t>
            </a:r>
            <a:r>
              <a:rPr lang="pt-BR" sz="2000" b="1"/>
              <a:t>&lt;/TH&gt;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&lt;/TR&gt;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&lt;/TABLE&gt;</a:t>
            </a:r>
            <a:endParaRPr lang="pt-BR" sz="2000"/>
          </a:p>
          <a:p>
            <a:pPr marL="0" indent="0">
              <a:buNone/>
            </a:pPr>
            <a:br>
              <a:rPr lang="pt-BR" sz="2000"/>
            </a:br>
            <a:endParaRPr lang="pt-BR" sz="200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023" y="1851338"/>
            <a:ext cx="5743977" cy="500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874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1972" y="0"/>
            <a:ext cx="971067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/>
              <a:t>                                 Mesclando células - ROWSPAN</a:t>
            </a:r>
          </a:p>
          <a:p>
            <a:pPr marL="0" indent="0">
              <a:buNone/>
            </a:pPr>
            <a:r>
              <a:rPr lang="pt-BR" sz="2000"/>
              <a:t>Estes atributos são muito importantes dentro da </a:t>
            </a:r>
            <a:r>
              <a:rPr lang="pt-BR" sz="2000" err="1"/>
              <a:t>tag</a:t>
            </a:r>
            <a:r>
              <a:rPr lang="pt-BR" sz="2000"/>
              <a:t> </a:t>
            </a:r>
            <a:r>
              <a:rPr lang="pt-BR" sz="2000" b="1"/>
              <a:t>&lt;TABLE&gt;.</a:t>
            </a:r>
            <a:r>
              <a:rPr lang="pt-BR" sz="2000"/>
              <a:t> São eles que nos possibilitam remodelar a disposição das células dentro da tabela.</a:t>
            </a:r>
          </a:p>
          <a:p>
            <a:pPr marL="0" indent="0">
              <a:buNone/>
            </a:pPr>
            <a:r>
              <a:rPr lang="pt-BR" sz="2000" err="1"/>
              <a:t>Rowspan</a:t>
            </a:r>
            <a:r>
              <a:rPr lang="pt-BR" sz="2000"/>
              <a:t> definir uma única célula ocupando uma coluna </a:t>
            </a:r>
            <a:r>
              <a:rPr lang="pt-BR" sz="2000" err="1"/>
              <a:t>inteira.Exemplo</a:t>
            </a:r>
            <a:r>
              <a:rPr lang="pt-BR" sz="2000"/>
              <a:t>:</a:t>
            </a:r>
          </a:p>
          <a:p>
            <a:pPr marL="0" indent="0">
              <a:buNone/>
            </a:pPr>
            <a:endParaRPr lang="pt-BR" sz="2000" b="1"/>
          </a:p>
          <a:p>
            <a:pPr marL="0" indent="0">
              <a:buNone/>
            </a:pPr>
            <a:r>
              <a:rPr lang="pt-BR" sz="2000" b="1"/>
              <a:t>&lt;TABLE BORDER=2 CELLPADDING=2&gt;</a:t>
            </a:r>
          </a:p>
          <a:p>
            <a:pPr marL="0" indent="0">
              <a:buNone/>
            </a:pPr>
            <a:r>
              <a:rPr lang="pt-BR" sz="2000" b="1"/>
              <a:t>&lt;TR&gt; </a:t>
            </a:r>
          </a:p>
          <a:p>
            <a:pPr marL="0" indent="0">
              <a:buNone/>
            </a:pPr>
            <a:r>
              <a:rPr lang="pt-BR" sz="2000" b="1"/>
              <a:t>&lt;TD ROWSPAN=2&gt;Exemplo do uso do ROWSPAN &lt;/TD&gt;</a:t>
            </a:r>
          </a:p>
          <a:p>
            <a:pPr marL="0" indent="0">
              <a:buNone/>
            </a:pPr>
            <a:r>
              <a:rPr lang="pt-BR" sz="2000" b="1"/>
              <a:t>&lt;TD&gt;CÉLULA 1&lt;/TD&gt;</a:t>
            </a:r>
          </a:p>
          <a:p>
            <a:pPr marL="0" indent="0">
              <a:buNone/>
            </a:pPr>
            <a:r>
              <a:rPr lang="pt-BR" sz="2000" b="1"/>
              <a:t>&lt;TR&gt;</a:t>
            </a:r>
          </a:p>
          <a:p>
            <a:pPr marL="0" indent="0">
              <a:buNone/>
            </a:pPr>
            <a:r>
              <a:rPr lang="pt-BR" sz="2000" b="1"/>
              <a:t>&lt;TD&gt;CÉLULA 2&lt;/TD&gt;</a:t>
            </a:r>
          </a:p>
          <a:p>
            <a:pPr marL="0" indent="0">
              <a:buNone/>
            </a:pPr>
            <a:r>
              <a:rPr lang="pt-BR" sz="2000" b="1"/>
              <a:t>&lt;/TR&gt;</a:t>
            </a:r>
          </a:p>
          <a:p>
            <a:pPr marL="0" indent="0">
              <a:buNone/>
            </a:pPr>
            <a:r>
              <a:rPr lang="pt-BR" sz="2000" b="1"/>
              <a:t>&lt;/TABLE&gt;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439" y="1954369"/>
            <a:ext cx="5327562" cy="490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192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1972" y="0"/>
            <a:ext cx="971067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000"/>
              <a:t>                               Mesclando células - COLSPAN  </a:t>
            </a:r>
          </a:p>
          <a:p>
            <a:pPr marL="0" indent="0">
              <a:buNone/>
            </a:pPr>
            <a:r>
              <a:rPr lang="pt-BR" sz="2000"/>
              <a:t>Estes atributos são muito importantes dentro da </a:t>
            </a:r>
            <a:r>
              <a:rPr lang="pt-BR" sz="2000" err="1"/>
              <a:t>tag</a:t>
            </a:r>
            <a:r>
              <a:rPr lang="pt-BR" sz="2000"/>
              <a:t> </a:t>
            </a:r>
            <a:r>
              <a:rPr lang="pt-BR" sz="2000" b="1"/>
              <a:t>&lt;TABLE&gt;.</a:t>
            </a:r>
            <a:r>
              <a:rPr lang="pt-BR" sz="2000"/>
              <a:t> São eles que nos possibilitam remodelar a disposição das células dentro da tabela.</a:t>
            </a:r>
          </a:p>
          <a:p>
            <a:pPr marL="0" indent="0">
              <a:buNone/>
            </a:pPr>
            <a:r>
              <a:rPr lang="pt-BR" sz="2000" b="1"/>
              <a:t>&lt;TABLE BORDER=2 CELLPADDING=2&gt;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&lt;TR&gt;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&lt;TD COLSPAN=2&gt;</a:t>
            </a:r>
            <a:r>
              <a:rPr lang="pt-BR" sz="2000"/>
              <a:t>Exemplo do uso do COLSPAN&lt;/TD&gt;</a:t>
            </a:r>
          </a:p>
          <a:p>
            <a:pPr marL="0" indent="0">
              <a:buNone/>
            </a:pPr>
            <a:r>
              <a:rPr lang="pt-BR" sz="2000"/>
              <a:t>&lt;TR&gt;</a:t>
            </a:r>
          </a:p>
          <a:p>
            <a:pPr marL="0" indent="0">
              <a:buNone/>
            </a:pPr>
            <a:r>
              <a:rPr lang="pt-BR" sz="2000" b="1"/>
              <a:t>&lt;TD&gt;</a:t>
            </a:r>
            <a:r>
              <a:rPr lang="pt-BR" sz="2000"/>
              <a:t>CÉLULA 1</a:t>
            </a:r>
            <a:r>
              <a:rPr lang="pt-BR" sz="2000" b="1"/>
              <a:t>&lt;/TD&gt; &lt;TD&gt;</a:t>
            </a:r>
            <a:r>
              <a:rPr lang="pt-BR" sz="2000"/>
              <a:t>CÉLULA 2</a:t>
            </a:r>
            <a:r>
              <a:rPr lang="pt-BR" sz="2000" b="1"/>
              <a:t>&lt;/TD&gt;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&lt;/TR&gt;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&lt;/TABLE&gt;</a:t>
            </a:r>
            <a:endParaRPr lang="pt-BR" sz="2000"/>
          </a:p>
          <a:p>
            <a:pPr marL="0" indent="0">
              <a:buNone/>
            </a:pPr>
            <a:r>
              <a:rPr lang="pt-BR" sz="2000"/>
              <a:t> Neste exemplo vemos que na </a:t>
            </a:r>
            <a:r>
              <a:rPr lang="pt-BR" sz="2000" err="1"/>
              <a:t>tag</a:t>
            </a:r>
            <a:r>
              <a:rPr lang="pt-BR" sz="2000"/>
              <a:t> </a:t>
            </a:r>
            <a:r>
              <a:rPr lang="pt-BR" sz="2000" b="1"/>
              <a:t>&lt;TD&gt;</a:t>
            </a:r>
            <a:r>
              <a:rPr lang="pt-BR" sz="2000"/>
              <a:t> foi introduzido o parâmetro COLSPAN. Este parâmetro tem a finalidade de dizer que sob a célula onde ele foi introduzido podemos ter um certo número de colunas. Logo, se você quiser que uma célula ocupe uma única linha, como no nosso exemplo, você deve inserir o parâmetro dentro da </a:t>
            </a:r>
            <a:r>
              <a:rPr lang="pt-BR" sz="2000" err="1"/>
              <a:t>tag</a:t>
            </a:r>
            <a:r>
              <a:rPr lang="pt-BR" sz="2000"/>
              <a:t> </a:t>
            </a:r>
            <a:r>
              <a:rPr lang="pt-BR" sz="2000" b="1"/>
              <a:t>&lt;TD&gt;</a:t>
            </a:r>
            <a:r>
              <a:rPr lang="pt-BR" sz="2000"/>
              <a:t> desta célula. A quantidade de células que virão em baixo da célula que recebeu o atributo COLSPAN deve ser de acordo com o número especificado no parâmetro.</a:t>
            </a:r>
          </a:p>
          <a:p>
            <a:pPr marL="0" indent="0">
              <a:buNone/>
            </a:pPr>
            <a:br>
              <a:rPr lang="pt-BR" sz="2000"/>
            </a:br>
            <a:endParaRPr lang="pt-BR" sz="200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1555" y="2286201"/>
            <a:ext cx="3747752" cy="129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367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1972" y="0"/>
            <a:ext cx="971067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000"/>
              <a:t>Usando tabelas como molduras </a:t>
            </a:r>
          </a:p>
          <a:p>
            <a:pPr marL="0" indent="0">
              <a:buNone/>
            </a:pPr>
            <a:r>
              <a:rPr lang="pt-BR" sz="2000"/>
              <a:t>Um outro uso bastante interessante de tabelas é como moldura para alguma figura. Para isto basta você iniciar uma tabela e definir um valor para BORDER. Exemplo:</a:t>
            </a:r>
          </a:p>
          <a:p>
            <a:pPr marL="0" indent="0">
              <a:buNone/>
            </a:pPr>
            <a:r>
              <a:rPr lang="pt-BR" sz="2000" b="1"/>
              <a:t>&lt;TABLE BORDER=5&gt;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&lt;TR&gt;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&lt;TD&gt;&lt; IMG SRC=NOME DA FIGURA&gt; &lt;/TD&gt;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&lt;/TR&gt;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&lt;/TABLE&gt;</a:t>
            </a:r>
            <a:endParaRPr lang="pt-BR" sz="2000"/>
          </a:p>
          <a:p>
            <a:pPr marL="0" indent="0">
              <a:buNone/>
            </a:pPr>
            <a:br>
              <a:rPr lang="pt-BR" sz="2000"/>
            </a:br>
            <a:endParaRPr lang="pt-BR" sz="200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300" y="1257300"/>
            <a:ext cx="674370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310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1972" y="0"/>
            <a:ext cx="971067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000"/>
              <a:t>Colocando uma imagem de fundo nas tabelas </a:t>
            </a:r>
          </a:p>
          <a:p>
            <a:pPr marL="0" indent="0">
              <a:buNone/>
            </a:pPr>
            <a:endParaRPr lang="pt-BR" sz="2000" b="1"/>
          </a:p>
          <a:p>
            <a:r>
              <a:rPr lang="pt-BR" sz="2000"/>
              <a:t>Um recurso parecido com a cor de fundo , colocar uma imagem como fundo de uma tabela é uma técnica muito usada. Através do complemento BACKGROUND dentro da </a:t>
            </a:r>
            <a:r>
              <a:rPr lang="pt-BR" sz="2000" err="1"/>
              <a:t>tag</a:t>
            </a:r>
            <a:r>
              <a:rPr lang="pt-BR" sz="2000"/>
              <a:t> TABLE , basta indicar qual o endereço e o nome da figura.</a:t>
            </a:r>
            <a:br>
              <a:rPr lang="pt-BR" sz="2000"/>
            </a:br>
            <a:endParaRPr lang="pt-BR" sz="2000"/>
          </a:p>
          <a:p>
            <a:pPr marL="0" indent="0">
              <a:buNone/>
            </a:pPr>
            <a:r>
              <a:rPr lang="pt-BR" sz="2000" b="1"/>
              <a:t>&lt;TABLE BACKGROUND="POOL.GIF" BORDER=5&gt;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&lt;TR&gt;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&lt;TD&gt;&lt;H1&gt;</a:t>
            </a:r>
            <a:r>
              <a:rPr lang="pt-BR" sz="2000"/>
              <a:t>Que tal um mergulho agora ?</a:t>
            </a:r>
            <a:r>
              <a:rPr lang="pt-BR" sz="2000" b="1"/>
              <a:t> &lt;/H1&gt;&lt;/TD&gt;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&lt;/TR&gt;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&lt;/TABLE&gt;</a:t>
            </a:r>
            <a:endParaRPr lang="pt-BR" sz="2000"/>
          </a:p>
          <a:p>
            <a:pPr marL="0" indent="0">
              <a:buNone/>
            </a:pPr>
            <a:endParaRPr lang="pt-BR" sz="200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100" y="1946274"/>
            <a:ext cx="5676900" cy="491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43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0"/>
            <a:ext cx="10032642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000" b="1" i="1"/>
              <a:t>RULES</a:t>
            </a:r>
            <a:endParaRPr lang="pt-BR" sz="2000" b="1"/>
          </a:p>
          <a:p>
            <a:pPr marL="0" indent="0">
              <a:buNone/>
            </a:pPr>
            <a:r>
              <a:rPr lang="pt-BR" sz="2000"/>
              <a:t>Para escolher as linhas internas que serão mostradas dentro da tabela , usamos o atributo RULES , dentro da </a:t>
            </a:r>
            <a:r>
              <a:rPr lang="pt-BR" sz="2000" err="1"/>
              <a:t>tag</a:t>
            </a:r>
            <a:r>
              <a:rPr lang="pt-BR" sz="2000"/>
              <a:t> </a:t>
            </a:r>
            <a:r>
              <a:rPr lang="pt-BR" sz="2000" b="1"/>
              <a:t>&lt;TABLE&gt; </a:t>
            </a:r>
            <a:r>
              <a:rPr lang="pt-BR" sz="2000"/>
              <a:t>. Os complementos desse atributo são : </a:t>
            </a:r>
          </a:p>
          <a:p>
            <a:pPr marL="0" indent="0">
              <a:buNone/>
            </a:pPr>
            <a:r>
              <a:rPr lang="pt-BR" sz="2000" err="1"/>
              <a:t>none</a:t>
            </a:r>
            <a:r>
              <a:rPr lang="pt-BR" sz="2000"/>
              <a:t> : nenhuma linha interna ; </a:t>
            </a:r>
          </a:p>
          <a:p>
            <a:pPr marL="0" indent="0">
              <a:buNone/>
            </a:pPr>
            <a:r>
              <a:rPr lang="pt-BR" sz="2000" err="1"/>
              <a:t>rows</a:t>
            </a:r>
            <a:r>
              <a:rPr lang="pt-BR" sz="2000"/>
              <a:t> : para as linhas horizontais entre cada linha da tabela ; </a:t>
            </a:r>
          </a:p>
          <a:p>
            <a:pPr marL="0" indent="0">
              <a:buNone/>
            </a:pPr>
            <a:r>
              <a:rPr lang="pt-BR" sz="2000" err="1"/>
              <a:t>cols</a:t>
            </a:r>
            <a:r>
              <a:rPr lang="pt-BR" sz="2000"/>
              <a:t> : para as linhas verticais entre cada coluna da tabela ; </a:t>
            </a:r>
          </a:p>
          <a:p>
            <a:pPr marL="0" indent="0">
              <a:buNone/>
            </a:pPr>
            <a:r>
              <a:rPr lang="pt-BR" sz="2000" err="1"/>
              <a:t>groups</a:t>
            </a:r>
            <a:r>
              <a:rPr lang="pt-BR" sz="2000"/>
              <a:t> : para linhas entre grupos de colunas e seções horizontais , definidas por </a:t>
            </a:r>
            <a:r>
              <a:rPr lang="pt-BR" sz="2000" err="1"/>
              <a:t>tags</a:t>
            </a:r>
            <a:r>
              <a:rPr lang="pt-BR" sz="2000"/>
              <a:t> especiais como COLGROUP e THEAD ; </a:t>
            </a:r>
          </a:p>
          <a:p>
            <a:pPr marL="0" indent="0">
              <a:buNone/>
            </a:pPr>
            <a:r>
              <a:rPr lang="pt-BR" sz="2000" err="1"/>
              <a:t>all</a:t>
            </a:r>
            <a:r>
              <a:rPr lang="pt-BR" sz="2000"/>
              <a:t> : para mostrar todas as linhas entre cada coluna e linha na tabela ( default ) . </a:t>
            </a:r>
          </a:p>
          <a:p>
            <a:pPr marL="0" indent="0">
              <a:buNone/>
            </a:pPr>
            <a:br>
              <a:rPr lang="pt-BR" sz="2000"/>
            </a:br>
            <a:r>
              <a:rPr lang="pt-BR" sz="2000"/>
              <a:t> Veja uma tabela com todas as linhas internas ( default ) :</a:t>
            </a:r>
          </a:p>
          <a:p>
            <a:pPr marL="0" indent="0">
              <a:buNone/>
            </a:pPr>
            <a:r>
              <a:rPr lang="pt-BR" sz="2000" b="1"/>
              <a:t>       &lt;TABLE BORDER RULES=</a:t>
            </a:r>
            <a:r>
              <a:rPr lang="pt-BR" sz="2000" b="1" err="1"/>
              <a:t>all</a:t>
            </a:r>
            <a:r>
              <a:rPr lang="pt-BR" sz="2000" b="1"/>
              <a:t>&gt;</a:t>
            </a:r>
            <a:endParaRPr lang="pt-BR" sz="2000"/>
          </a:p>
          <a:p>
            <a:pPr marL="0" indent="0">
              <a:buNone/>
            </a:pPr>
            <a:endParaRPr lang="pt-BR" sz="2000"/>
          </a:p>
          <a:p>
            <a:pPr marL="0" indent="0">
              <a:buNone/>
            </a:pPr>
            <a:endParaRPr lang="pt-BR" sz="200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300" y="3619500"/>
            <a:ext cx="44577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664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0"/>
            <a:ext cx="10032642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000" b="1" i="1"/>
              <a:t>RULES</a:t>
            </a:r>
            <a:endParaRPr lang="pt-BR" sz="2000" b="1"/>
          </a:p>
          <a:p>
            <a:pPr marL="0" indent="0">
              <a:buNone/>
            </a:pPr>
            <a:r>
              <a:rPr lang="pt-BR" sz="2000"/>
              <a:t>Para escolher as linhas internas que serão mostradas dentro da tabela , usamos o atributo RULES , dentro da </a:t>
            </a:r>
            <a:r>
              <a:rPr lang="pt-BR" sz="2000" err="1"/>
              <a:t>tag</a:t>
            </a:r>
            <a:r>
              <a:rPr lang="pt-BR" sz="2000"/>
              <a:t> </a:t>
            </a:r>
            <a:r>
              <a:rPr lang="pt-BR" sz="2000" b="1"/>
              <a:t>&lt;TABLE&gt; </a:t>
            </a:r>
            <a:r>
              <a:rPr lang="pt-BR" sz="2000"/>
              <a:t>. Os complementos desse atributo são : </a:t>
            </a:r>
          </a:p>
          <a:p>
            <a:pPr marL="0" indent="0">
              <a:buNone/>
            </a:pPr>
            <a:r>
              <a:rPr lang="pt-BR" sz="2000" err="1"/>
              <a:t>none</a:t>
            </a:r>
            <a:r>
              <a:rPr lang="pt-BR" sz="2000"/>
              <a:t> : nenhuma linha interna ; </a:t>
            </a:r>
          </a:p>
          <a:p>
            <a:pPr marL="0" indent="0">
              <a:buNone/>
            </a:pPr>
            <a:r>
              <a:rPr lang="pt-BR" sz="2000" err="1"/>
              <a:t>rows</a:t>
            </a:r>
            <a:r>
              <a:rPr lang="pt-BR" sz="2000"/>
              <a:t> : para as linhas horizontais entre cada linha da tabela ; </a:t>
            </a:r>
          </a:p>
          <a:p>
            <a:pPr marL="0" indent="0">
              <a:buNone/>
            </a:pPr>
            <a:r>
              <a:rPr lang="pt-BR" sz="2000" err="1"/>
              <a:t>cols</a:t>
            </a:r>
            <a:r>
              <a:rPr lang="pt-BR" sz="2000"/>
              <a:t> : para as linhas verticais entre cada coluna da tabela ; </a:t>
            </a:r>
          </a:p>
          <a:p>
            <a:pPr marL="0" indent="0">
              <a:buNone/>
            </a:pPr>
            <a:r>
              <a:rPr lang="pt-BR" sz="2000" err="1"/>
              <a:t>groups</a:t>
            </a:r>
            <a:r>
              <a:rPr lang="pt-BR" sz="2000"/>
              <a:t> : para linhas entre grupos de colunas e seções horizontais , definidas por </a:t>
            </a:r>
            <a:r>
              <a:rPr lang="pt-BR" sz="2000" err="1"/>
              <a:t>tags</a:t>
            </a:r>
            <a:r>
              <a:rPr lang="pt-BR" sz="2000"/>
              <a:t> especiais como COLGROUP e THEAD ; </a:t>
            </a:r>
          </a:p>
          <a:p>
            <a:pPr marL="0" indent="0">
              <a:buNone/>
            </a:pPr>
            <a:r>
              <a:rPr lang="pt-BR" sz="2000" err="1"/>
              <a:t>all</a:t>
            </a:r>
            <a:r>
              <a:rPr lang="pt-BR" sz="2000"/>
              <a:t> : para mostrar todas as linhas entre cada coluna e linha na tabela ( default ) . </a:t>
            </a:r>
          </a:p>
          <a:p>
            <a:pPr marL="0" indent="0">
              <a:buNone/>
            </a:pPr>
            <a:br>
              <a:rPr lang="pt-BR" sz="2000"/>
            </a:br>
            <a:r>
              <a:rPr lang="pt-BR" sz="2000"/>
              <a:t>Outro exemplo sem as linhas internas :</a:t>
            </a:r>
          </a:p>
          <a:p>
            <a:pPr marL="0" indent="0">
              <a:buNone/>
            </a:pPr>
            <a:r>
              <a:rPr lang="pt-BR" sz="2000" b="1"/>
              <a:t>              &lt;TABLE BORDER RULES=</a:t>
            </a:r>
            <a:r>
              <a:rPr lang="pt-BR" sz="2000" b="1" err="1"/>
              <a:t>none</a:t>
            </a:r>
            <a:r>
              <a:rPr lang="pt-BR" sz="2000" b="1"/>
              <a:t>&gt;</a:t>
            </a:r>
            <a:endParaRPr lang="pt-BR" sz="2000"/>
          </a:p>
          <a:p>
            <a:pPr marL="0" indent="0">
              <a:buNone/>
            </a:pPr>
            <a:endParaRPr lang="pt-BR" sz="2000"/>
          </a:p>
          <a:p>
            <a:pPr marL="0" indent="0">
              <a:buNone/>
            </a:pPr>
            <a:endParaRPr lang="pt-BR" sz="200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500" y="4249737"/>
            <a:ext cx="4889500" cy="260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741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0"/>
            <a:ext cx="10032642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000" b="1" i="1"/>
              <a:t>RULES</a:t>
            </a:r>
            <a:endParaRPr lang="pt-BR" sz="2000" b="1"/>
          </a:p>
          <a:p>
            <a:pPr marL="0" indent="0">
              <a:buNone/>
            </a:pPr>
            <a:r>
              <a:rPr lang="pt-BR" sz="2000"/>
              <a:t>Para escolher as linhas internas que serão mostradas dentro da tabela , usamos o atributo RULES , dentro da </a:t>
            </a:r>
            <a:r>
              <a:rPr lang="pt-BR" sz="2000" err="1"/>
              <a:t>tag</a:t>
            </a:r>
            <a:r>
              <a:rPr lang="pt-BR" sz="2000"/>
              <a:t> </a:t>
            </a:r>
            <a:r>
              <a:rPr lang="pt-BR" sz="2000" b="1"/>
              <a:t>&lt;TABLE&gt; </a:t>
            </a:r>
            <a:r>
              <a:rPr lang="pt-BR" sz="2000"/>
              <a:t>. Os complementos desse atributo são : </a:t>
            </a:r>
          </a:p>
          <a:p>
            <a:pPr marL="0" indent="0">
              <a:buNone/>
            </a:pPr>
            <a:r>
              <a:rPr lang="pt-BR" sz="2000" err="1"/>
              <a:t>none</a:t>
            </a:r>
            <a:r>
              <a:rPr lang="pt-BR" sz="2000"/>
              <a:t> : nenhuma linha interna ; </a:t>
            </a:r>
          </a:p>
          <a:p>
            <a:pPr marL="0" indent="0">
              <a:buNone/>
            </a:pPr>
            <a:r>
              <a:rPr lang="pt-BR" sz="2000" err="1"/>
              <a:t>rows</a:t>
            </a:r>
            <a:r>
              <a:rPr lang="pt-BR" sz="2000"/>
              <a:t> : para as linhas horizontais entre cada linha da tabela ; </a:t>
            </a:r>
          </a:p>
          <a:p>
            <a:pPr marL="0" indent="0">
              <a:buNone/>
            </a:pPr>
            <a:r>
              <a:rPr lang="pt-BR" sz="2000" err="1"/>
              <a:t>cols</a:t>
            </a:r>
            <a:r>
              <a:rPr lang="pt-BR" sz="2000"/>
              <a:t> : para as linhas verticais entre cada coluna da tabela ; </a:t>
            </a:r>
          </a:p>
          <a:p>
            <a:pPr marL="0" indent="0">
              <a:buNone/>
            </a:pPr>
            <a:r>
              <a:rPr lang="pt-BR" sz="2000" err="1"/>
              <a:t>groups</a:t>
            </a:r>
            <a:r>
              <a:rPr lang="pt-BR" sz="2000"/>
              <a:t> : para linhas entre grupos de colunas e seções horizontais , definidas por </a:t>
            </a:r>
            <a:r>
              <a:rPr lang="pt-BR" sz="2000" err="1"/>
              <a:t>tags</a:t>
            </a:r>
            <a:r>
              <a:rPr lang="pt-BR" sz="2000"/>
              <a:t> especiais como COLGROUP e THEAD ; </a:t>
            </a:r>
          </a:p>
          <a:p>
            <a:pPr marL="0" indent="0">
              <a:buNone/>
            </a:pPr>
            <a:r>
              <a:rPr lang="pt-BR" sz="2000" err="1"/>
              <a:t>all</a:t>
            </a:r>
            <a:r>
              <a:rPr lang="pt-BR" sz="2000"/>
              <a:t> : para mostrar todas as linhas entre cada coluna e linha na tabela ( default ) . </a:t>
            </a:r>
          </a:p>
          <a:p>
            <a:pPr marL="0" indent="0">
              <a:buNone/>
            </a:pPr>
            <a:r>
              <a:rPr lang="pt-BR" sz="2000"/>
              <a:t>  </a:t>
            </a:r>
            <a:br>
              <a:rPr lang="pt-BR" sz="2000"/>
            </a:br>
            <a:r>
              <a:rPr lang="pt-BR" sz="2000"/>
              <a:t>          Outro exemplo usando o complemento ROWS:</a:t>
            </a:r>
          </a:p>
          <a:p>
            <a:pPr marL="0" indent="0">
              <a:buNone/>
            </a:pPr>
            <a:r>
              <a:rPr lang="pt-BR" sz="2000" b="1"/>
              <a:t>            &lt;TABLE BORDER RULES=</a:t>
            </a:r>
            <a:r>
              <a:rPr lang="pt-BR" sz="2000" b="1" err="1"/>
              <a:t>rows</a:t>
            </a:r>
            <a:r>
              <a:rPr lang="pt-BR" sz="2000" b="1"/>
              <a:t>&gt;</a:t>
            </a:r>
            <a:endParaRPr lang="pt-BR" sz="2000"/>
          </a:p>
          <a:p>
            <a:pPr marL="0" indent="0">
              <a:buNone/>
            </a:pPr>
            <a:endParaRPr lang="pt-BR" sz="2000"/>
          </a:p>
          <a:p>
            <a:pPr marL="0" indent="0">
              <a:buNone/>
            </a:pPr>
            <a:endParaRPr lang="pt-BR" sz="200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01" y="4244974"/>
            <a:ext cx="3911600" cy="261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61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0"/>
            <a:ext cx="10032642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000" b="1" i="1"/>
              <a:t>RULES</a:t>
            </a:r>
            <a:endParaRPr lang="pt-BR" sz="2000" b="1"/>
          </a:p>
          <a:p>
            <a:pPr marL="0" indent="0">
              <a:buNone/>
            </a:pPr>
            <a:r>
              <a:rPr lang="pt-BR" sz="2000"/>
              <a:t>Para escolher as linhas internas que serão mostradas dentro da tabela , usamos o atributo RULES , dentro da </a:t>
            </a:r>
            <a:r>
              <a:rPr lang="pt-BR" sz="2000" err="1"/>
              <a:t>tag</a:t>
            </a:r>
            <a:r>
              <a:rPr lang="pt-BR" sz="2000"/>
              <a:t> </a:t>
            </a:r>
            <a:r>
              <a:rPr lang="pt-BR" sz="2000" b="1"/>
              <a:t>&lt;TABLE&gt; </a:t>
            </a:r>
            <a:r>
              <a:rPr lang="pt-BR" sz="2000"/>
              <a:t>. Os complementos desse atributo são : </a:t>
            </a:r>
          </a:p>
          <a:p>
            <a:pPr marL="0" indent="0">
              <a:buNone/>
            </a:pPr>
            <a:r>
              <a:rPr lang="pt-BR" sz="2000" err="1"/>
              <a:t>none</a:t>
            </a:r>
            <a:r>
              <a:rPr lang="pt-BR" sz="2000"/>
              <a:t> : nenhuma linha interna ; </a:t>
            </a:r>
          </a:p>
          <a:p>
            <a:pPr marL="0" indent="0">
              <a:buNone/>
            </a:pPr>
            <a:r>
              <a:rPr lang="pt-BR" sz="2000" err="1"/>
              <a:t>rows</a:t>
            </a:r>
            <a:r>
              <a:rPr lang="pt-BR" sz="2000"/>
              <a:t> : para as linhas horizontais entre cada linha da tabela ; </a:t>
            </a:r>
          </a:p>
          <a:p>
            <a:pPr marL="0" indent="0">
              <a:buNone/>
            </a:pPr>
            <a:r>
              <a:rPr lang="pt-BR" sz="2000" err="1"/>
              <a:t>cols</a:t>
            </a:r>
            <a:r>
              <a:rPr lang="pt-BR" sz="2000"/>
              <a:t> : para as linhas verticais entre cada coluna da tabela ; </a:t>
            </a:r>
          </a:p>
          <a:p>
            <a:pPr marL="0" indent="0">
              <a:buNone/>
            </a:pPr>
            <a:r>
              <a:rPr lang="pt-BR" sz="2000" err="1"/>
              <a:t>groups</a:t>
            </a:r>
            <a:r>
              <a:rPr lang="pt-BR" sz="2000"/>
              <a:t> : para linhas entre grupos de colunas e seções horizontais , definidas por </a:t>
            </a:r>
            <a:r>
              <a:rPr lang="pt-BR" sz="2000" err="1"/>
              <a:t>tags</a:t>
            </a:r>
            <a:r>
              <a:rPr lang="pt-BR" sz="2000"/>
              <a:t> especiais como COLGROUP e THEAD ; </a:t>
            </a:r>
          </a:p>
          <a:p>
            <a:pPr marL="0" indent="0">
              <a:buNone/>
            </a:pPr>
            <a:r>
              <a:rPr lang="pt-BR" sz="2000" err="1"/>
              <a:t>all</a:t>
            </a:r>
            <a:r>
              <a:rPr lang="pt-BR" sz="2000"/>
              <a:t> : para mostrar todas as linhas entre cada coluna e linha na tabela ( default ) . </a:t>
            </a:r>
          </a:p>
          <a:p>
            <a:pPr marL="0" indent="0">
              <a:buNone/>
            </a:pPr>
            <a:r>
              <a:rPr lang="pt-BR" sz="2000"/>
              <a:t>   </a:t>
            </a:r>
            <a:br>
              <a:rPr lang="pt-BR" sz="2000"/>
            </a:br>
            <a:r>
              <a:rPr lang="pt-BR" sz="2000"/>
              <a:t>          O último exemplo usará o complemento COLS :</a:t>
            </a:r>
          </a:p>
          <a:p>
            <a:pPr marL="0" indent="0">
              <a:buNone/>
            </a:pPr>
            <a:r>
              <a:rPr lang="pt-BR" sz="2000"/>
              <a:t>           </a:t>
            </a:r>
            <a:r>
              <a:rPr lang="pt-BR" sz="2000" b="1"/>
              <a:t>  &lt;TABLE BORDER RULES=</a:t>
            </a:r>
            <a:r>
              <a:rPr lang="pt-BR" sz="2000" b="1" err="1"/>
              <a:t>cols</a:t>
            </a:r>
            <a:r>
              <a:rPr lang="pt-BR" sz="2000" b="1"/>
              <a:t>&gt;</a:t>
            </a:r>
            <a:endParaRPr lang="pt-BR" sz="2000"/>
          </a:p>
          <a:p>
            <a:pPr marL="0" indent="0">
              <a:buNone/>
            </a:pPr>
            <a:endParaRPr lang="pt-BR" sz="2000"/>
          </a:p>
          <a:p>
            <a:pPr marL="0" indent="0">
              <a:buNone/>
            </a:pPr>
            <a:endParaRPr lang="pt-BR" sz="200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301" y="4579937"/>
            <a:ext cx="4330700" cy="227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4277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0"/>
            <a:ext cx="10032642" cy="6858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 sz="2000"/>
              <a:t>                                                                                    Exemplo : Tabela Clientes</a:t>
            </a:r>
          </a:p>
          <a:p>
            <a:pPr marL="0" indent="0">
              <a:buNone/>
            </a:pPr>
            <a:r>
              <a:rPr lang="en-US" sz="2000" b="1"/>
              <a:t>&lt;table border="1" </a:t>
            </a:r>
            <a:r>
              <a:rPr lang="en-US" sz="2000" b="1" err="1"/>
              <a:t>bgcolor</a:t>
            </a:r>
            <a:r>
              <a:rPr lang="en-US" sz="2000" b="1"/>
              <a:t>="#FFFF00" </a:t>
            </a:r>
            <a:r>
              <a:rPr lang="en-US" sz="2000" b="1" err="1"/>
              <a:t>cellspacing</a:t>
            </a:r>
            <a:r>
              <a:rPr lang="en-US" sz="2000" b="1"/>
              <a:t>="2" </a:t>
            </a:r>
            <a:r>
              <a:rPr lang="en-US" sz="2000" b="1" err="1"/>
              <a:t>cellpadding</a:t>
            </a:r>
            <a:r>
              <a:rPr lang="en-US" sz="2000" b="1"/>
              <a:t>="2"&gt; </a:t>
            </a:r>
            <a:endParaRPr lang="en-US" sz="2000"/>
          </a:p>
          <a:p>
            <a:pPr marL="0" indent="0">
              <a:buNone/>
            </a:pPr>
            <a:r>
              <a:rPr lang="pt-BR" sz="2000" b="1"/>
              <a:t>&lt;</a:t>
            </a:r>
            <a:r>
              <a:rPr lang="pt-BR" sz="2000" b="1" err="1"/>
              <a:t>caption</a:t>
            </a:r>
            <a:r>
              <a:rPr lang="pt-BR" sz="2000" b="1"/>
              <a:t>&gt;Clientes&lt;/</a:t>
            </a:r>
            <a:r>
              <a:rPr lang="pt-BR" sz="2000" b="1" err="1"/>
              <a:t>caption</a:t>
            </a:r>
            <a:r>
              <a:rPr lang="pt-BR" sz="2000" b="1"/>
              <a:t>&gt; 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</a:t>
            </a:r>
            <a:r>
              <a:rPr lang="pt-BR" sz="2000" b="1" err="1"/>
              <a:t>tr</a:t>
            </a:r>
            <a:r>
              <a:rPr lang="pt-BR" sz="2000" b="1"/>
              <a:t> </a:t>
            </a:r>
            <a:r>
              <a:rPr lang="pt-BR" sz="2000" b="1" err="1"/>
              <a:t>bgcolor</a:t>
            </a:r>
            <a:r>
              <a:rPr lang="pt-BR" sz="2000" b="1"/>
              <a:t>="#00FF00"&gt; </a:t>
            </a:r>
            <a:endParaRPr lang="pt-BR" sz="2000"/>
          </a:p>
          <a:p>
            <a:pPr marL="0" indent="0">
              <a:buNone/>
            </a:pPr>
            <a:r>
              <a:rPr lang="en-US" sz="2000" b="1"/>
              <a:t>&lt;</a:t>
            </a:r>
            <a:r>
              <a:rPr lang="en-US" sz="2000" b="1" err="1"/>
              <a:t>th</a:t>
            </a:r>
            <a:r>
              <a:rPr lang="en-US" sz="2000" b="1"/>
              <a:t> align="center" </a:t>
            </a:r>
            <a:r>
              <a:rPr lang="en-US" sz="2000" b="1" err="1"/>
              <a:t>rowspan</a:t>
            </a:r>
            <a:r>
              <a:rPr lang="en-US" sz="2000" b="1"/>
              <a:t>="2"&gt;Nome&lt;/td&gt; </a:t>
            </a:r>
            <a:endParaRPr lang="en-US" sz="2000"/>
          </a:p>
          <a:p>
            <a:pPr marL="0" indent="0">
              <a:buNone/>
            </a:pPr>
            <a:r>
              <a:rPr lang="en-US" sz="2000" b="1"/>
              <a:t>&lt;</a:t>
            </a:r>
            <a:r>
              <a:rPr lang="en-US" sz="2000" b="1" err="1"/>
              <a:t>th</a:t>
            </a:r>
            <a:r>
              <a:rPr lang="en-US" sz="2000" b="1"/>
              <a:t> align="center" </a:t>
            </a:r>
            <a:r>
              <a:rPr lang="en-US" sz="2000" b="1" err="1"/>
              <a:t>colspan</a:t>
            </a:r>
            <a:r>
              <a:rPr lang="en-US" sz="2000" b="1"/>
              <a:t>="2"&gt;</a:t>
            </a:r>
            <a:r>
              <a:rPr lang="en-US" sz="2000" b="1" err="1"/>
              <a:t>Endereço</a:t>
            </a:r>
            <a:r>
              <a:rPr lang="en-US" sz="2000" b="1"/>
              <a:t>&lt;/td&gt; </a:t>
            </a:r>
            <a:endParaRPr lang="en-US" sz="2000"/>
          </a:p>
          <a:p>
            <a:pPr marL="0" indent="0">
              <a:buNone/>
            </a:pPr>
            <a:r>
              <a:rPr lang="pt-BR" sz="2000" b="1"/>
              <a:t>&lt;/</a:t>
            </a:r>
            <a:r>
              <a:rPr lang="pt-BR" sz="2000" b="1" err="1"/>
              <a:t>tr</a:t>
            </a:r>
            <a:r>
              <a:rPr lang="pt-BR" sz="2000" b="1"/>
              <a:t>&gt; 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&lt;</a:t>
            </a:r>
            <a:r>
              <a:rPr lang="pt-BR" sz="2000" b="1" err="1"/>
              <a:t>tr</a:t>
            </a:r>
            <a:r>
              <a:rPr lang="pt-BR" sz="2000" b="1"/>
              <a:t> </a:t>
            </a:r>
            <a:r>
              <a:rPr lang="pt-BR" sz="2000" b="1" err="1"/>
              <a:t>bgcolor</a:t>
            </a:r>
            <a:r>
              <a:rPr lang="pt-BR" sz="2000" b="1"/>
              <a:t>="#00FF00"&gt; </a:t>
            </a:r>
            <a:endParaRPr lang="pt-BR" sz="2000"/>
          </a:p>
          <a:p>
            <a:pPr marL="0" indent="0">
              <a:buNone/>
            </a:pPr>
            <a:r>
              <a:rPr lang="en-US" sz="2000" b="1"/>
              <a:t>&lt;</a:t>
            </a:r>
            <a:r>
              <a:rPr lang="en-US" sz="2000" b="1" err="1"/>
              <a:t>th</a:t>
            </a:r>
            <a:r>
              <a:rPr lang="en-US" sz="2000" b="1"/>
              <a:t> align="center"&gt;</a:t>
            </a:r>
            <a:r>
              <a:rPr lang="en-US" sz="2000" b="1" err="1"/>
              <a:t>Rua</a:t>
            </a:r>
            <a:r>
              <a:rPr lang="en-US" sz="2000" b="1"/>
              <a:t>&lt;/td&gt; </a:t>
            </a:r>
            <a:endParaRPr lang="en-US" sz="2000"/>
          </a:p>
          <a:p>
            <a:pPr marL="0" indent="0">
              <a:buNone/>
            </a:pPr>
            <a:r>
              <a:rPr lang="en-US" sz="2000" b="1"/>
              <a:t>&lt;</a:t>
            </a:r>
            <a:r>
              <a:rPr lang="en-US" sz="2000" b="1" err="1"/>
              <a:t>th</a:t>
            </a:r>
            <a:r>
              <a:rPr lang="en-US" sz="2000" b="1"/>
              <a:t> align="center"&gt;</a:t>
            </a:r>
            <a:r>
              <a:rPr lang="en-US" sz="2000" b="1" err="1"/>
              <a:t>Nro</a:t>
            </a:r>
            <a:r>
              <a:rPr lang="en-US" sz="2000" b="1"/>
              <a:t>.&lt;/td&gt; </a:t>
            </a:r>
            <a:endParaRPr lang="en-US" sz="2000"/>
          </a:p>
          <a:p>
            <a:pPr marL="0" indent="0">
              <a:buNone/>
            </a:pPr>
            <a:r>
              <a:rPr lang="pt-BR" sz="2000" b="1"/>
              <a:t> &lt;/</a:t>
            </a:r>
            <a:r>
              <a:rPr lang="pt-BR" sz="2000" b="1" err="1"/>
              <a:t>tr</a:t>
            </a:r>
            <a:r>
              <a:rPr lang="pt-BR" sz="2000" b="1"/>
              <a:t>&gt; 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   &lt;</a:t>
            </a:r>
            <a:r>
              <a:rPr lang="pt-BR" sz="2000" b="1" err="1"/>
              <a:t>tr</a:t>
            </a:r>
            <a:r>
              <a:rPr lang="pt-BR" sz="2000" b="1"/>
              <a:t>&gt; </a:t>
            </a:r>
            <a:endParaRPr lang="pt-BR" sz="2000"/>
          </a:p>
          <a:p>
            <a:pPr marL="0" indent="0">
              <a:buNone/>
            </a:pPr>
            <a:r>
              <a:rPr lang="en-US" sz="2000" b="1"/>
              <a:t>  &lt;td align="left" </a:t>
            </a:r>
            <a:r>
              <a:rPr lang="en-US" sz="2000" b="1" err="1"/>
              <a:t>rowspan</a:t>
            </a:r>
            <a:r>
              <a:rPr lang="en-US" sz="2000" b="1"/>
              <a:t>="2"&gt;Marcos&lt;/td&gt; </a:t>
            </a:r>
            <a:endParaRPr lang="en-US" sz="2000"/>
          </a:p>
          <a:p>
            <a:pPr marL="0" indent="0">
              <a:buNone/>
            </a:pPr>
            <a:r>
              <a:rPr lang="pt-BR" sz="2000" b="1"/>
              <a:t>  &lt;</a:t>
            </a:r>
            <a:r>
              <a:rPr lang="pt-BR" sz="2000" b="1" err="1"/>
              <a:t>td</a:t>
            </a:r>
            <a:r>
              <a:rPr lang="pt-BR" sz="2000" b="1"/>
              <a:t> </a:t>
            </a:r>
            <a:r>
              <a:rPr lang="pt-BR" sz="2000" b="1" err="1"/>
              <a:t>align</a:t>
            </a:r>
            <a:r>
              <a:rPr lang="pt-BR" sz="2000" b="1"/>
              <a:t>="center"&gt;Av. Paulista&lt;/</a:t>
            </a:r>
            <a:r>
              <a:rPr lang="pt-BR" sz="2000" b="1" err="1"/>
              <a:t>td</a:t>
            </a:r>
            <a:r>
              <a:rPr lang="pt-BR" sz="2000" b="1"/>
              <a:t>&gt; </a:t>
            </a:r>
            <a:endParaRPr lang="pt-BR" sz="2000"/>
          </a:p>
          <a:p>
            <a:pPr marL="0" indent="0">
              <a:buNone/>
            </a:pPr>
            <a:r>
              <a:rPr lang="en-US" sz="2000" b="1"/>
              <a:t>  &lt;td align="right"&gt;1000&lt;/td&gt; </a:t>
            </a:r>
            <a:endParaRPr lang="en-US" sz="2000"/>
          </a:p>
          <a:p>
            <a:pPr marL="0" indent="0">
              <a:buNone/>
            </a:pPr>
            <a:r>
              <a:rPr lang="pt-BR" sz="2000" b="1"/>
              <a:t>   &lt;/</a:t>
            </a:r>
            <a:r>
              <a:rPr lang="pt-BR" sz="2000" b="1" err="1"/>
              <a:t>tr</a:t>
            </a:r>
            <a:r>
              <a:rPr lang="pt-BR" sz="2000" b="1"/>
              <a:t>&gt; 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   &lt;/</a:t>
            </a:r>
            <a:r>
              <a:rPr lang="pt-BR" sz="2000" b="1" err="1"/>
              <a:t>tr</a:t>
            </a:r>
            <a:r>
              <a:rPr lang="pt-BR" sz="2000" b="1"/>
              <a:t>&gt; 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    &lt;</a:t>
            </a:r>
            <a:r>
              <a:rPr lang="pt-BR" sz="2000" b="1" err="1"/>
              <a:t>tr</a:t>
            </a:r>
            <a:r>
              <a:rPr lang="pt-BR" sz="2000" b="1"/>
              <a:t>&gt; 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    &lt;</a:t>
            </a:r>
            <a:r>
              <a:rPr lang="pt-BR" sz="2000" b="1" err="1"/>
              <a:t>td</a:t>
            </a:r>
            <a:r>
              <a:rPr lang="pt-BR" sz="2000" b="1"/>
              <a:t> </a:t>
            </a:r>
            <a:r>
              <a:rPr lang="pt-BR" sz="2000" b="1" err="1"/>
              <a:t>align</a:t>
            </a:r>
            <a:r>
              <a:rPr lang="pt-BR" sz="2000" b="1"/>
              <a:t>="center"&gt;Av. Nove de Julho&lt;/</a:t>
            </a:r>
            <a:r>
              <a:rPr lang="pt-BR" sz="2000" b="1" err="1"/>
              <a:t>td</a:t>
            </a:r>
            <a:r>
              <a:rPr lang="pt-BR" sz="2000" b="1"/>
              <a:t>&gt; </a:t>
            </a:r>
            <a:endParaRPr lang="pt-BR" sz="2000"/>
          </a:p>
          <a:p>
            <a:pPr marL="0" indent="0">
              <a:buNone/>
            </a:pPr>
            <a:r>
              <a:rPr lang="en-US" sz="2000" b="1"/>
              <a:t>    &lt;td align="right"&gt;4230&lt;/td&gt; </a:t>
            </a:r>
            <a:endParaRPr lang="en-US" sz="2000"/>
          </a:p>
          <a:p>
            <a:pPr marL="0" indent="0">
              <a:buNone/>
            </a:pPr>
            <a:r>
              <a:rPr lang="pt-BR" sz="2000" b="1"/>
              <a:t>     &lt;/</a:t>
            </a:r>
            <a:r>
              <a:rPr lang="pt-BR" sz="2000" b="1" err="1"/>
              <a:t>tr</a:t>
            </a:r>
            <a:r>
              <a:rPr lang="pt-BR" sz="2000" b="1"/>
              <a:t>&gt; </a:t>
            </a:r>
            <a:r>
              <a:rPr lang="pt-BR" sz="2000"/>
              <a:t>   </a:t>
            </a:r>
            <a:r>
              <a:rPr lang="pt-BR" sz="2000" b="1"/>
              <a:t>... </a:t>
            </a:r>
            <a:endParaRPr lang="pt-BR" sz="2000"/>
          </a:p>
          <a:p>
            <a:pPr marL="0" indent="0">
              <a:buNone/>
            </a:pPr>
            <a:r>
              <a:rPr lang="pt-BR" sz="2000" b="1"/>
              <a:t>      &lt;/</a:t>
            </a:r>
            <a:r>
              <a:rPr lang="pt-BR" sz="2000" b="1" err="1"/>
              <a:t>table</a:t>
            </a:r>
            <a:r>
              <a:rPr lang="pt-BR" sz="2000" b="1"/>
              <a:t>&gt;</a:t>
            </a:r>
            <a:endParaRPr lang="pt-BR" sz="200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300" y="2317862"/>
            <a:ext cx="5143499" cy="302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122392"/>
      </p:ext>
    </p:extLst>
  </p:cSld>
  <p:clrMapOvr>
    <a:masterClrMapping/>
  </p:clrMapOvr>
</p:sld>
</file>

<file path=ppt/theme/theme1.xml><?xml version="1.0" encoding="utf-8"?>
<a:theme xmlns:a="http://schemas.openxmlformats.org/drawingml/2006/main" name="Classic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f9ea732-a098-4257-a054-af1a10a0bbf7" xsi:nil="true"/>
    <lcf76f155ced4ddcb4097134ff3c332f xmlns="e1b5fafe-7b14-443c-b645-cb12302d210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AA46FA0EB10374EAD13049DDADCE40A" ma:contentTypeVersion="11" ma:contentTypeDescription="Crie um novo documento." ma:contentTypeScope="" ma:versionID="16af94215095106a61f4823059c5d8b6">
  <xsd:schema xmlns:xsd="http://www.w3.org/2001/XMLSchema" xmlns:xs="http://www.w3.org/2001/XMLSchema" xmlns:p="http://schemas.microsoft.com/office/2006/metadata/properties" xmlns:ns2="e1b5fafe-7b14-443c-b645-cb12302d210a" xmlns:ns3="ff9ea732-a098-4257-a054-af1a10a0bbf7" targetNamespace="http://schemas.microsoft.com/office/2006/metadata/properties" ma:root="true" ma:fieldsID="d82166d0c1a7fb1a8777552efe7e1fc0" ns2:_="" ns3:_="">
    <xsd:import namespace="e1b5fafe-7b14-443c-b645-cb12302d210a"/>
    <xsd:import namespace="ff9ea732-a098-4257-a054-af1a10a0bb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fafe-7b14-443c-b645-cb12302d21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9ea732-a098-4257-a054-af1a10a0bbf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c47ee3c-408d-489e-b063-8d4a4101c981}" ma:internalName="TaxCatchAll" ma:showField="CatchAllData" ma:web="ff9ea732-a098-4257-a054-af1a10a0bb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F392363-2A16-4F35-A198-314D075251D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B061ACB-A251-46FC-91BD-BEF21BC43CD4}"/>
</file>

<file path=customXml/itemProps3.xml><?xml version="1.0" encoding="utf-8"?>
<ds:datastoreItem xmlns:ds="http://schemas.openxmlformats.org/officeDocument/2006/customXml" ds:itemID="{35793C5D-D5E1-4945-BA0F-E436968630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TC030006182[[fn=Classic Theme 2007]]</Template>
  <Application>Microsoft Office PowerPoint</Application>
  <PresentationFormat>Widescreen</PresentationFormat>
  <Slides>23</Slides>
  <Notes>0</Notes>
  <HiddenSlides>0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23</vt:i4>
      </vt:variant>
    </vt:vector>
  </HeadingPairs>
  <TitlesOfParts>
    <vt:vector size="25" baseType="lpstr">
      <vt:lpstr>Classic</vt:lpstr>
      <vt:lpstr>Facetado</vt:lpstr>
      <vt:lpstr>PW I – Programação WEB I</vt:lpstr>
      <vt:lpstr>PW I – Programação WEB I</vt:lpstr>
      <vt:lpstr>PW I – Programação WEB I</vt:lpstr>
      <vt:lpstr>PW I – Programação WEB I</vt:lpstr>
      <vt:lpstr>PW I – Programação WEB I</vt:lpstr>
      <vt:lpstr>PW I – Programação WEB I</vt:lpstr>
      <vt:lpstr>PW I – Programação WEB 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 – Programação Para Internet</dc:title>
  <dc:creator>CARLOS EDUARDO DE CARVALHO</dc:creator>
  <cp:revision>3</cp:revision>
  <dcterms:created xsi:type="dcterms:W3CDTF">2013-07-29T11:29:38Z</dcterms:created>
  <dcterms:modified xsi:type="dcterms:W3CDTF">2024-03-13T00:02:35Z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0x0101005AA46FA0EB10374EAD13049DDADCE40A</vt:lpwstr>
  </property>
</Properties>
</file>