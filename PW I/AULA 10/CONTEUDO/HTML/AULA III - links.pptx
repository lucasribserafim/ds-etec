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4"/>
    <p:sldMasterId id="2147483963" r:id="rId5"/>
  </p:sldMasterIdLst>
  <p:sldIdLst>
    <p:sldId id="256" r:id="rId6"/>
    <p:sldId id="270" r:id="rId7"/>
    <p:sldId id="271" r:id="rId8"/>
    <p:sldId id="275" r:id="rId9"/>
    <p:sldId id="276" r:id="rId10"/>
    <p:sldId id="272" r:id="rId11"/>
    <p:sldId id="273" r:id="rId12"/>
    <p:sldId id="259" r:id="rId13"/>
    <p:sldId id="274" r:id="rId14"/>
    <p:sldId id="260" r:id="rId15"/>
    <p:sldId id="262" r:id="rId16"/>
    <p:sldId id="269" r:id="rId17"/>
    <p:sldId id="298" r:id="rId18"/>
    <p:sldId id="264" r:id="rId19"/>
    <p:sldId id="304" r:id="rId20"/>
    <p:sldId id="306" r:id="rId21"/>
    <p:sldId id="333" r:id="rId22"/>
    <p:sldId id="369" r:id="rId23"/>
    <p:sldId id="265" r:id="rId24"/>
    <p:sldId id="267" r:id="rId25"/>
    <p:sldId id="277" r:id="rId26"/>
    <p:sldId id="332" r:id="rId27"/>
    <p:sldId id="278" r:id="rId28"/>
    <p:sldId id="279" r:id="rId29"/>
    <p:sldId id="299" r:id="rId30"/>
    <p:sldId id="344" r:id="rId31"/>
    <p:sldId id="375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80960" y="142852"/>
            <a:ext cx="11430080" cy="4857784"/>
          </a:xfrm>
          <a:prstGeom prst="roundRect">
            <a:avLst>
              <a:gd name="adj" fmla="val 2353"/>
            </a:avLst>
          </a:prstGeom>
          <a:gradFill>
            <a:gsLst>
              <a:gs pos="0">
                <a:schemeClr val="bg2"/>
              </a:gs>
              <a:gs pos="35000">
                <a:schemeClr val="bg2">
                  <a:lumMod val="90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8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2928935"/>
            <a:ext cx="10668000" cy="1470025"/>
          </a:xfrm>
        </p:spPr>
        <p:txBody>
          <a:bodyPr/>
          <a:lstStyle>
            <a:lvl1pPr algn="ctr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9600" y="5000636"/>
            <a:ext cx="11201440" cy="107157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94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/>
          <p:cNvSpPr/>
          <p:nvPr/>
        </p:nvSpPr>
        <p:spPr>
          <a:xfrm>
            <a:off x="609600" y="274638"/>
            <a:ext cx="109728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3467" y="274638"/>
            <a:ext cx="10248933" cy="914400"/>
          </a:xfrm>
        </p:spPr>
        <p:txBody>
          <a:bodyPr>
            <a:noAutofit/>
          </a:bodyPr>
          <a:lstStyle>
            <a:lvl1pPr marL="742950" indent="-742950" algn="l">
              <a:buFont typeface="+mj-lt"/>
              <a:buNone/>
              <a:defRPr lang="pt-BR" sz="28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  <p:cxnSp>
        <p:nvCxnSpPr>
          <p:cNvPr id="12" name="Straight Connector 16"/>
          <p:cNvCxnSpPr/>
          <p:nvPr/>
        </p:nvCxnSpPr>
        <p:spPr>
          <a:xfrm rot="5400000">
            <a:off x="875208" y="730780"/>
            <a:ext cx="9144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9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1" y="274638"/>
            <a:ext cx="685729" cy="914400"/>
          </a:xfrm>
        </p:spPr>
        <p:txBody>
          <a:bodyPr anchor="ctr"/>
          <a:lstStyle>
            <a:lvl1pPr>
              <a:buNone/>
              <a:defRPr lang="pt-BR" sz="5000" kern="1200" dirty="0" smtClean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671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35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4" name="Rectangle 5"/>
          <p:cNvSpPr/>
          <p:nvPr/>
        </p:nvSpPr>
        <p:spPr>
          <a:xfrm>
            <a:off x="512619" y="1524000"/>
            <a:ext cx="36576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6" name="Straight Connector 9"/>
          <p:cNvCxnSpPr/>
          <p:nvPr/>
        </p:nvCxnSpPr>
        <p:spPr>
          <a:xfrm rot="5400000">
            <a:off x="108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0"/>
          <p:cNvSpPr/>
          <p:nvPr/>
        </p:nvSpPr>
        <p:spPr>
          <a:xfrm>
            <a:off x="4318000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9" name="Straight Connector 12"/>
          <p:cNvCxnSpPr/>
          <p:nvPr/>
        </p:nvCxnSpPr>
        <p:spPr>
          <a:xfrm rot="5400000">
            <a:off x="4890559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/>
          <p:nvPr/>
        </p:nvSpPr>
        <p:spPr>
          <a:xfrm>
            <a:off x="8132619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42" name="Straight Connector 16"/>
          <p:cNvCxnSpPr/>
          <p:nvPr/>
        </p:nvCxnSpPr>
        <p:spPr>
          <a:xfrm rot="5400000">
            <a:off x="870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spaço Reservado para Texto 54"/>
          <p:cNvSpPr>
            <a:spLocks noGrp="1"/>
          </p:cNvSpPr>
          <p:nvPr>
            <p:ph type="body" sz="quarter" idx="14" hasCustomPrompt="1"/>
          </p:nvPr>
        </p:nvSpPr>
        <p:spPr>
          <a:xfrm>
            <a:off x="1407950" y="1533532"/>
            <a:ext cx="2762269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1</a:t>
            </a:r>
          </a:p>
        </p:txBody>
      </p:sp>
      <p:sp>
        <p:nvSpPr>
          <p:cNvPr id="56" name="Espaço Reservado para Texto 54"/>
          <p:cNvSpPr>
            <a:spLocks noGrp="1"/>
          </p:cNvSpPr>
          <p:nvPr>
            <p:ph type="body" sz="quarter" idx="15" hasCustomPrompt="1"/>
          </p:nvPr>
        </p:nvSpPr>
        <p:spPr>
          <a:xfrm>
            <a:off x="5234518" y="1524000"/>
            <a:ext cx="2671245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2</a:t>
            </a:r>
          </a:p>
        </p:txBody>
      </p:sp>
      <p:sp>
        <p:nvSpPr>
          <p:cNvPr id="57" name="Espaço Reservado para Texto 54"/>
          <p:cNvSpPr>
            <a:spLocks noGrp="1"/>
          </p:cNvSpPr>
          <p:nvPr>
            <p:ph type="body" sz="quarter" idx="16" hasCustomPrompt="1"/>
          </p:nvPr>
        </p:nvSpPr>
        <p:spPr>
          <a:xfrm>
            <a:off x="9049136" y="1524000"/>
            <a:ext cx="2666653" cy="904868"/>
          </a:xfrm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3</a:t>
            </a:r>
          </a:p>
        </p:txBody>
      </p:sp>
      <p:sp>
        <p:nvSpPr>
          <p:cNvPr id="59" name="Espaço Reservado para Texto 58"/>
          <p:cNvSpPr>
            <a:spLocks noGrp="1"/>
          </p:cNvSpPr>
          <p:nvPr>
            <p:ph type="body" sz="quarter" idx="17"/>
          </p:nvPr>
        </p:nvSpPr>
        <p:spPr>
          <a:xfrm>
            <a:off x="512619" y="2428868"/>
            <a:ext cx="3657600" cy="388800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0" name="Espaço Reservado para Texto 58"/>
          <p:cNvSpPr>
            <a:spLocks noGrp="1"/>
          </p:cNvSpPr>
          <p:nvPr>
            <p:ph type="body" sz="quarter" idx="18"/>
          </p:nvPr>
        </p:nvSpPr>
        <p:spPr>
          <a:xfrm>
            <a:off x="4318000" y="2428868"/>
            <a:ext cx="3587763" cy="392909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1" name="Espaço Reservado para Texto 58"/>
          <p:cNvSpPr>
            <a:spLocks noGrp="1"/>
          </p:cNvSpPr>
          <p:nvPr>
            <p:ph type="body" sz="quarter" idx="19"/>
          </p:nvPr>
        </p:nvSpPr>
        <p:spPr>
          <a:xfrm>
            <a:off x="8123435" y="2438400"/>
            <a:ext cx="3592355" cy="3835374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3" name="Espaço Reservado para Texto 62"/>
          <p:cNvSpPr>
            <a:spLocks noGrp="1"/>
          </p:cNvSpPr>
          <p:nvPr>
            <p:ph type="body" sz="quarter" idx="20" hasCustomPrompt="1"/>
          </p:nvPr>
        </p:nvSpPr>
        <p:spPr>
          <a:xfrm>
            <a:off x="512619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4" name="Espaço Reservado para Texto 62"/>
          <p:cNvSpPr>
            <a:spLocks noGrp="1"/>
          </p:cNvSpPr>
          <p:nvPr>
            <p:ph type="body" sz="quarter" idx="21" hasCustomPrompt="1"/>
          </p:nvPr>
        </p:nvSpPr>
        <p:spPr>
          <a:xfrm>
            <a:off x="4339187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5" name="Espaço Reservado para Texto 62"/>
          <p:cNvSpPr>
            <a:spLocks noGrp="1"/>
          </p:cNvSpPr>
          <p:nvPr>
            <p:ph type="body" sz="quarter" idx="22" hasCustomPrompt="1"/>
          </p:nvPr>
        </p:nvSpPr>
        <p:spPr>
          <a:xfrm>
            <a:off x="8123435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680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09083" y="2143116"/>
            <a:ext cx="5386917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Rectangle 5"/>
          <p:cNvSpPr/>
          <p:nvPr/>
        </p:nvSpPr>
        <p:spPr>
          <a:xfrm>
            <a:off x="709083" y="1417639"/>
            <a:ext cx="5386917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609568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1</a:t>
            </a:r>
          </a:p>
        </p:txBody>
      </p:sp>
      <p:cxnSp>
        <p:nvCxnSpPr>
          <p:cNvPr id="12" name="Straight Connector 9"/>
          <p:cNvCxnSpPr/>
          <p:nvPr/>
        </p:nvCxnSpPr>
        <p:spPr>
          <a:xfrm rot="5400000">
            <a:off x="1086876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083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Rectangle 5"/>
          <p:cNvSpPr/>
          <p:nvPr/>
        </p:nvSpPr>
        <p:spPr>
          <a:xfrm>
            <a:off x="6193368" y="1417639"/>
            <a:ext cx="5389033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6096000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2</a:t>
            </a:r>
          </a:p>
        </p:txBody>
      </p:sp>
      <p:cxnSp>
        <p:nvCxnSpPr>
          <p:cNvPr id="16" name="Straight Connector 9"/>
          <p:cNvCxnSpPr/>
          <p:nvPr/>
        </p:nvCxnSpPr>
        <p:spPr>
          <a:xfrm rot="5400000">
            <a:off x="6611415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2"/>
          <p:cNvSpPr>
            <a:spLocks noGrp="1"/>
          </p:cNvSpPr>
          <p:nvPr>
            <p:ph type="body" idx="13"/>
          </p:nvPr>
        </p:nvSpPr>
        <p:spPr>
          <a:xfrm>
            <a:off x="695325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5596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485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380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 anchor="ctr"/>
          <a:lstStyle>
            <a:lvl1pPr algn="l">
              <a:defRPr sz="2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88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05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69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46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83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991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8685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6911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442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64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561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752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329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611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985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4242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277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6198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3187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6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3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13/03/2026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99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Programação WEB I</a:t>
            </a:r>
            <a:endParaRPr lang="pt-BR" sz="4000" dirty="0">
              <a:latin typeface="Arial Black" panose="020B0A040201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3</a:t>
            </a:r>
          </a:p>
        </p:txBody>
      </p:sp>
    </p:spTree>
    <p:extLst>
      <p:ext uri="{BB962C8B-B14F-4D97-AF65-F5344CB8AC3E}">
        <p14:creationId xmlns:p14="http://schemas.microsoft.com/office/powerpoint/2010/main" val="318143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8896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47730" y="1455313"/>
            <a:ext cx="9710670" cy="499700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pt-BR" sz="2400" b="1" dirty="0"/>
          </a:p>
          <a:p>
            <a:pPr marL="0" indent="0" algn="ctr">
              <a:buNone/>
            </a:pPr>
            <a:r>
              <a:rPr lang="pt-BR" sz="2400" b="1" dirty="0"/>
              <a:t> Formatação de Textos</a:t>
            </a:r>
          </a:p>
          <a:p>
            <a:pPr marL="0" indent="0">
              <a:buNone/>
            </a:pPr>
            <a:r>
              <a:rPr lang="pt-BR" sz="2400" b="1" dirty="0"/>
              <a:t>Texto diferenciado </a:t>
            </a:r>
          </a:p>
          <a:p>
            <a:pPr marL="0" indent="0">
              <a:buNone/>
            </a:pPr>
            <a:r>
              <a:rPr lang="pt-BR" sz="2400" b="1" dirty="0"/>
              <a:t>O programa é executado com o comando: 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&lt;body&gt;</a:t>
            </a:r>
          </a:p>
          <a:p>
            <a:pPr marL="0" indent="0">
              <a:buNone/>
            </a:pPr>
            <a:r>
              <a:rPr lang="pt-BR" sz="2400" b="1" dirty="0"/>
              <a:t>&lt;br&gt;</a:t>
            </a:r>
          </a:p>
          <a:p>
            <a:pPr marL="0" indent="0">
              <a:buNone/>
            </a:pPr>
            <a:r>
              <a:rPr lang="pt-BR" sz="2400" b="1" dirty="0"/>
              <a:t> &lt;code&gt;java –cp . teste.Main&lt;/code&gt;</a:t>
            </a:r>
          </a:p>
          <a:p>
            <a:pPr marL="0" indent="0">
              <a:buNone/>
            </a:pPr>
            <a:r>
              <a:rPr lang="pt-BR" sz="2400" b="1" dirty="0"/>
              <a:t> &lt;/body&gt; </a:t>
            </a:r>
          </a:p>
          <a:p>
            <a:pPr marL="0" indent="0">
              <a:buNone/>
            </a:pPr>
            <a:r>
              <a:rPr lang="pt-BR" sz="2400" b="1" dirty="0"/>
              <a:t>A tag CODE apresenta o texto marcado como diferenciado, denotando como um trecho de código, por exemplo. 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2490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6266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200" b="1" dirty="0"/>
              <a:t>Texto recuado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sz="2400" b="1" dirty="0"/>
              <a:t>&lt;body&gt; </a:t>
            </a:r>
          </a:p>
          <a:p>
            <a:pPr marL="0" indent="0">
              <a:buNone/>
            </a:pPr>
            <a:r>
              <a:rPr lang="pt-BR" sz="2400" b="1" dirty="0"/>
              <a:t>Texto sem cotação. </a:t>
            </a:r>
          </a:p>
          <a:p>
            <a:pPr marL="0" indent="0">
              <a:buNone/>
            </a:pPr>
            <a:r>
              <a:rPr lang="pt-BR" sz="2400" b="1" dirty="0"/>
              <a:t>&lt;blockquote&gt;Este texto pode ser uma citação.&lt;/blockquote&gt;</a:t>
            </a:r>
          </a:p>
          <a:p>
            <a:pPr marL="0" indent="0">
              <a:buNone/>
            </a:pPr>
            <a:r>
              <a:rPr lang="pt-BR" sz="2400" b="1" dirty="0"/>
              <a:t> E aqui continua o resto do texto. </a:t>
            </a:r>
          </a:p>
          <a:p>
            <a:pPr marL="0" indent="0">
              <a:buNone/>
            </a:pPr>
            <a:r>
              <a:rPr lang="pt-BR" sz="2400" b="1" dirty="0"/>
              <a:t>&lt;/body&gt; </a:t>
            </a:r>
          </a:p>
          <a:p>
            <a:pPr marL="0" indent="0">
              <a:buNone/>
            </a:pPr>
            <a:r>
              <a:rPr lang="pt-BR" sz="2400" b="1" dirty="0"/>
              <a:t>A tag BLOCKQUOTE é usada para fazer uma cotação de texto, ou seja, o texto fica recuado à direita, em relação ao texto que o precede e/ou sucede.</a:t>
            </a:r>
          </a:p>
        </p:txBody>
      </p:sp>
    </p:spTree>
    <p:extLst>
      <p:ext uri="{BB962C8B-B14F-4D97-AF65-F5344CB8AC3E}">
        <p14:creationId xmlns:p14="http://schemas.microsoft.com/office/powerpoint/2010/main" val="112441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4572" y="1825625"/>
            <a:ext cx="9523828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b="1" dirty="0"/>
              <a:t>Linha Horizontal</a:t>
            </a:r>
          </a:p>
          <a:p>
            <a:pPr marL="0" indent="0">
              <a:buNone/>
            </a:pPr>
            <a:r>
              <a:rPr lang="pt-BR" sz="2400" b="1" dirty="0"/>
              <a:t>&lt;body&gt;</a:t>
            </a:r>
          </a:p>
          <a:p>
            <a:pPr marL="0" indent="0">
              <a:buNone/>
            </a:pPr>
            <a:r>
              <a:rPr lang="pt-BR" sz="2400" b="1" dirty="0"/>
              <a:t>Este é o texto superior. </a:t>
            </a:r>
          </a:p>
          <a:p>
            <a:pPr marL="0" indent="0">
              <a:buNone/>
            </a:pPr>
            <a:r>
              <a:rPr lang="pt-BR" sz="2400" b="1" dirty="0"/>
              <a:t>&lt;hr&gt; Este é o texto inferior.</a:t>
            </a:r>
          </a:p>
          <a:p>
            <a:pPr marL="0" indent="0">
              <a:buNone/>
            </a:pPr>
            <a:r>
              <a:rPr lang="pt-BR" sz="2400" b="1" dirty="0"/>
              <a:t> &lt;/body&gt; </a:t>
            </a:r>
          </a:p>
          <a:p>
            <a:pPr marL="0" indent="0">
              <a:buNone/>
            </a:pPr>
            <a:r>
              <a:rPr lang="pt-BR" sz="2400" b="1" dirty="0"/>
              <a:t>HR A tag HR desenha uma linha horizontal na tela.</a:t>
            </a:r>
          </a:p>
          <a:p>
            <a:pPr marL="0" indent="0">
              <a:buNone/>
            </a:pPr>
            <a:r>
              <a:rPr lang="pt-BR" sz="2400" b="1" dirty="0"/>
              <a:t> Os seguintes parâmetros podem ser usados: width – largura da linha (expressa em pixels ou porcentagem). size – altura da linha. color – cor da linha. </a:t>
            </a:r>
          </a:p>
        </p:txBody>
      </p:sp>
    </p:spTree>
    <p:extLst>
      <p:ext uri="{BB962C8B-B14F-4D97-AF65-F5344CB8AC3E}">
        <p14:creationId xmlns:p14="http://schemas.microsoft.com/office/powerpoint/2010/main" val="361431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3335" y="1825625"/>
            <a:ext cx="9775065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                                        Espaços em HTML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Inserir espaços entre textos e figuras HTML é utilizada o seguinte comando de </a:t>
            </a:r>
            <a:r>
              <a:rPr lang="pt-BR" sz="2400" b="1" dirty="0" err="1"/>
              <a:t>caracter</a:t>
            </a:r>
            <a:r>
              <a:rPr lang="pt-BR" sz="2400" b="1" dirty="0"/>
              <a:t>:</a:t>
            </a:r>
          </a:p>
          <a:p>
            <a:pPr marL="0" indent="0">
              <a:buNone/>
            </a:pPr>
            <a:r>
              <a:rPr lang="pt-BR" sz="2400" b="1" dirty="0"/>
              <a:t>&amp;</a:t>
            </a:r>
            <a:r>
              <a:rPr lang="pt-BR" sz="2400" b="1" dirty="0" err="1"/>
              <a:t>nbsp</a:t>
            </a:r>
            <a:r>
              <a:rPr lang="pt-BR" sz="2400" b="1" dirty="0"/>
              <a:t> ; 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                  Bandeira do Brasil 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sz="2400" b="1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30" y="4439456"/>
            <a:ext cx="120298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2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8650" y="1545464"/>
            <a:ext cx="9220200" cy="50871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200" b="1" dirty="0"/>
              <a:t>Cores</a:t>
            </a:r>
            <a:r>
              <a:rPr lang="pt-BR" b="1" dirty="0"/>
              <a:t> </a:t>
            </a:r>
          </a:p>
          <a:p>
            <a:pPr marL="0" indent="0">
              <a:buNone/>
            </a:pPr>
            <a:r>
              <a:rPr lang="pt-BR" sz="2800" b="1" dirty="0"/>
              <a:t>As cores, em HTML, são expressas nas formas de nome pré-existente e, principalmente como representações hexadecimais dos níveis de cores RGB. São 16 os nomes existentes de cores: aqua, black, blue, fuchsia, gray, green, lime, maroon, navy, olive, purple, red, silver, teal, white e yellow.  </a:t>
            </a:r>
          </a:p>
          <a:p>
            <a:pPr marL="0" indent="0">
              <a:buNone/>
            </a:pPr>
            <a:r>
              <a:rPr lang="pt-BR" sz="2800" b="1" dirty="0"/>
              <a:t>Para todas as outras cores use o padrão hexadecimal, que está na forma #RRGGBB. O primeiro caracter é um #, os dois seguintes são a representação hexa do tom de vermelho, os dois do meio o hexa do verde e os dois últimos o hexa do tom de azul. </a:t>
            </a:r>
          </a:p>
        </p:txBody>
      </p:sp>
    </p:spTree>
    <p:extLst>
      <p:ext uri="{BB962C8B-B14F-4D97-AF65-F5344CB8AC3E}">
        <p14:creationId xmlns:p14="http://schemas.microsoft.com/office/powerpoint/2010/main" val="262322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5083" y="1593805"/>
            <a:ext cx="9360685" cy="46266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800" b="1" dirty="0"/>
              <a:t>Listas </a:t>
            </a:r>
          </a:p>
          <a:p>
            <a:pPr marL="0" indent="0">
              <a:buNone/>
            </a:pPr>
            <a:r>
              <a:rPr lang="pt-BR" sz="2800" b="1" dirty="0"/>
              <a:t>Em HTML é possível usar dois tipos de listagens: ordenadas e não- ordenadas. </a:t>
            </a:r>
          </a:p>
          <a:p>
            <a:r>
              <a:rPr lang="pt-BR" sz="2800" b="1" dirty="0"/>
              <a:t>OL Declara uma listagem ordenada (enumerada). Dever marcar o início e o fim da listagem e contar os itens listados dentro da sua marcação. </a:t>
            </a:r>
          </a:p>
          <a:p>
            <a:pPr marL="0" indent="0">
              <a:buNone/>
            </a:pPr>
            <a:r>
              <a:rPr lang="pt-BR" sz="2800" b="1" dirty="0"/>
              <a:t>Aceita os atributos: TYPE (A, a, 1, I), START, COMPACT. LI Declara um item de uma listagem.</a:t>
            </a:r>
          </a:p>
          <a:p>
            <a:pPr marL="0" indent="0">
              <a:buNone/>
            </a:pPr>
            <a:r>
              <a:rPr lang="pt-BR" sz="2800" b="1" dirty="0"/>
              <a:t>Deve marcar o início e o fim do item, apesar dos navegadores aceitarem apenas a marcação inicial.</a:t>
            </a:r>
          </a:p>
          <a:p>
            <a:pPr marL="0" indent="0">
              <a:buNone/>
            </a:pPr>
            <a:r>
              <a:rPr lang="pt-BR" sz="2800" b="1" dirty="0"/>
              <a:t> Aceita os atributos: TYPE, VALUE. </a:t>
            </a:r>
          </a:p>
        </p:txBody>
      </p:sp>
    </p:spTree>
    <p:extLst>
      <p:ext uri="{BB962C8B-B14F-4D97-AF65-F5344CB8AC3E}">
        <p14:creationId xmlns:p14="http://schemas.microsoft.com/office/powerpoint/2010/main" val="372398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669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Exemplo 1 – </a:t>
            </a:r>
          </a:p>
          <a:p>
            <a:pPr marL="0" indent="0">
              <a:buNone/>
            </a:pPr>
            <a:r>
              <a:rPr lang="it-IT" dirty="0"/>
              <a:t>Lista não – ordenada</a:t>
            </a:r>
          </a:p>
          <a:p>
            <a:pPr marL="0" indent="0">
              <a:buNone/>
            </a:pPr>
            <a:r>
              <a:rPr lang="it-IT" dirty="0"/>
              <a:t> &lt;ul&gt;</a:t>
            </a:r>
          </a:p>
          <a:p>
            <a:pPr marL="0" indent="0">
              <a:buNone/>
            </a:pPr>
            <a:r>
              <a:rPr lang="it-IT" dirty="0"/>
              <a:t> &lt;li&gt;Item 1&lt;/li&gt; </a:t>
            </a:r>
          </a:p>
          <a:p>
            <a:pPr marL="0" indent="0">
              <a:buNone/>
            </a:pPr>
            <a:r>
              <a:rPr lang="it-IT" dirty="0"/>
              <a:t>&lt;li&gt;Item 2&lt;/li&gt;</a:t>
            </a:r>
          </a:p>
          <a:p>
            <a:pPr marL="0" indent="0">
              <a:buNone/>
            </a:pPr>
            <a:r>
              <a:rPr lang="it-IT" dirty="0"/>
              <a:t> &lt;li&gt;Item 3&lt;/li&gt;</a:t>
            </a:r>
          </a:p>
          <a:p>
            <a:pPr marL="0" indent="0">
              <a:buNone/>
            </a:pPr>
            <a:r>
              <a:rPr lang="it-IT" dirty="0"/>
              <a:t> &lt;/ul&gt;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610100" y="2514600"/>
            <a:ext cx="2514600" cy="2667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775200" y="28448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. Item 1</a:t>
            </a:r>
          </a:p>
          <a:p>
            <a:r>
              <a:rPr lang="pt-BR" dirty="0"/>
              <a:t>. Item 2</a:t>
            </a:r>
          </a:p>
          <a:p>
            <a:r>
              <a:rPr lang="pt-BR" dirty="0"/>
              <a:t>. Item 3</a:t>
            </a:r>
          </a:p>
        </p:txBody>
      </p:sp>
    </p:spTree>
    <p:extLst>
      <p:ext uri="{BB962C8B-B14F-4D97-AF65-F5344CB8AC3E}">
        <p14:creationId xmlns:p14="http://schemas.microsoft.com/office/powerpoint/2010/main" val="187640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4712" y="1580926"/>
            <a:ext cx="9220200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Exemplo 1 – Lista ordenada </a:t>
            </a:r>
          </a:p>
          <a:p>
            <a:pPr marL="0" indent="0">
              <a:buNone/>
            </a:pPr>
            <a:r>
              <a:rPr lang="it-IT" b="1" dirty="0"/>
              <a:t>&lt;ol&gt;</a:t>
            </a:r>
          </a:p>
          <a:p>
            <a:pPr marL="0" indent="0">
              <a:buNone/>
            </a:pPr>
            <a:r>
              <a:rPr lang="it-IT" b="1" dirty="0"/>
              <a:t> &lt;li&gt;Item 1&lt;/li&gt;</a:t>
            </a:r>
          </a:p>
          <a:p>
            <a:pPr marL="0" indent="0">
              <a:buNone/>
            </a:pPr>
            <a:r>
              <a:rPr lang="it-IT" b="1" dirty="0"/>
              <a:t> &lt;li&gt;Item 2&lt;/li&gt; </a:t>
            </a:r>
          </a:p>
          <a:p>
            <a:pPr marL="0" indent="0">
              <a:buNone/>
            </a:pPr>
            <a:r>
              <a:rPr lang="it-IT" b="1" dirty="0"/>
              <a:t>&lt;li&gt;Item 3&lt;/li&gt; </a:t>
            </a:r>
          </a:p>
          <a:p>
            <a:pPr marL="0" indent="0">
              <a:buNone/>
            </a:pPr>
            <a:r>
              <a:rPr lang="it-IT" b="1" dirty="0"/>
              <a:t>&lt;/ol&gt; </a:t>
            </a:r>
            <a:endParaRPr lang="pt-BR" b="1" dirty="0"/>
          </a:p>
        </p:txBody>
      </p:sp>
      <p:sp>
        <p:nvSpPr>
          <p:cNvPr id="4" name="Retângulo 3"/>
          <p:cNvSpPr/>
          <p:nvPr/>
        </p:nvSpPr>
        <p:spPr>
          <a:xfrm>
            <a:off x="4121239" y="2382592"/>
            <a:ext cx="2125015" cy="22538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14423" y="2730321"/>
            <a:ext cx="4018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1.Item 1</a:t>
            </a:r>
          </a:p>
          <a:p>
            <a:endParaRPr lang="pt-BR" dirty="0"/>
          </a:p>
          <a:p>
            <a:r>
              <a:rPr lang="pt-BR" dirty="0"/>
              <a:t> 2.Item 2</a:t>
            </a:r>
          </a:p>
          <a:p>
            <a:endParaRPr lang="pt-BR" dirty="0"/>
          </a:p>
          <a:p>
            <a:r>
              <a:rPr lang="pt-BR" dirty="0"/>
              <a:t> 3.Item 3</a:t>
            </a:r>
          </a:p>
        </p:txBody>
      </p:sp>
    </p:spTree>
    <p:extLst>
      <p:ext uri="{BB962C8B-B14F-4D97-AF65-F5344CB8AC3E}">
        <p14:creationId xmlns:p14="http://schemas.microsoft.com/office/powerpoint/2010/main" val="3246906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7578" y="965915"/>
            <a:ext cx="11031828" cy="55636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Exemplo 2 – Lista ordenada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it-IT" dirty="0"/>
              <a:t>&lt;ol type="I"&gt;       </a:t>
            </a:r>
          </a:p>
          <a:p>
            <a:pPr marL="0" indent="0">
              <a:buNone/>
            </a:pPr>
            <a:r>
              <a:rPr lang="it-IT" dirty="0"/>
              <a:t> &lt;li&gt;Introdução ao HTML&lt;/li&gt;        </a:t>
            </a:r>
          </a:p>
          <a:p>
            <a:pPr marL="0" indent="0">
              <a:buNone/>
            </a:pPr>
            <a:r>
              <a:rPr lang="it-IT" dirty="0"/>
              <a:t>&lt;li&gt;Formatação&lt;/li&gt;      </a:t>
            </a:r>
          </a:p>
          <a:p>
            <a:pPr marL="0" indent="0">
              <a:buNone/>
            </a:pPr>
            <a:r>
              <a:rPr lang="it-IT" dirty="0"/>
              <a:t> &lt;ol type="A"&gt;             </a:t>
            </a:r>
          </a:p>
          <a:p>
            <a:pPr marL="0" indent="0">
              <a:buNone/>
            </a:pPr>
            <a:r>
              <a:rPr lang="it-IT" dirty="0"/>
              <a:t>&lt;li&gt;Textos             </a:t>
            </a:r>
          </a:p>
          <a:p>
            <a:pPr marL="0" indent="0">
              <a:buNone/>
            </a:pPr>
            <a:r>
              <a:rPr lang="it-IT" dirty="0"/>
              <a:t>&lt;ol type="a"&gt;                  </a:t>
            </a:r>
          </a:p>
          <a:p>
            <a:pPr marL="0" indent="0">
              <a:buNone/>
            </a:pPr>
            <a:r>
              <a:rPr lang="it-IT" dirty="0"/>
              <a:t> &lt;li&gt;B&lt;/li&gt;                   </a:t>
            </a:r>
          </a:p>
          <a:p>
            <a:pPr marL="0" indent="0">
              <a:buNone/>
            </a:pPr>
            <a:r>
              <a:rPr lang="it-IT" dirty="0"/>
              <a:t>&lt;li&gt;FONT&lt;/li&gt;            </a:t>
            </a:r>
          </a:p>
          <a:p>
            <a:pPr marL="0" indent="0">
              <a:buNone/>
            </a:pPr>
            <a:r>
              <a:rPr lang="it-IT" dirty="0"/>
              <a:t> &lt;/ol&gt;</a:t>
            </a:r>
          </a:p>
          <a:p>
            <a:pPr marL="0" indent="0">
              <a:buNone/>
            </a:pPr>
            <a:r>
              <a:rPr lang="it-IT" dirty="0"/>
              <a:t> &lt;/ol&gt;       </a:t>
            </a:r>
          </a:p>
          <a:p>
            <a:pPr marL="0" indent="0">
              <a:buNone/>
            </a:pPr>
            <a:r>
              <a:rPr lang="it-IT" dirty="0"/>
              <a:t> &lt;li&gt;Listagens&lt;/li&gt;  </a:t>
            </a:r>
          </a:p>
          <a:p>
            <a:pPr marL="0" indent="0">
              <a:buNone/>
            </a:pPr>
            <a:r>
              <a:rPr lang="it-IT" dirty="0"/>
              <a:t> &lt;ol type="A"&gt;          </a:t>
            </a:r>
          </a:p>
          <a:p>
            <a:pPr marL="0" indent="0">
              <a:buNone/>
            </a:pPr>
            <a:r>
              <a:rPr lang="it-IT" dirty="0"/>
              <a:t>   &lt;li&gt;OL            </a:t>
            </a:r>
          </a:p>
          <a:p>
            <a:pPr marL="0" indent="0">
              <a:buNone/>
            </a:pPr>
            <a:r>
              <a:rPr lang="it-IT" dirty="0"/>
              <a:t>          &lt;li&gt;UL       </a:t>
            </a:r>
          </a:p>
          <a:p>
            <a:pPr marL="0" indent="0">
              <a:buNone/>
            </a:pPr>
            <a:r>
              <a:rPr lang="it-IT" dirty="0"/>
              <a:t>        &lt;/ol&gt;</a:t>
            </a:r>
          </a:p>
          <a:p>
            <a:pPr marL="0" indent="0">
              <a:buNone/>
            </a:pPr>
            <a:r>
              <a:rPr lang="it-IT" dirty="0"/>
              <a:t>       &lt;/ol&gt;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992451" y="1532586"/>
            <a:ext cx="5383369" cy="4778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4159876" y="1867437"/>
            <a:ext cx="49454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I. Introdução ao HTML</a:t>
            </a:r>
          </a:p>
          <a:p>
            <a:r>
              <a:rPr lang="pt-BR" dirty="0"/>
              <a:t> II.Formatação </a:t>
            </a:r>
          </a:p>
          <a:p>
            <a:r>
              <a:rPr lang="pt-BR" dirty="0"/>
              <a:t>                       A.Textos</a:t>
            </a:r>
          </a:p>
          <a:p>
            <a:r>
              <a:rPr lang="pt-BR" dirty="0"/>
              <a:t>                       a. B</a:t>
            </a:r>
          </a:p>
          <a:p>
            <a:r>
              <a:rPr lang="pt-BR" dirty="0"/>
              <a:t>                       b.Font</a:t>
            </a:r>
          </a:p>
          <a:p>
            <a:r>
              <a:rPr lang="pt-BR" dirty="0"/>
              <a:t>III. Listagens</a:t>
            </a:r>
          </a:p>
          <a:p>
            <a:r>
              <a:rPr lang="pt-BR" dirty="0"/>
              <a:t>                        A.OL</a:t>
            </a:r>
          </a:p>
          <a:p>
            <a:r>
              <a:rPr lang="pt-BR" dirty="0"/>
              <a:t>                        B.UL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387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825625"/>
            <a:ext cx="8937721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Lista não ordenada</a:t>
            </a:r>
          </a:p>
          <a:p>
            <a:r>
              <a:rPr lang="pt-BR" dirty="0"/>
              <a:t>UL Declara uma listagem não-ordenada (com figuras) . </a:t>
            </a:r>
          </a:p>
          <a:p>
            <a:pPr marL="0" indent="0">
              <a:buNone/>
            </a:pPr>
            <a:r>
              <a:rPr lang="pt-BR" dirty="0"/>
              <a:t>Dever marcar o início e o fim da listagem e contar os itens listados dentro da sua marcação. </a:t>
            </a:r>
          </a:p>
          <a:p>
            <a:pPr marL="0" indent="0">
              <a:buNone/>
            </a:pPr>
            <a:r>
              <a:rPr lang="pt-BR" dirty="0"/>
              <a:t>Aceita os atributos: TYPE (SQUARE, CIRCLE, DISC), COMPACT.</a:t>
            </a:r>
          </a:p>
          <a:p>
            <a:r>
              <a:rPr lang="pt-BR" dirty="0"/>
              <a:t> LI Declara um item de uma listagem.</a:t>
            </a:r>
          </a:p>
          <a:p>
            <a:pPr marL="0" indent="0">
              <a:buNone/>
            </a:pPr>
            <a:r>
              <a:rPr lang="pt-BR" dirty="0"/>
              <a:t> Deve marcar o início e o fim do item, apesar dos navegadores aceitarem apenas a marcação inicial. Aceita o atributo: TYPE. </a:t>
            </a:r>
          </a:p>
        </p:txBody>
      </p:sp>
    </p:spTree>
    <p:extLst>
      <p:ext uri="{BB962C8B-B14F-4D97-AF65-F5344CB8AC3E}">
        <p14:creationId xmlns:p14="http://schemas.microsoft.com/office/powerpoint/2010/main" val="147080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6"/>
            <a:ext cx="10515600" cy="51985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 Exemplo 2 – Lista não – ordenada</a:t>
            </a:r>
          </a:p>
          <a:p>
            <a:pPr marL="0" indent="0">
              <a:buNone/>
            </a:pPr>
            <a:r>
              <a:rPr lang="it-IT" dirty="0"/>
              <a:t>&lt;ul type="disc"&gt;    </a:t>
            </a:r>
          </a:p>
          <a:p>
            <a:pPr marL="0" indent="0">
              <a:buNone/>
            </a:pPr>
            <a:r>
              <a:rPr lang="it-IT" dirty="0"/>
              <a:t>&lt;li&gt;Introdução ao HTML&lt;/li&gt;</a:t>
            </a:r>
          </a:p>
          <a:p>
            <a:pPr marL="0" indent="0">
              <a:buNone/>
            </a:pPr>
            <a:r>
              <a:rPr lang="it-IT" dirty="0"/>
              <a:t>&lt;li&gt;Formatação&lt;/li&gt;</a:t>
            </a:r>
          </a:p>
          <a:p>
            <a:pPr marL="0" indent="0">
              <a:buNone/>
            </a:pPr>
            <a:r>
              <a:rPr lang="it-IT" dirty="0"/>
              <a:t> &lt;ul type="square"&gt;    </a:t>
            </a:r>
          </a:p>
          <a:p>
            <a:pPr marL="0" indent="0">
              <a:buNone/>
            </a:pPr>
            <a:r>
              <a:rPr lang="it-IT" dirty="0"/>
              <a:t>  &lt;li&gt;Textos    </a:t>
            </a:r>
          </a:p>
          <a:p>
            <a:pPr marL="0" indent="0">
              <a:buNone/>
            </a:pPr>
            <a:r>
              <a:rPr lang="it-IT" dirty="0"/>
              <a:t>  &lt;ul type="circle"&gt;          </a:t>
            </a:r>
          </a:p>
          <a:p>
            <a:pPr marL="0" indent="0">
              <a:buNone/>
            </a:pPr>
            <a:r>
              <a:rPr lang="it-IT" dirty="0"/>
              <a:t>&lt;li&gt;B&lt;/li&gt; </a:t>
            </a:r>
          </a:p>
          <a:p>
            <a:pPr marL="0" indent="0">
              <a:buNone/>
            </a:pPr>
            <a:r>
              <a:rPr lang="it-IT" dirty="0"/>
              <a:t> &lt;li&gt;FONT&lt;/li&gt;   </a:t>
            </a:r>
          </a:p>
          <a:p>
            <a:pPr marL="0" indent="0">
              <a:buNone/>
            </a:pPr>
            <a:r>
              <a:rPr lang="it-IT" dirty="0"/>
              <a:t> &lt;/ul&gt; </a:t>
            </a:r>
          </a:p>
          <a:p>
            <a:pPr marL="0" indent="0">
              <a:buNone/>
            </a:pPr>
            <a:r>
              <a:rPr lang="it-IT" dirty="0"/>
              <a:t> &lt;/ul&gt;   </a:t>
            </a:r>
          </a:p>
          <a:p>
            <a:pPr marL="0" indent="0">
              <a:buNone/>
            </a:pPr>
            <a:r>
              <a:rPr lang="it-IT" dirty="0"/>
              <a:t> &lt;li&gt;Listagens&lt;/li&gt; </a:t>
            </a:r>
          </a:p>
          <a:p>
            <a:pPr marL="0" indent="0">
              <a:buNone/>
            </a:pPr>
            <a:r>
              <a:rPr lang="it-IT" dirty="0"/>
              <a:t> &lt;ul type="square</a:t>
            </a:r>
          </a:p>
          <a:p>
            <a:pPr marL="0" indent="0">
              <a:buNone/>
            </a:pPr>
            <a:r>
              <a:rPr lang="it-IT" dirty="0"/>
              <a:t>&lt;li&gt;OL  </a:t>
            </a:r>
          </a:p>
          <a:p>
            <a:pPr marL="0" indent="0">
              <a:buNone/>
            </a:pPr>
            <a:r>
              <a:rPr lang="it-IT" dirty="0"/>
              <a:t>  &lt;li&gt;UL</a:t>
            </a:r>
          </a:p>
          <a:p>
            <a:pPr marL="0" indent="0">
              <a:buNone/>
            </a:pPr>
            <a:r>
              <a:rPr lang="it-IT" dirty="0"/>
              <a:t>  &lt;/ul&gt;</a:t>
            </a:r>
          </a:p>
          <a:p>
            <a:pPr marL="0" indent="0">
              <a:buNone/>
            </a:pPr>
            <a:r>
              <a:rPr lang="it-IT" dirty="0"/>
              <a:t> &lt;/ul&gt; 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000500" y="2184400"/>
            <a:ext cx="3213100" cy="381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152900" y="2514600"/>
            <a:ext cx="284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Introdução ao HTML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Formatação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pt-BR" dirty="0"/>
              <a:t>Textos</a:t>
            </a:r>
          </a:p>
          <a:p>
            <a:pPr marL="285750" indent="-285750" algn="ctr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t-BR" dirty="0"/>
              <a:t>B </a:t>
            </a:r>
          </a:p>
          <a:p>
            <a:pPr marL="285750" indent="-285750" algn="ctr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pt-BR" dirty="0"/>
              <a:t>FONT              </a:t>
            </a:r>
          </a:p>
          <a:p>
            <a:pPr algn="ctr">
              <a:buClr>
                <a:schemeClr val="tx1"/>
              </a:buClr>
            </a:pPr>
            <a:endParaRPr lang="pt-BR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dirty="0"/>
              <a:t>Listagens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/>
              <a:t>    OL</a:t>
            </a:r>
          </a:p>
          <a:p>
            <a:pPr marL="285750" indent="-285750" algn="ctr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/>
              <a:t>    UL</a:t>
            </a:r>
          </a:p>
        </p:txBody>
      </p:sp>
    </p:spTree>
    <p:extLst>
      <p:ext uri="{BB962C8B-B14F-4D97-AF65-F5344CB8AC3E}">
        <p14:creationId xmlns:p14="http://schemas.microsoft.com/office/powerpoint/2010/main" val="1770250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>
          <a:xfrm>
            <a:off x="1343473" y="764705"/>
            <a:ext cx="8785225" cy="581025"/>
          </a:xfrm>
        </p:spPr>
        <p:txBody>
          <a:bodyPr/>
          <a:lstStyle/>
          <a:p>
            <a:pPr eaLnBrk="1" hangingPunct="1"/>
            <a:r>
              <a:rPr lang="pt-BR" sz="2800" b="1" dirty="0" err="1">
                <a:solidFill>
                  <a:schemeClr val="tx1"/>
                </a:solidFill>
              </a:rPr>
              <a:t>Tags</a:t>
            </a:r>
            <a:r>
              <a:rPr lang="pt-BR" sz="2800" b="1" dirty="0">
                <a:solidFill>
                  <a:schemeClr val="tx1"/>
                </a:solidFill>
              </a:rPr>
              <a:t> para listas</a:t>
            </a:r>
          </a:p>
        </p:txBody>
      </p:sp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/>
              <a:t>Em HTML podem ser criadas listas ordenadas (numéricas, alfabéticas etc.) ou não ordenadas (utiliza marcadores como imagens).</a:t>
            </a:r>
          </a:p>
          <a:p>
            <a:endParaRPr lang="pt-BR" sz="2000" dirty="0"/>
          </a:p>
          <a:p>
            <a:r>
              <a:rPr lang="pt-BR" sz="2000" dirty="0"/>
              <a:t>&lt;</a:t>
            </a:r>
            <a:r>
              <a:rPr lang="pt-BR" sz="2000" dirty="0" err="1"/>
              <a:t>ol</a:t>
            </a:r>
            <a:r>
              <a:rPr lang="pt-BR" sz="2000" dirty="0"/>
              <a:t>&gt; - lista ordenada</a:t>
            </a:r>
            <a:br>
              <a:rPr lang="pt-BR" sz="2000" dirty="0"/>
            </a:br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it-IT" sz="2000" dirty="0"/>
              <a:t>&lt;ul&gt; - lista não ordenada</a:t>
            </a:r>
            <a:br>
              <a:rPr lang="it-IT" sz="2000" dirty="0"/>
            </a:br>
            <a:endParaRPr lang="pt-BR" sz="2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78795"/>
            <a:ext cx="2914650" cy="162877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04" y="4462041"/>
            <a:ext cx="2914650" cy="162877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52" y="3140968"/>
            <a:ext cx="3007117" cy="122413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260" y="5219708"/>
            <a:ext cx="2910576" cy="1161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29520"/>
            <a:ext cx="8073980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" y="1456207"/>
            <a:ext cx="10515600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Imagem </a:t>
            </a:r>
          </a:p>
          <a:p>
            <a:pPr marL="0" indent="0">
              <a:buNone/>
            </a:pPr>
            <a:r>
              <a:rPr lang="pt-BR" dirty="0"/>
              <a:t>IMG A referência à imagem é feita por meio da tag IMG. </a:t>
            </a:r>
          </a:p>
          <a:p>
            <a:pPr marL="0" indent="0">
              <a:buNone/>
            </a:pPr>
            <a:r>
              <a:rPr lang="pt-BR" dirty="0"/>
              <a:t>Esta tag aceita os seguintes parâmetros: </a:t>
            </a:r>
          </a:p>
          <a:p>
            <a:pPr marL="0" indent="0">
              <a:buNone/>
            </a:pPr>
            <a:r>
              <a:rPr lang="pt-BR" dirty="0"/>
              <a:t>SRC – Caminho da imagem - URL absoluta ou relativa (obrigatório). </a:t>
            </a:r>
          </a:p>
          <a:p>
            <a:pPr marL="0" indent="0">
              <a:buNone/>
            </a:pPr>
            <a:r>
              <a:rPr lang="pt-BR" dirty="0"/>
              <a:t>ALT – Mensagem a ser exibida sobre a imagem (tooltip).</a:t>
            </a:r>
          </a:p>
          <a:p>
            <a:pPr marL="0" indent="0">
              <a:buNone/>
            </a:pPr>
            <a:r>
              <a:rPr lang="pt-BR" dirty="0"/>
              <a:t> WIDTH – Largura da imagem, em pixels.</a:t>
            </a:r>
          </a:p>
          <a:p>
            <a:pPr marL="0" indent="0">
              <a:buNone/>
            </a:pPr>
            <a:r>
              <a:rPr lang="pt-BR" dirty="0"/>
              <a:t> HEIGHT – Altura da imagem, em pixels.</a:t>
            </a:r>
          </a:p>
          <a:p>
            <a:pPr marL="0" indent="0">
              <a:buNone/>
            </a:pPr>
            <a:r>
              <a:rPr lang="pt-BR" dirty="0"/>
              <a:t> BORDER – Define a largura da borda da imagem ( 0 = sem borda ).</a:t>
            </a:r>
          </a:p>
          <a:p>
            <a:pPr marL="0" indent="0">
              <a:buNone/>
            </a:pPr>
            <a:r>
              <a:rPr lang="pt-BR" dirty="0"/>
              <a:t> ALIGN – Alinhamento da imagem em relação ao texto (LEFT, RIGHT, TOP, BOTTOM, MIDDLE).</a:t>
            </a:r>
          </a:p>
        </p:txBody>
      </p:sp>
    </p:spTree>
    <p:extLst>
      <p:ext uri="{BB962C8B-B14F-4D97-AF65-F5344CB8AC3E}">
        <p14:creationId xmlns:p14="http://schemas.microsoft.com/office/powerpoint/2010/main" val="69746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1488131" y="836713"/>
            <a:ext cx="8785225" cy="581025"/>
          </a:xfrm>
        </p:spPr>
        <p:txBody>
          <a:bodyPr/>
          <a:lstStyle/>
          <a:p>
            <a:pPr eaLnBrk="1" hangingPunct="1"/>
            <a:r>
              <a:rPr lang="pt-BR" sz="2800" b="1" dirty="0">
                <a:solidFill>
                  <a:schemeClr val="tx1"/>
                </a:solidFill>
              </a:rPr>
              <a:t>Referências Absolutas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>
          <a:xfrm>
            <a:off x="1703513" y="1815480"/>
            <a:ext cx="8785225" cy="5141913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Uma referência absoluta é aquela que inclui todo o caminho de um arquivo, incluindo o protocolo de comunicação (HTTP, por exemplo). Essa referência é válida sempre que o arquivo permaneça em um mesmo diretório.</a:t>
            </a:r>
          </a:p>
          <a:p>
            <a:pPr marL="0" indent="0" algn="just">
              <a:buNone/>
            </a:pPr>
            <a:endParaRPr lang="pt-BR" sz="2400" dirty="0"/>
          </a:p>
          <a:p>
            <a:pPr marL="0" indent="0" algn="just">
              <a:buNone/>
            </a:pPr>
            <a:r>
              <a:rPr lang="pt-BR" sz="2400" dirty="0"/>
              <a:t>Utilizam-se referências absolutas sempre que desejar referenciar um arquivo que não faz parte da página construída.</a:t>
            </a:r>
          </a:p>
          <a:p>
            <a:pPr marL="0" indent="0" algn="just">
              <a:buNone/>
            </a:pPr>
            <a:endParaRPr lang="pt-BR" sz="2400" dirty="0">
              <a:cs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="http://meusite.com/img/selfie.png"/&gt;</a:t>
            </a:r>
          </a:p>
        </p:txBody>
      </p:sp>
    </p:spTree>
    <p:extLst>
      <p:ext uri="{BB962C8B-B14F-4D97-AF65-F5344CB8AC3E}">
        <p14:creationId xmlns:p14="http://schemas.microsoft.com/office/powerpoint/2010/main" val="370823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1553261" y="836614"/>
            <a:ext cx="8785225" cy="581025"/>
          </a:xfrm>
        </p:spPr>
        <p:txBody>
          <a:bodyPr/>
          <a:lstStyle/>
          <a:p>
            <a:pPr eaLnBrk="1" hangingPunct="1"/>
            <a:r>
              <a:rPr lang="pt-BR" sz="2800" b="1" dirty="0">
                <a:solidFill>
                  <a:schemeClr val="tx1"/>
                </a:solidFill>
              </a:rPr>
              <a:t>Referências Relativas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>
          <a:xfrm>
            <a:off x="1730685" y="1695737"/>
            <a:ext cx="8785225" cy="5141913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/>
              <a:t>Uma referência relativa é aquela que se expressa a partir de um diretório conhecido, dentro da mesma página.</a:t>
            </a:r>
          </a:p>
          <a:p>
            <a:pPr marL="0" indent="0" algn="just">
              <a:buNone/>
            </a:pP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no mesmo diretório:</a:t>
            </a:r>
          </a:p>
          <a:p>
            <a:pPr marL="0" indent="0" algn="ctr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="imagem1.png"/&gt;</a:t>
            </a:r>
          </a:p>
          <a:p>
            <a:pPr marL="0" indent="0" algn="ctr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ou na pasta filha </a:t>
            </a:r>
            <a:r>
              <a:rPr lang="pt-BR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 algn="ctr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pt-BR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/imagem1.png"/&gt;</a:t>
            </a:r>
          </a:p>
          <a:p>
            <a:pPr marL="0" indent="0" algn="just">
              <a:buNone/>
            </a:pP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pt-BR" sz="2000" dirty="0"/>
              <a:t>Caso a pasta "</a:t>
            </a:r>
            <a:r>
              <a:rPr lang="pt-BR" sz="2000" dirty="0" err="1"/>
              <a:t>img</a:t>
            </a:r>
            <a:r>
              <a:rPr lang="pt-BR" sz="2000" dirty="0"/>
              <a:t>" esteja um nível acima da pasta atual, utiliza-se algo como:</a:t>
            </a:r>
          </a:p>
          <a:p>
            <a:pPr marL="0" indent="0" algn="just">
              <a:buNone/>
            </a:pP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pt-BR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../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/imagem1.png"/&gt;</a:t>
            </a:r>
          </a:p>
          <a:p>
            <a:pPr marL="0" indent="0" algn="just">
              <a:buNone/>
            </a:pP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8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764705"/>
            <a:ext cx="8785225" cy="581025"/>
          </a:xfrm>
        </p:spPr>
        <p:txBody>
          <a:bodyPr/>
          <a:lstStyle/>
          <a:p>
            <a:r>
              <a:rPr lang="pt-BR" sz="2800" b="1" dirty="0" err="1">
                <a:solidFill>
                  <a:schemeClr val="tx1"/>
                </a:solidFill>
              </a:rPr>
              <a:t>Tag</a:t>
            </a:r>
            <a:r>
              <a:rPr lang="pt-BR" sz="2800" b="1" dirty="0">
                <a:solidFill>
                  <a:schemeClr val="tx1"/>
                </a:solidFill>
              </a:rPr>
              <a:t> para Imagens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pt-BR" sz="2400" dirty="0"/>
              <a:t>Imagens suportadas nas páginas Web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pt-BR" sz="2000" dirty="0"/>
              <a:t>GIF / GIF animado</a:t>
            </a:r>
            <a:br>
              <a:rPr lang="pt-BR" sz="2000" dirty="0"/>
            </a:br>
            <a:r>
              <a:rPr lang="pt-BR" sz="2000" dirty="0"/>
              <a:t>- ideal para desenhos, ícones, figuras simples e animações simples</a:t>
            </a:r>
            <a:br>
              <a:rPr lang="pt-BR" sz="2000" dirty="0"/>
            </a:br>
            <a:r>
              <a:rPr lang="pt-BR" sz="2000" dirty="0"/>
              <a:t>- máximo de 256 cores</a:t>
            </a:r>
            <a:br>
              <a:rPr lang="pt-BR" sz="2000" dirty="0"/>
            </a:br>
            <a:r>
              <a:rPr lang="pt-BR" sz="2000" dirty="0"/>
              <a:t>- permite transparência</a:t>
            </a:r>
            <a:br>
              <a:rPr lang="pt-BR" sz="2000" dirty="0"/>
            </a:br>
            <a:endParaRPr lang="pt-BR" sz="2000" dirty="0"/>
          </a:p>
          <a:p>
            <a:pPr lvl="1" eaLnBrk="1" hangingPunct="1">
              <a:lnSpc>
                <a:spcPct val="80000"/>
              </a:lnSpc>
            </a:pPr>
            <a:r>
              <a:rPr lang="pt-BR" sz="2000" dirty="0"/>
              <a:t>JPG (a mesma coisa de JPEG)</a:t>
            </a:r>
            <a:br>
              <a:rPr lang="pt-BR" sz="2000" dirty="0"/>
            </a:br>
            <a:r>
              <a:rPr lang="pt-BR" sz="2000" dirty="0"/>
              <a:t>- ideal para banners de sites, imagens para compor o layout da página e fotos </a:t>
            </a:r>
            <a:br>
              <a:rPr lang="pt-BR" sz="2000" dirty="0"/>
            </a:br>
            <a:r>
              <a:rPr lang="pt-BR" sz="2000" dirty="0"/>
              <a:t>- mais de 16 milhões de cores</a:t>
            </a:r>
            <a:br>
              <a:rPr lang="pt-BR" sz="2000" dirty="0"/>
            </a:br>
            <a:endParaRPr lang="pt-BR" sz="2000" dirty="0"/>
          </a:p>
          <a:p>
            <a:pPr lvl="1" eaLnBrk="1" hangingPunct="1">
              <a:lnSpc>
                <a:spcPct val="80000"/>
              </a:lnSpc>
            </a:pPr>
            <a:r>
              <a:rPr lang="pt-BR" sz="2000" dirty="0"/>
              <a:t>PNG </a:t>
            </a:r>
            <a:br>
              <a:rPr lang="pt-BR" sz="2000" dirty="0"/>
            </a:br>
            <a:r>
              <a:rPr lang="pt-BR" sz="2000" dirty="0"/>
              <a:t>- formato livre para imagens</a:t>
            </a:r>
            <a:br>
              <a:rPr lang="pt-BR" sz="2000" dirty="0"/>
            </a:br>
            <a:r>
              <a:rPr lang="pt-BR" sz="2000" dirty="0"/>
              <a:t>- aceita mais de 16 milhões de cores</a:t>
            </a:r>
            <a:br>
              <a:rPr lang="pt-BR" sz="2000" dirty="0"/>
            </a:br>
            <a:r>
              <a:rPr lang="pt-BR" sz="2000" dirty="0"/>
              <a:t>- não perde resolução no processo de salvar a imagem</a:t>
            </a:r>
            <a:br>
              <a:rPr lang="pt-BR" sz="2000" dirty="0"/>
            </a:br>
            <a:r>
              <a:rPr lang="pt-BR" sz="2000" dirty="0"/>
              <a:t>- permite transparência</a:t>
            </a:r>
          </a:p>
          <a:p>
            <a:pPr eaLnBrk="1" hangingPunct="1">
              <a:lnSpc>
                <a:spcPct val="80000"/>
              </a:lnSpc>
            </a:pPr>
            <a:endParaRPr lang="pt-BR" dirty="0"/>
          </a:p>
          <a:p>
            <a:pPr eaLnBrk="1" hangingPunct="1">
              <a:lnSpc>
                <a:spcPct val="80000"/>
              </a:lnSpc>
            </a:pPr>
            <a:r>
              <a:rPr lang="pt-BR" dirty="0"/>
              <a:t>Testar exemploTAG_IMG.html disponível no arquivo zipado </a:t>
            </a:r>
            <a:r>
              <a:rPr lang="pt-BR" dirty="0" err="1"/>
              <a:t>exemplosHTML</a:t>
            </a:r>
            <a:r>
              <a:rPr lang="pt-BR" dirty="0"/>
              <a:t> (</a:t>
            </a:r>
            <a:r>
              <a:rPr lang="pt-BR" dirty="0" err="1"/>
              <a:t>Blackboard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0954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tx1"/>
                </a:solidFill>
              </a:rPr>
              <a:t>Tag</a:t>
            </a:r>
            <a:r>
              <a:rPr lang="pt-BR" b="1" dirty="0">
                <a:solidFill>
                  <a:schemeClr val="tx1"/>
                </a:solidFill>
              </a:rPr>
              <a:t> para Imagens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3344" y="1887488"/>
            <a:ext cx="8785225" cy="5141913"/>
          </a:xfrm>
        </p:spPr>
        <p:txBody>
          <a:bodyPr/>
          <a:lstStyle/>
          <a:p>
            <a:pPr marL="0" indent="0">
              <a:buNone/>
            </a:pPr>
            <a: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img</a:t>
            </a:r>
            <a: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3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pt-BR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="imagem1.png"</a:t>
            </a:r>
          </a:p>
          <a:p>
            <a:pPr marL="0" indent="0">
              <a:buNone/>
            </a:pPr>
            <a:endParaRPr lang="pt-BR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pt-BR" sz="32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</a:t>
            </a:r>
            <a:r>
              <a:rPr lang="pt-BR" sz="32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="Imagem 1"</a:t>
            </a:r>
          </a:p>
          <a:p>
            <a:pPr marL="457200" lvl="1" indent="0">
              <a:buNone/>
            </a:pPr>
            <a:b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pt-BR" sz="3200" dirty="0" err="1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pt-BR" sz="3200" dirty="0">
                <a:solidFill>
                  <a:srgbClr val="92D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="Minha IMG"</a:t>
            </a:r>
            <a:r>
              <a:rPr lang="pt-BR" sz="3200" dirty="0"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endParaRPr lang="pt-BR" sz="20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8262423" y="1527157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 do arquivo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515686" y="2612648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Info. para leitores de tela ou link quebrado da imagem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943871" y="5994177"/>
            <a:ext cx="539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Texto exibido ao passar o mouse sobre a imagem</a:t>
            </a:r>
          </a:p>
        </p:txBody>
      </p:sp>
      <p:cxnSp>
        <p:nvCxnSpPr>
          <p:cNvPr id="8" name="Conector de seta reta 7"/>
          <p:cNvCxnSpPr>
            <a:stCxn id="4" idx="2"/>
          </p:cNvCxnSpPr>
          <p:nvPr/>
        </p:nvCxnSpPr>
        <p:spPr>
          <a:xfrm flipH="1">
            <a:off x="7680177" y="1896490"/>
            <a:ext cx="1553025" cy="308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H="1">
            <a:off x="7500344" y="3258979"/>
            <a:ext cx="683889" cy="21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H="1" flipV="1">
            <a:off x="5087889" y="4797153"/>
            <a:ext cx="2493917" cy="10591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39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048" y="352247"/>
            <a:ext cx="8151253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1377" y="1545464"/>
            <a:ext cx="9503536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Imagem - Exemplo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800" dirty="0"/>
              <a:t>&lt;img src="imagens/getjava.gif" width="88" height="31" alt="Get Java"&gt; 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endParaRPr lang="pt-BR" sz="2800" u="sng" dirty="0"/>
          </a:p>
        </p:txBody>
      </p:sp>
      <p:pic>
        <p:nvPicPr>
          <p:cNvPr id="4" name="Picture 1178"/>
          <p:cNvPicPr/>
          <p:nvPr/>
        </p:nvPicPr>
        <p:blipFill>
          <a:blip r:embed="rId2"/>
          <a:stretch>
            <a:fillRect/>
          </a:stretch>
        </p:blipFill>
        <p:spPr>
          <a:xfrm>
            <a:off x="3676650" y="4443412"/>
            <a:ext cx="18669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5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03763"/>
            <a:ext cx="8228527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10615"/>
            <a:ext cx="8228527" cy="4966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</a:t>
            </a:r>
            <a:r>
              <a:rPr lang="pt-BR" u="sng" dirty="0"/>
              <a:t>Alinhamento das Imagens</a:t>
            </a:r>
          </a:p>
          <a:p>
            <a:pPr marL="0" indent="0">
              <a:buNone/>
            </a:pPr>
            <a:endParaRPr lang="pt-BR" u="sng" dirty="0"/>
          </a:p>
        </p:txBody>
      </p:sp>
      <p:pic>
        <p:nvPicPr>
          <p:cNvPr id="4" name="Picture 878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42868"/>
            <a:ext cx="7940040" cy="464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99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425" y="609600"/>
            <a:ext cx="9594761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6366" y="1596981"/>
            <a:ext cx="9375820" cy="44443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LINKS E  ANCORAS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possível se criar um vínculo (ou </a:t>
            </a:r>
            <a:r>
              <a:rPr lang="pt-BR" i="1" dirty="0"/>
              <a:t>link</a:t>
            </a:r>
            <a:r>
              <a:rPr lang="pt-BR" dirty="0"/>
              <a:t>) de uma página web para outra, bem como um </a:t>
            </a:r>
          </a:p>
          <a:p>
            <a:pPr marL="0" indent="0">
              <a:buNone/>
            </a:pPr>
            <a:r>
              <a:rPr lang="pt-BR" dirty="0"/>
              <a:t>vínculo para qualquer outro recurso que possa estar disponível local ou  remotamente, por meio de uma referência. </a:t>
            </a:r>
          </a:p>
          <a:p>
            <a:pPr marL="0" indent="0">
              <a:buNone/>
            </a:pPr>
            <a:r>
              <a:rPr lang="pt-BR" dirty="0"/>
              <a:t>Tanto um texto, quanto uma imagem podem ser vinculados a um outro recurso. </a:t>
            </a:r>
          </a:p>
          <a:p>
            <a:pPr marL="0" indent="0">
              <a:buNone/>
            </a:pPr>
            <a:r>
              <a:rPr lang="pt-BR" dirty="0"/>
              <a:t>Quando um </a:t>
            </a:r>
            <a:r>
              <a:rPr lang="pt-BR" i="1" dirty="0"/>
              <a:t>link </a:t>
            </a:r>
            <a:r>
              <a:rPr lang="pt-BR" dirty="0"/>
              <a:t>é criado, o texto ou imagem que possui o vínculo pode levar o </a:t>
            </a:r>
          </a:p>
          <a:p>
            <a:pPr marL="0" indent="0">
              <a:buNone/>
            </a:pPr>
            <a:r>
              <a:rPr lang="pt-BR" dirty="0"/>
              <a:t>usuário ao recurso </a:t>
            </a:r>
            <a:r>
              <a:rPr lang="pt-BR" dirty="0" err="1"/>
              <a:t>referênciado</a:t>
            </a:r>
            <a:r>
              <a:rPr lang="pt-BR" dirty="0"/>
              <a:t> através de um simples clique do mouse em cima do elemento vinculado. </a:t>
            </a:r>
          </a:p>
          <a:p>
            <a:pPr marL="0" indent="0">
              <a:buNone/>
            </a:pPr>
            <a:r>
              <a:rPr lang="pt-BR" dirty="0"/>
              <a:t>Outra vantagens dos </a:t>
            </a:r>
            <a:r>
              <a:rPr lang="pt-BR" i="1" dirty="0"/>
              <a:t>links </a:t>
            </a:r>
            <a:r>
              <a:rPr lang="pt-BR" dirty="0"/>
              <a:t>é a de poder posicionar a tela da página em um </a:t>
            </a:r>
          </a:p>
          <a:p>
            <a:pPr marL="0" indent="0">
              <a:buNone/>
            </a:pPr>
            <a:r>
              <a:rPr lang="pt-BR" dirty="0"/>
              <a:t>determinado ponto. Isso é muito útil quando se tem um texto ou conteúdo extenso e </a:t>
            </a:r>
          </a:p>
          <a:p>
            <a:pPr marL="0" indent="0">
              <a:buNone/>
            </a:pPr>
            <a:r>
              <a:rPr lang="pt-BR" dirty="0"/>
              <a:t>se deseja ir diretamente a um tópico ou ponto do texto. Isso é feito através dos </a:t>
            </a:r>
            <a:r>
              <a:rPr lang="pt-BR" i="1" dirty="0"/>
              <a:t>links 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e das âncoras. </a:t>
            </a:r>
          </a:p>
        </p:txBody>
      </p:sp>
    </p:spTree>
    <p:extLst>
      <p:ext uri="{BB962C8B-B14F-4D97-AF65-F5344CB8AC3E}">
        <p14:creationId xmlns:p14="http://schemas.microsoft.com/office/powerpoint/2010/main" val="3440297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5" y="764705"/>
            <a:ext cx="8785225" cy="581025"/>
          </a:xfrm>
        </p:spPr>
        <p:txBody>
          <a:bodyPr/>
          <a:lstStyle/>
          <a:p>
            <a:r>
              <a:rPr lang="pt-BR" sz="2800" b="1" dirty="0" err="1">
                <a:solidFill>
                  <a:schemeClr val="tx1"/>
                </a:solidFill>
              </a:rPr>
              <a:t>Tag</a:t>
            </a:r>
            <a:r>
              <a:rPr lang="pt-BR" sz="2800" b="1" dirty="0">
                <a:solidFill>
                  <a:schemeClr val="tx1"/>
                </a:solidFill>
              </a:rPr>
              <a:t> para Links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1500" y="1600201"/>
            <a:ext cx="8964612" cy="51419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pt-BR" sz="2400" dirty="0"/>
              <a:t>Utilizado para ligação das páginas.</a:t>
            </a:r>
          </a:p>
          <a:p>
            <a:pPr marL="0" indent="0">
              <a:lnSpc>
                <a:spcPct val="80000"/>
              </a:lnSpc>
              <a:buNone/>
            </a:pPr>
            <a:endParaRPr lang="pt-BR" sz="105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sz="2000" dirty="0"/>
              <a:t>	Exemplos: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- para acessar um arquivo que está dentro de uma pasta filha </a:t>
            </a:r>
            <a:r>
              <a:rPr lang="pt-BR" sz="2000" dirty="0">
                <a:solidFill>
                  <a:srgbClr val="CC3300"/>
                </a:solidFill>
              </a:rPr>
              <a:t>paginas</a:t>
            </a:r>
            <a:r>
              <a:rPr lang="pt-BR" sz="2000" dirty="0"/>
              <a:t>, a partir do diretório principal do projeto</a:t>
            </a:r>
            <a:br>
              <a:rPr lang="pt-BR" sz="2000" dirty="0"/>
            </a:br>
            <a:r>
              <a:rPr lang="pt-BR" sz="2000" dirty="0">
                <a:solidFill>
                  <a:srgbClr val="0000FF"/>
                </a:solidFill>
              </a:rPr>
              <a:t>&lt;a </a:t>
            </a:r>
            <a:r>
              <a:rPr lang="pt-BR" sz="2000" dirty="0" err="1">
                <a:solidFill>
                  <a:srgbClr val="0000FF"/>
                </a:solidFill>
              </a:rPr>
              <a:t>href</a:t>
            </a:r>
            <a:r>
              <a:rPr lang="pt-BR" sz="2000" dirty="0">
                <a:solidFill>
                  <a:srgbClr val="0070C0"/>
                </a:solidFill>
              </a:rPr>
              <a:t>=</a:t>
            </a:r>
            <a:r>
              <a:rPr lang="pt-BR" sz="2000" dirty="0">
                <a:solidFill>
                  <a:srgbClr val="CC3300"/>
                </a:solidFill>
              </a:rPr>
              <a:t>"paginas</a:t>
            </a:r>
            <a:r>
              <a:rPr lang="pt-BR" sz="2000" b="1" dirty="0">
                <a:solidFill>
                  <a:srgbClr val="CC3300"/>
                </a:solidFill>
              </a:rPr>
              <a:t>/</a:t>
            </a:r>
            <a:r>
              <a:rPr lang="pt-BR" sz="2000" dirty="0">
                <a:solidFill>
                  <a:srgbClr val="CC3300"/>
                </a:solidFill>
              </a:rPr>
              <a:t>gato.html"</a:t>
            </a:r>
            <a:r>
              <a:rPr lang="pt-BR" sz="2000" dirty="0">
                <a:solidFill>
                  <a:srgbClr val="0000FF"/>
                </a:solidFill>
              </a:rPr>
              <a:t>&gt;</a:t>
            </a:r>
            <a:r>
              <a:rPr lang="pt-BR" sz="2000" dirty="0">
                <a:solidFill>
                  <a:srgbClr val="00B050"/>
                </a:solidFill>
              </a:rPr>
              <a:t>Texto ou conteúdo do enlace</a:t>
            </a:r>
            <a:r>
              <a:rPr lang="pt-BR" sz="2000" dirty="0">
                <a:solidFill>
                  <a:srgbClr val="0000FF"/>
                </a:solidFill>
              </a:rPr>
              <a:t>&lt;/a&gt;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- para acessar um arquivo que se encontra em um nível superior, a partir da pasta do arquivo atual</a:t>
            </a:r>
            <a:br>
              <a:rPr lang="pt-BR" sz="2000" dirty="0"/>
            </a:br>
            <a:r>
              <a:rPr lang="pt-BR" sz="2000" dirty="0">
                <a:solidFill>
                  <a:srgbClr val="0000FF"/>
                </a:solidFill>
              </a:rPr>
              <a:t>&lt;a </a:t>
            </a:r>
            <a:r>
              <a:rPr lang="pt-BR" sz="2000" dirty="0" err="1">
                <a:solidFill>
                  <a:srgbClr val="0000FF"/>
                </a:solidFill>
              </a:rPr>
              <a:t>href</a:t>
            </a:r>
            <a:r>
              <a:rPr lang="pt-BR" sz="2000" dirty="0">
                <a:solidFill>
                  <a:srgbClr val="0000FF"/>
                </a:solidFill>
              </a:rPr>
              <a:t>=</a:t>
            </a:r>
            <a:r>
              <a:rPr lang="pt-BR" sz="2000" dirty="0">
                <a:solidFill>
                  <a:srgbClr val="CC3300"/>
                </a:solidFill>
              </a:rPr>
              <a:t>"</a:t>
            </a:r>
            <a:r>
              <a:rPr lang="pt-BR" sz="2000" b="1" dirty="0">
                <a:solidFill>
                  <a:srgbClr val="CC3300"/>
                </a:solidFill>
              </a:rPr>
              <a:t>..</a:t>
            </a:r>
            <a:r>
              <a:rPr lang="pt-BR" sz="2000" dirty="0">
                <a:solidFill>
                  <a:srgbClr val="CC3300"/>
                </a:solidFill>
              </a:rPr>
              <a:t>/cavalo.html"</a:t>
            </a:r>
            <a:r>
              <a:rPr lang="pt-BR" sz="2000" dirty="0">
                <a:solidFill>
                  <a:srgbClr val="0000FF"/>
                </a:solidFill>
              </a:rPr>
              <a:t>&gt; </a:t>
            </a:r>
            <a:r>
              <a:rPr lang="pt-BR" sz="2000" dirty="0">
                <a:solidFill>
                  <a:srgbClr val="00B050"/>
                </a:solidFill>
              </a:rPr>
              <a:t>Texto ou conteúdo do enlace</a:t>
            </a:r>
            <a:r>
              <a:rPr lang="pt-BR" sz="2000" dirty="0">
                <a:solidFill>
                  <a:srgbClr val="0000FF"/>
                </a:solidFill>
              </a:rPr>
              <a:t>&lt;/a&gt;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- para acessar outros arquivos na web</a:t>
            </a:r>
            <a:br>
              <a:rPr lang="pt-BR" sz="2000" dirty="0"/>
            </a:br>
            <a:r>
              <a:rPr lang="pt-BR" sz="2000" dirty="0">
                <a:solidFill>
                  <a:srgbClr val="0000FF"/>
                </a:solidFill>
              </a:rPr>
              <a:t>&lt;a </a:t>
            </a:r>
            <a:r>
              <a:rPr lang="pt-BR" sz="2000" dirty="0" err="1">
                <a:solidFill>
                  <a:srgbClr val="0000FF"/>
                </a:solidFill>
              </a:rPr>
              <a:t>href</a:t>
            </a:r>
            <a:r>
              <a:rPr lang="pt-BR" sz="2000" dirty="0">
                <a:solidFill>
                  <a:srgbClr val="0000FF"/>
                </a:solidFill>
              </a:rPr>
              <a:t>=</a:t>
            </a:r>
            <a:r>
              <a:rPr lang="pt-BR" sz="2000" dirty="0">
                <a:solidFill>
                  <a:srgbClr val="CC3300"/>
                </a:solidFill>
              </a:rPr>
              <a:t>" http://www.microsoft.com.br/index.html"</a:t>
            </a:r>
            <a:r>
              <a:rPr lang="pt-BR" sz="2000" dirty="0">
                <a:solidFill>
                  <a:srgbClr val="0000FF"/>
                </a:solidFill>
              </a:rPr>
              <a:t>&gt;</a:t>
            </a:r>
            <a:r>
              <a:rPr lang="pt-BR" sz="1600" dirty="0">
                <a:solidFill>
                  <a:srgbClr val="00B050"/>
                </a:solidFill>
              </a:rPr>
              <a:t>Site da Microsoft Brasil</a:t>
            </a:r>
            <a:r>
              <a:rPr lang="pt-BR" sz="2000" dirty="0">
                <a:solidFill>
                  <a:srgbClr val="0000FF"/>
                </a:solidFill>
              </a:rPr>
              <a:t>&lt;/a&gt;</a:t>
            </a:r>
            <a:br>
              <a:rPr lang="pt-BR" sz="2000" dirty="0">
                <a:solidFill>
                  <a:srgbClr val="0000FF"/>
                </a:solidFill>
              </a:rPr>
            </a:br>
            <a:endParaRPr lang="pt-BR" sz="2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pt-BR" sz="2000" dirty="0"/>
              <a:t>Nunca crie seus links com o caminho físico do arquivo, ou seja, sua localização real na máquina, como </a:t>
            </a:r>
            <a:r>
              <a:rPr lang="pt-BR" sz="2000" b="1" dirty="0">
                <a:solidFill>
                  <a:srgbClr val="990000"/>
                </a:solidFill>
              </a:rPr>
              <a:t>C:\site\index.html</a:t>
            </a:r>
            <a:r>
              <a:rPr lang="pt-BR" sz="2000" dirty="0"/>
              <a:t>, pois caso você disponibilize esse arquivo na Web e em outros sistemas como Linux, irá resultar em Página não encontrada.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17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425" y="609600"/>
            <a:ext cx="9594761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518" y="1339403"/>
            <a:ext cx="9285668" cy="4701960"/>
          </a:xfrm>
        </p:spPr>
        <p:txBody>
          <a:bodyPr>
            <a:normAutofit fontScale="92500" lnSpcReduction="20000"/>
          </a:bodyPr>
          <a:lstStyle/>
          <a:p>
            <a:endParaRPr lang="pt-BR" dirty="0"/>
          </a:p>
          <a:p>
            <a:pPr marL="0" indent="0">
              <a:buNone/>
            </a:pPr>
            <a:r>
              <a:rPr lang="pt-BR" dirty="0"/>
              <a:t>Os </a:t>
            </a:r>
            <a:r>
              <a:rPr lang="pt-BR" i="1" dirty="0"/>
              <a:t>links </a:t>
            </a:r>
            <a:r>
              <a:rPr lang="pt-BR" dirty="0"/>
              <a:t>(ou </a:t>
            </a:r>
            <a:r>
              <a:rPr lang="pt-BR" i="1" dirty="0"/>
              <a:t>hyperlinks</a:t>
            </a:r>
            <a:r>
              <a:rPr lang="pt-BR" dirty="0"/>
              <a:t>) podem ser criados por meio da </a:t>
            </a:r>
            <a:r>
              <a:rPr lang="pt-BR" dirty="0" err="1"/>
              <a:t>tag</a:t>
            </a:r>
            <a:r>
              <a:rPr lang="pt-BR" dirty="0"/>
              <a:t> A. </a:t>
            </a:r>
          </a:p>
          <a:p>
            <a:pPr marL="0" indent="0">
              <a:buNone/>
            </a:pPr>
            <a:r>
              <a:rPr lang="pt-BR" dirty="0"/>
              <a:t>Esta </a:t>
            </a:r>
            <a:r>
              <a:rPr lang="pt-BR" dirty="0" err="1"/>
              <a:t>tag</a:t>
            </a:r>
            <a:r>
              <a:rPr lang="pt-BR" dirty="0"/>
              <a:t> aceita os seguintes argumentos: </a:t>
            </a:r>
          </a:p>
          <a:p>
            <a:pPr marL="0" indent="0">
              <a:buNone/>
            </a:pPr>
            <a:r>
              <a:rPr lang="pt-BR" b="1" dirty="0"/>
              <a:t>HREF </a:t>
            </a:r>
            <a:r>
              <a:rPr lang="pt-BR" dirty="0"/>
              <a:t>– Caminho para o recurso vinculado (absoluto ou relativo) –  obrigatório. Os caminhos absolutos precisam começar por </a:t>
            </a:r>
            <a:r>
              <a:rPr lang="pt-BR" i="1" dirty="0"/>
              <a:t>http://</a:t>
            </a:r>
            <a:r>
              <a:rPr lang="pt-BR" dirty="0"/>
              <a:t>. </a:t>
            </a:r>
          </a:p>
          <a:p>
            <a:pPr marL="0" indent="0">
              <a:buNone/>
            </a:pPr>
            <a:r>
              <a:rPr lang="pt-BR" b="1" dirty="0"/>
              <a:t> TARGET </a:t>
            </a:r>
            <a:r>
              <a:rPr lang="pt-BR" dirty="0"/>
              <a:t>– Onde será aberto o recurso. É usado quando se usa frames em </a:t>
            </a:r>
          </a:p>
          <a:p>
            <a:pPr marL="0" indent="0">
              <a:buNone/>
            </a:pPr>
            <a:r>
              <a:rPr lang="pt-BR" dirty="0"/>
              <a:t>  HTML ou quando se quer abrir em uma nova janela. Aceita os valores: _BLANK </a:t>
            </a:r>
          </a:p>
          <a:p>
            <a:pPr marL="0" indent="0">
              <a:buNone/>
            </a:pPr>
            <a:r>
              <a:rPr lang="pt-BR" dirty="0"/>
              <a:t>(nova janela), _SELF (mesma janela/frame), _TOP (frame principal), _PARENT </a:t>
            </a:r>
          </a:p>
          <a:p>
            <a:pPr marL="0" indent="0">
              <a:buNone/>
            </a:pPr>
            <a:r>
              <a:rPr lang="pt-BR" dirty="0"/>
              <a:t>(frame pai). Na falta deste atributo, o vínculo é aberto na mesmo janela/frame. 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&lt;a </a:t>
            </a:r>
            <a:r>
              <a:rPr lang="pt-BR" b="1" dirty="0" err="1"/>
              <a:t>href</a:t>
            </a:r>
            <a:r>
              <a:rPr lang="pt-BR" b="1" dirty="0"/>
              <a:t>="contato.htm"&gt;contato&lt;/a&gt; &lt;</a:t>
            </a:r>
            <a:r>
              <a:rPr lang="pt-BR" b="1" dirty="0" err="1"/>
              <a:t>br</a:t>
            </a:r>
            <a:r>
              <a:rPr lang="pt-BR" b="1" dirty="0"/>
              <a:t>&gt;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&lt;a </a:t>
            </a:r>
            <a:r>
              <a:rPr lang="pt-BR" b="1" dirty="0" err="1"/>
              <a:t>href</a:t>
            </a:r>
            <a:r>
              <a:rPr lang="pt-BR" b="1" dirty="0"/>
              <a:t>="mailto:email@servidor.com"&gt;Mande e-mail&lt;/a&gt; &lt;</a:t>
            </a:r>
            <a:r>
              <a:rPr lang="pt-BR" b="1" dirty="0" err="1"/>
              <a:t>br</a:t>
            </a:r>
            <a:r>
              <a:rPr lang="pt-BR" b="1" dirty="0"/>
              <a:t>&gt;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&lt;a </a:t>
            </a:r>
            <a:r>
              <a:rPr lang="pt-BR" b="1" dirty="0" err="1"/>
              <a:t>href</a:t>
            </a:r>
            <a:r>
              <a:rPr lang="pt-BR" b="1" dirty="0"/>
              <a:t>="vendas.htm"&gt;&lt;</a:t>
            </a:r>
            <a:r>
              <a:rPr lang="pt-BR" b="1" dirty="0" err="1"/>
              <a:t>img</a:t>
            </a:r>
            <a:r>
              <a:rPr lang="pt-BR" b="1" dirty="0"/>
              <a:t> </a:t>
            </a:r>
            <a:r>
              <a:rPr lang="pt-BR" b="1" dirty="0" err="1"/>
              <a:t>src</a:t>
            </a:r>
            <a:r>
              <a:rPr lang="pt-BR" b="1" dirty="0"/>
              <a:t>="vendas.gif"&gt;&lt;/a&gt; &lt;</a:t>
            </a:r>
            <a:r>
              <a:rPr lang="pt-BR" b="1" dirty="0" err="1"/>
              <a:t>br</a:t>
            </a:r>
            <a:r>
              <a:rPr lang="pt-BR" b="1" dirty="0"/>
              <a:t>&gt;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&lt;a </a:t>
            </a:r>
            <a:r>
              <a:rPr lang="pt-BR" b="1" dirty="0" err="1"/>
              <a:t>href</a:t>
            </a:r>
            <a:r>
              <a:rPr lang="pt-BR" b="1" dirty="0"/>
              <a:t>="fotos/produto1.jpg" </a:t>
            </a:r>
            <a:r>
              <a:rPr lang="pt-BR" b="1" dirty="0" err="1"/>
              <a:t>target</a:t>
            </a:r>
            <a:r>
              <a:rPr lang="pt-BR" b="1" dirty="0"/>
              <a:t>= "_</a:t>
            </a:r>
            <a:r>
              <a:rPr lang="pt-BR" b="1" dirty="0" err="1"/>
              <a:t>blank</a:t>
            </a:r>
            <a:r>
              <a:rPr lang="pt-BR" b="1" dirty="0"/>
              <a:t>"&gt;Ver produto 1&lt;/a&gt;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7494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425" y="609600"/>
            <a:ext cx="9594761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518" y="1339403"/>
            <a:ext cx="9285668" cy="4701960"/>
          </a:xfrm>
        </p:spPr>
        <p:txBody>
          <a:bodyPr>
            <a:normAutofit fontScale="92500" lnSpcReduction="20000"/>
          </a:bodyPr>
          <a:lstStyle/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As âncoras também são criadas por meio da </a:t>
            </a:r>
            <a:r>
              <a:rPr lang="pt-BR" dirty="0" err="1"/>
              <a:t>tag</a:t>
            </a:r>
            <a:r>
              <a:rPr lang="pt-BR" dirty="0"/>
              <a:t> A, porém somente leva o atributo </a:t>
            </a:r>
          </a:p>
          <a:p>
            <a:pPr marL="0" indent="0">
              <a:buNone/>
            </a:pPr>
            <a:r>
              <a:rPr lang="pt-BR" b="1" dirty="0"/>
              <a:t> NAME</a:t>
            </a:r>
            <a:r>
              <a:rPr lang="pt-BR" dirty="0"/>
              <a:t>, que define o nome da âncora.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Para acessar uma âncora usa-se um sinal de # no </a:t>
            </a:r>
            <a:r>
              <a:rPr lang="pt-BR" b="1" dirty="0"/>
              <a:t>HREF</a:t>
            </a:r>
            <a:r>
              <a:rPr lang="pt-BR" dirty="0"/>
              <a:t>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possível direcionar para uma âncora da mesma página ou ir diretamente para uma âncora de outra página. </a:t>
            </a:r>
          </a:p>
          <a:p>
            <a:pPr marL="0" indent="0">
              <a:buNone/>
            </a:pPr>
            <a:r>
              <a:rPr lang="pt-BR" b="1" dirty="0"/>
              <a:t>&lt;a </a:t>
            </a:r>
            <a:r>
              <a:rPr lang="pt-BR" b="1" dirty="0" err="1"/>
              <a:t>href</a:t>
            </a:r>
            <a:r>
              <a:rPr lang="pt-BR" b="1" dirty="0"/>
              <a:t>="#produtos"&gt;Ver produtos&lt;/a&gt; &lt;</a:t>
            </a:r>
            <a:r>
              <a:rPr lang="pt-BR" b="1" dirty="0" err="1"/>
              <a:t>br</a:t>
            </a:r>
            <a:r>
              <a:rPr lang="pt-BR" b="1" dirty="0"/>
              <a:t>&gt;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 ... Um texto muito grande aqui ...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 &lt;a </a:t>
            </a:r>
            <a:r>
              <a:rPr lang="pt-BR" b="1" dirty="0" err="1"/>
              <a:t>name</a:t>
            </a:r>
            <a:r>
              <a:rPr lang="pt-BR" b="1" dirty="0"/>
              <a:t>="produtos"&gt;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 ... Texto sobre produtos aqui ... </a:t>
            </a:r>
            <a:endParaRPr lang="pt-BR" dirty="0"/>
          </a:p>
          <a:p>
            <a:pPr marL="0" indent="0">
              <a:buNone/>
            </a:pPr>
            <a:r>
              <a:rPr lang="pt-BR" b="1" dirty="0"/>
              <a:t> &lt;a </a:t>
            </a:r>
            <a:r>
              <a:rPr lang="pt-BR" b="1" dirty="0" err="1"/>
              <a:t>href</a:t>
            </a:r>
            <a:r>
              <a:rPr lang="pt-BR" b="1" dirty="0"/>
              <a:t>="</a:t>
            </a:r>
            <a:r>
              <a:rPr lang="pt-BR" b="1" dirty="0" err="1"/>
              <a:t>vendas.htm#faturamento</a:t>
            </a:r>
            <a:r>
              <a:rPr lang="pt-BR" b="1" dirty="0"/>
              <a:t>"&gt;Ver faturamento&lt;/a&gt;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2812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/>
          <p:cNvSpPr>
            <a:spLocks noGrp="1"/>
          </p:cNvSpPr>
          <p:nvPr>
            <p:ph type="title"/>
          </p:nvPr>
        </p:nvSpPr>
        <p:spPr>
          <a:xfrm>
            <a:off x="839417" y="764705"/>
            <a:ext cx="8785225" cy="581025"/>
          </a:xfrm>
        </p:spPr>
        <p:txBody>
          <a:bodyPr/>
          <a:lstStyle/>
          <a:p>
            <a:pPr eaLnBrk="1" hangingPunct="1"/>
            <a:r>
              <a:rPr lang="pt-BR" sz="2800" b="1" dirty="0">
                <a:solidFill>
                  <a:schemeClr val="tx1"/>
                </a:solidFill>
              </a:rPr>
              <a:t>Tabelas</a:t>
            </a:r>
          </a:p>
        </p:txBody>
      </p:sp>
      <p:sp>
        <p:nvSpPr>
          <p:cNvPr id="13315" name="Espaço Reservado para Conteúdo 2"/>
          <p:cNvSpPr>
            <a:spLocks noGrp="1"/>
          </p:cNvSpPr>
          <p:nvPr>
            <p:ph idx="1"/>
          </p:nvPr>
        </p:nvSpPr>
        <p:spPr>
          <a:xfrm>
            <a:off x="2423592" y="1371633"/>
            <a:ext cx="6840760" cy="16088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sz="2000" dirty="0"/>
              <a:t>Para definir uma tabela básica, utilize as </a:t>
            </a:r>
            <a:r>
              <a:rPr lang="pt-BR" sz="2000" dirty="0" err="1"/>
              <a:t>tags</a:t>
            </a:r>
            <a:r>
              <a:rPr lang="pt-BR" sz="2000" dirty="0"/>
              <a:t>:</a:t>
            </a:r>
          </a:p>
          <a:p>
            <a:pPr marL="0" indent="0">
              <a:buNone/>
            </a:pPr>
            <a:r>
              <a:rPr lang="pt-BR" sz="2000" dirty="0"/>
              <a:t>&lt;</a:t>
            </a:r>
            <a:r>
              <a:rPr lang="pt-BR" sz="2000" dirty="0" err="1"/>
              <a:t>table</a:t>
            </a:r>
            <a:r>
              <a:rPr lang="pt-BR" sz="2000" dirty="0"/>
              <a:t>&gt; define uma tabela</a:t>
            </a:r>
          </a:p>
          <a:p>
            <a:pPr marL="736600" lvl="1">
              <a:buSzPct val="105000"/>
              <a:buFont typeface="Arial" panose="020B0604020202020204" pitchFamily="34" charset="0"/>
              <a:buChar char="•"/>
            </a:pPr>
            <a:r>
              <a:rPr lang="pt-BR" sz="1800" dirty="0"/>
              <a:t>&lt;</a:t>
            </a:r>
            <a:r>
              <a:rPr lang="pt-BR" sz="1800" dirty="0" err="1"/>
              <a:t>tr</a:t>
            </a:r>
            <a:r>
              <a:rPr lang="pt-BR" sz="1800" dirty="0"/>
              <a:t>&gt;  define uma linha na tabela</a:t>
            </a:r>
          </a:p>
          <a:p>
            <a:pPr marL="736600" lvl="1">
              <a:buSzPct val="105000"/>
              <a:buFont typeface="Arial" panose="020B0604020202020204" pitchFamily="34" charset="0"/>
              <a:buChar char="•"/>
            </a:pPr>
            <a:r>
              <a:rPr lang="pt-BR" sz="1800" dirty="0"/>
              <a:t>&lt;</a:t>
            </a:r>
            <a:r>
              <a:rPr lang="pt-BR" sz="1800" dirty="0" err="1"/>
              <a:t>td</a:t>
            </a:r>
            <a:r>
              <a:rPr lang="pt-BR" sz="1800" dirty="0"/>
              <a:t>&gt; define uma coluna na tabela</a:t>
            </a:r>
          </a:p>
          <a:p>
            <a:pPr marL="457200" lvl="1" indent="0">
              <a:buNone/>
            </a:pPr>
            <a:br>
              <a:rPr lang="pt-BR" sz="1800" dirty="0"/>
            </a:br>
            <a:endParaRPr lang="pt-BR" sz="18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009" y="3017897"/>
            <a:ext cx="6264696" cy="34699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8530" y="692697"/>
            <a:ext cx="8785225" cy="581025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Tabelas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388" y="1241442"/>
            <a:ext cx="8785225" cy="5141913"/>
          </a:xfrm>
        </p:spPr>
        <p:txBody>
          <a:bodyPr/>
          <a:lstStyle/>
          <a:p>
            <a:r>
              <a:rPr lang="pt-BR" dirty="0"/>
              <a:t>Para definir uma tabela completa:</a:t>
            </a:r>
          </a:p>
          <a:p>
            <a:endParaRPr lang="pt-BR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6096000" y="5445225"/>
            <a:ext cx="43909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1 - &lt;</a:t>
            </a:r>
            <a:r>
              <a:rPr lang="pt-BR" dirty="0" err="1"/>
              <a:t>thead</a:t>
            </a:r>
            <a:r>
              <a:rPr lang="pt-BR" dirty="0"/>
              <a:t>&gt; = cabeçalho da tabela</a:t>
            </a:r>
          </a:p>
          <a:p>
            <a:r>
              <a:rPr lang="pt-BR" dirty="0"/>
              <a:t>	1.1 - &lt;</a:t>
            </a:r>
            <a:r>
              <a:rPr lang="pt-BR" dirty="0" err="1"/>
              <a:t>th</a:t>
            </a:r>
            <a:r>
              <a:rPr lang="pt-BR" dirty="0"/>
              <a:t>&gt; colunas do cabeçalho</a:t>
            </a:r>
          </a:p>
          <a:p>
            <a:r>
              <a:rPr lang="pt-BR" dirty="0"/>
              <a:t>2 - &lt;</a:t>
            </a:r>
            <a:r>
              <a:rPr lang="pt-BR" dirty="0" err="1"/>
              <a:t>tfoot</a:t>
            </a:r>
            <a:r>
              <a:rPr lang="pt-BR" dirty="0"/>
              <a:t>&gt; = última linha da tabela</a:t>
            </a:r>
          </a:p>
          <a:p>
            <a:r>
              <a:rPr lang="pt-BR" dirty="0"/>
              <a:t>3 - &lt;</a:t>
            </a:r>
            <a:r>
              <a:rPr lang="pt-BR" dirty="0" err="1"/>
              <a:t>tbody</a:t>
            </a:r>
            <a:r>
              <a:rPr lang="pt-BR" dirty="0"/>
              <a:t>&gt; = conteúdo da tabela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65" y="1618344"/>
            <a:ext cx="2664134" cy="5086350"/>
          </a:xfrm>
          <a:prstGeom prst="rect">
            <a:avLst/>
          </a:prstGeom>
        </p:spPr>
      </p:pic>
      <p:sp>
        <p:nvSpPr>
          <p:cNvPr id="31" name="Retângulo 30"/>
          <p:cNvSpPr/>
          <p:nvPr/>
        </p:nvSpPr>
        <p:spPr>
          <a:xfrm>
            <a:off x="2224762" y="1885260"/>
            <a:ext cx="2010179" cy="12452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2224761" y="3148898"/>
            <a:ext cx="2484000" cy="12057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2224762" y="4354648"/>
            <a:ext cx="2010179" cy="20882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de seta reta 33"/>
          <p:cNvCxnSpPr>
            <a:stCxn id="31" idx="3"/>
          </p:cNvCxnSpPr>
          <p:nvPr/>
        </p:nvCxnSpPr>
        <p:spPr>
          <a:xfrm>
            <a:off x="4234940" y="2507886"/>
            <a:ext cx="2581140" cy="6226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>
            <a:off x="4687556" y="3994609"/>
            <a:ext cx="2200532" cy="18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/>
          <p:cNvCxnSpPr/>
          <p:nvPr/>
        </p:nvCxnSpPr>
        <p:spPr>
          <a:xfrm flipV="1">
            <a:off x="4234940" y="3657926"/>
            <a:ext cx="2299972" cy="16328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have esquerda 36"/>
          <p:cNvSpPr/>
          <p:nvPr/>
        </p:nvSpPr>
        <p:spPr>
          <a:xfrm>
            <a:off x="6534912" y="3202520"/>
            <a:ext cx="281168" cy="79208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de seta reta 37"/>
          <p:cNvCxnSpPr/>
          <p:nvPr/>
        </p:nvCxnSpPr>
        <p:spPr>
          <a:xfrm flipH="1">
            <a:off x="1790073" y="1978384"/>
            <a:ext cx="434689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1692598" y="2189436"/>
            <a:ext cx="3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cxnSp>
        <p:nvCxnSpPr>
          <p:cNvPr id="40" name="Conector de seta reta 39"/>
          <p:cNvCxnSpPr/>
          <p:nvPr/>
        </p:nvCxnSpPr>
        <p:spPr>
          <a:xfrm flipH="1">
            <a:off x="1817284" y="3202846"/>
            <a:ext cx="434689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/>
          <p:cNvSpPr txBox="1"/>
          <p:nvPr/>
        </p:nvSpPr>
        <p:spPr>
          <a:xfrm>
            <a:off x="1719809" y="3413898"/>
            <a:ext cx="3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42" name="Conector de seta reta 41"/>
          <p:cNvCxnSpPr/>
          <p:nvPr/>
        </p:nvCxnSpPr>
        <p:spPr>
          <a:xfrm flipH="1">
            <a:off x="1790073" y="4454190"/>
            <a:ext cx="434689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1692598" y="4665242"/>
            <a:ext cx="3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44" name="Conector de seta reta 43"/>
          <p:cNvCxnSpPr>
            <a:endCxn id="45" idx="0"/>
          </p:cNvCxnSpPr>
          <p:nvPr/>
        </p:nvCxnSpPr>
        <p:spPr>
          <a:xfrm flipH="1">
            <a:off x="1950318" y="2374102"/>
            <a:ext cx="636684" cy="17537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1696141" y="2549476"/>
            <a:ext cx="508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1.1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336" y="2727390"/>
            <a:ext cx="2025293" cy="174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96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tx1"/>
                </a:solidFill>
              </a:rPr>
              <a:t>Tag</a:t>
            </a:r>
            <a:r>
              <a:rPr lang="pt-BR" b="1" dirty="0">
                <a:solidFill>
                  <a:schemeClr val="tx1"/>
                </a:solidFill>
              </a:rPr>
              <a:t> para Links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389" y="1959496"/>
            <a:ext cx="8785225" cy="5141913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rgbClr val="0000FF"/>
                </a:solidFill>
              </a:rPr>
              <a:t>&lt;a </a:t>
            </a:r>
            <a:r>
              <a:rPr lang="pt-BR" dirty="0" err="1">
                <a:solidFill>
                  <a:srgbClr val="0000FF"/>
                </a:solidFill>
              </a:rPr>
              <a:t>href</a:t>
            </a:r>
            <a:r>
              <a:rPr lang="pt-BR" dirty="0">
                <a:solidFill>
                  <a:srgbClr val="0070C0"/>
                </a:solidFill>
              </a:rPr>
              <a:t>=</a:t>
            </a:r>
            <a:r>
              <a:rPr lang="pt-BR" dirty="0">
                <a:solidFill>
                  <a:srgbClr val="CC3300"/>
                </a:solidFill>
              </a:rPr>
              <a:t>"arquivo.html"</a:t>
            </a:r>
          </a:p>
          <a:p>
            <a:pPr marL="0" indent="0">
              <a:buNone/>
            </a:pPr>
            <a:br>
              <a:rPr lang="pt-BR" dirty="0">
                <a:solidFill>
                  <a:srgbClr val="CC3300"/>
                </a:solidFill>
              </a:rPr>
            </a:br>
            <a:r>
              <a:rPr lang="pt-BR" dirty="0">
                <a:solidFill>
                  <a:srgbClr val="CC3300"/>
                </a:solidFill>
              </a:rPr>
              <a:t>         </a:t>
            </a:r>
            <a:r>
              <a:rPr lang="pt-BR" dirty="0" err="1">
                <a:solidFill>
                  <a:srgbClr val="0000FF"/>
                </a:solidFill>
              </a:rPr>
              <a:t>target</a:t>
            </a:r>
            <a:r>
              <a:rPr lang="pt-BR" dirty="0">
                <a:solidFill>
                  <a:srgbClr val="0000FF"/>
                </a:solidFill>
              </a:rPr>
              <a:t>=</a:t>
            </a:r>
            <a:r>
              <a:rPr lang="pt-BR" dirty="0">
                <a:solidFill>
                  <a:srgbClr val="CC3300"/>
                </a:solidFill>
              </a:rPr>
              <a:t>"_</a:t>
            </a:r>
            <a:r>
              <a:rPr lang="pt-BR" dirty="0" err="1">
                <a:solidFill>
                  <a:srgbClr val="CC3300"/>
                </a:solidFill>
              </a:rPr>
              <a:t>blank</a:t>
            </a:r>
            <a:r>
              <a:rPr lang="pt-BR" dirty="0">
                <a:solidFill>
                  <a:srgbClr val="CC3300"/>
                </a:solidFill>
              </a:rPr>
              <a:t>"</a:t>
            </a:r>
            <a:r>
              <a:rPr lang="pt-BR" dirty="0">
                <a:solidFill>
                  <a:srgbClr val="0000FF"/>
                </a:solidFill>
              </a:rPr>
              <a:t>&gt;</a:t>
            </a:r>
          </a:p>
          <a:p>
            <a:pPr marL="0" indent="0">
              <a:buNone/>
            </a:pPr>
            <a:endParaRPr lang="pt-BR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0000FF"/>
                </a:solidFill>
              </a:rPr>
              <a:t>	</a:t>
            </a:r>
            <a:r>
              <a:rPr lang="pt-BR" dirty="0">
                <a:solidFill>
                  <a:srgbClr val="00B050"/>
                </a:solidFill>
              </a:rPr>
              <a:t>Texto do link</a:t>
            </a:r>
          </a:p>
          <a:p>
            <a:pPr marL="0" indent="0">
              <a:buNone/>
            </a:pPr>
            <a:r>
              <a:rPr lang="pt-BR" dirty="0">
                <a:solidFill>
                  <a:srgbClr val="0000FF"/>
                </a:solidFill>
              </a:rPr>
              <a:t>&lt;/a&gt;</a:t>
            </a:r>
            <a:br>
              <a:rPr lang="pt-BR" dirty="0"/>
            </a:b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7680176" y="2276127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Arquivo que será aberto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177110" y="3053124"/>
            <a:ext cx="32949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_</a:t>
            </a:r>
            <a:r>
              <a:rPr lang="pt-BR" dirty="0" err="1"/>
              <a:t>blank</a:t>
            </a:r>
            <a:r>
              <a:rPr lang="pt-BR" dirty="0"/>
              <a:t> especifica que será aberto em uma nova aba do navegador, se não for especificado, será aberto na mesma aba. </a:t>
            </a:r>
          </a:p>
          <a:p>
            <a:r>
              <a:rPr lang="pt-BR" dirty="0"/>
              <a:t>Outras opções seriam:</a:t>
            </a:r>
          </a:p>
          <a:p>
            <a:r>
              <a:rPr lang="pt-BR" dirty="0"/>
              <a:t>_</a:t>
            </a:r>
            <a:r>
              <a:rPr lang="pt-BR" dirty="0" err="1"/>
              <a:t>parent</a:t>
            </a:r>
            <a:r>
              <a:rPr lang="pt-BR" dirty="0"/>
              <a:t> ou _top</a:t>
            </a:r>
          </a:p>
        </p:txBody>
      </p:sp>
      <p:cxnSp>
        <p:nvCxnSpPr>
          <p:cNvPr id="8" name="Conector de seta reta 7"/>
          <p:cNvCxnSpPr>
            <a:stCxn id="4" idx="1"/>
          </p:cNvCxnSpPr>
          <p:nvPr/>
        </p:nvCxnSpPr>
        <p:spPr>
          <a:xfrm flipH="1" flipV="1">
            <a:off x="5447928" y="2276127"/>
            <a:ext cx="2232248" cy="1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H="1">
            <a:off x="5447928" y="3212231"/>
            <a:ext cx="1729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80798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477EE624CE634E979F0CB21B6A2C6C" ma:contentTypeVersion="4" ma:contentTypeDescription="Crie um novo documento." ma:contentTypeScope="" ma:versionID="da1e013dce8e9a4c806d3d1e29850aa3">
  <xsd:schema xmlns:xsd="http://www.w3.org/2001/XMLSchema" xmlns:xs="http://www.w3.org/2001/XMLSchema" xmlns:p="http://schemas.microsoft.com/office/2006/metadata/properties" xmlns:ns2="20239b87-5e49-416b-88a1-8a43c7fa1f52" targetNamespace="http://schemas.microsoft.com/office/2006/metadata/properties" ma:root="true" ma:fieldsID="fac13e6bece9eb031c25b1c8b03bdd8c" ns2:_="">
    <xsd:import namespace="20239b87-5e49-416b-88a1-8a43c7fa1f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39b87-5e49-416b-88a1-8a43c7fa1f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51C8E5-88AB-4CE1-A7D3-2582B4F35F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239b87-5e49-416b-88a1-8a43c7fa1f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D32835-B7D1-40A7-9AB6-1732C507900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548301A-0FB3-42A1-8104-D5C20C6AC7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TC030006182[[fn=Classic Theme 2007]]</Template>
  <TotalTime>264</TotalTime>
  <Words>2183</Words>
  <Application>Microsoft Office PowerPoint</Application>
  <PresentationFormat>Widescreen</PresentationFormat>
  <Paragraphs>262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9" baseType="lpstr">
      <vt:lpstr>Arial</vt:lpstr>
      <vt:lpstr>Arial Black</vt:lpstr>
      <vt:lpstr>Calibri</vt:lpstr>
      <vt:lpstr>Calisto MT</vt:lpstr>
      <vt:lpstr>Consolas</vt:lpstr>
      <vt:lpstr>Courier New</vt:lpstr>
      <vt:lpstr>Gill Sans MT</vt:lpstr>
      <vt:lpstr>Trebuchet MS</vt:lpstr>
      <vt:lpstr>Wingdings</vt:lpstr>
      <vt:lpstr>Wingdings 3</vt:lpstr>
      <vt:lpstr>Classic</vt:lpstr>
      <vt:lpstr>Facetado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Tags para listas</vt:lpstr>
      <vt:lpstr>Programação WEB I</vt:lpstr>
      <vt:lpstr>Referências Absolutas</vt:lpstr>
      <vt:lpstr>Referências Relativas</vt:lpstr>
      <vt:lpstr>Tag para Imagens</vt:lpstr>
      <vt:lpstr>Tag para Imagens</vt:lpstr>
      <vt:lpstr>Programação WEB I</vt:lpstr>
      <vt:lpstr>Programação WEB I</vt:lpstr>
      <vt:lpstr>Programação WEB I</vt:lpstr>
      <vt:lpstr>Tag para Links</vt:lpstr>
      <vt:lpstr>Programação WEB I</vt:lpstr>
      <vt:lpstr>Programação WEB I</vt:lpstr>
      <vt:lpstr>Tabelas</vt:lpstr>
      <vt:lpstr>Tabelas</vt:lpstr>
      <vt:lpstr>Tag para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– Programação Para Internet</dc:title>
  <dc:creator>CARLOS EDUARDO DE CARVALHO</dc:creator>
  <cp:lastModifiedBy>Clodoaldo Bastos</cp:lastModifiedBy>
  <cp:revision>63</cp:revision>
  <dcterms:created xsi:type="dcterms:W3CDTF">2013-07-29T11:29:38Z</dcterms:created>
  <dcterms:modified xsi:type="dcterms:W3CDTF">2026-03-13T19:04:21Z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0x010100DF37F7639F957A4A9FE29922F2DEE504</vt:lpwstr>
  </property>
</Properties>
</file>