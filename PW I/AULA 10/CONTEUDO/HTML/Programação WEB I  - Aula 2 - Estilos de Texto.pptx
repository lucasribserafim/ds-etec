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4"/>
    <p:sldMasterId id="2147483963" r:id="rId5"/>
  </p:sldMasterIdLst>
  <p:sldIdLst>
    <p:sldId id="256" r:id="rId6"/>
    <p:sldId id="270" r:id="rId7"/>
    <p:sldId id="271" r:id="rId8"/>
    <p:sldId id="272" r:id="rId9"/>
    <p:sldId id="260" r:id="rId10"/>
    <p:sldId id="274" r:id="rId11"/>
    <p:sldId id="262" r:id="rId12"/>
    <p:sldId id="259" r:id="rId13"/>
    <p:sldId id="269" r:id="rId14"/>
    <p:sldId id="264" r:id="rId15"/>
    <p:sldId id="265" r:id="rId16"/>
    <p:sldId id="267" r:id="rId17"/>
    <p:sldId id="263" r:id="rId18"/>
    <p:sldId id="266" r:id="rId19"/>
    <p:sldId id="258" r:id="rId20"/>
    <p:sldId id="257" r:id="rId21"/>
    <p:sldId id="268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CA2C3F-141A-4838-AC94-2462BFB5F037}" v="7" dt="2023-09-09T22:21:39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9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HENRIQUE MOURA XAVIER" userId="S::pedro.xavier25@etec.sp.gov.br::9c1518a6-1ccf-44a0-84d7-f1f82ba7c91f" providerId="AD" clId="Web-{C9CA2C3F-141A-4838-AC94-2462BFB5F037}"/>
    <pc:docChg chg="modSld">
      <pc:chgData name="PEDRO HENRIQUE MOURA XAVIER" userId="S::pedro.xavier25@etec.sp.gov.br::9c1518a6-1ccf-44a0-84d7-f1f82ba7c91f" providerId="AD" clId="Web-{C9CA2C3F-141A-4838-AC94-2462BFB5F037}" dt="2023-09-09T22:21:39.873" v="6" actId="1076"/>
      <pc:docMkLst>
        <pc:docMk/>
      </pc:docMkLst>
      <pc:sldChg chg="modSp">
        <pc:chgData name="PEDRO HENRIQUE MOURA XAVIER" userId="S::pedro.xavier25@etec.sp.gov.br::9c1518a6-1ccf-44a0-84d7-f1f82ba7c91f" providerId="AD" clId="Web-{C9CA2C3F-141A-4838-AC94-2462BFB5F037}" dt="2023-09-09T22:21:39.873" v="6" actId="1076"/>
        <pc:sldMkLst>
          <pc:docMk/>
          <pc:sldMk cId="1470803988" sldId="262"/>
        </pc:sldMkLst>
        <pc:spChg chg="mod">
          <ac:chgData name="PEDRO HENRIQUE MOURA XAVIER" userId="S::pedro.xavier25@etec.sp.gov.br::9c1518a6-1ccf-44a0-84d7-f1f82ba7c91f" providerId="AD" clId="Web-{C9CA2C3F-141A-4838-AC94-2462BFB5F037}" dt="2023-09-09T22:21:39.873" v="6" actId="1076"/>
          <ac:spMkLst>
            <pc:docMk/>
            <pc:sldMk cId="1470803988" sldId="262"/>
            <ac:spMk id="3" creationId="{00000000-0000-0000-0000-000000000000}"/>
          </ac:spMkLst>
        </pc:spChg>
      </pc:sldChg>
      <pc:sldChg chg="modSp">
        <pc:chgData name="PEDRO HENRIQUE MOURA XAVIER" userId="S::pedro.xavier25@etec.sp.gov.br::9c1518a6-1ccf-44a0-84d7-f1f82ba7c91f" providerId="AD" clId="Web-{C9CA2C3F-141A-4838-AC94-2462BFB5F037}" dt="2023-09-09T22:19:49.240" v="0" actId="1076"/>
        <pc:sldMkLst>
          <pc:docMk/>
          <pc:sldMk cId="3246906501" sldId="274"/>
        </pc:sldMkLst>
        <pc:spChg chg="mod">
          <ac:chgData name="PEDRO HENRIQUE MOURA XAVIER" userId="S::pedro.xavier25@etec.sp.gov.br::9c1518a6-1ccf-44a0-84d7-f1f82ba7c91f" providerId="AD" clId="Web-{C9CA2C3F-141A-4838-AC94-2462BFB5F037}" dt="2023-09-09T22:19:49.240" v="0" actId="1076"/>
          <ac:spMkLst>
            <pc:docMk/>
            <pc:sldMk cId="3246906501" sldId="27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de cantos arredondados 6"/>
          <p:cNvSpPr/>
          <p:nvPr/>
        </p:nvSpPr>
        <p:spPr>
          <a:xfrm>
            <a:off x="380960" y="142852"/>
            <a:ext cx="11430080" cy="4857784"/>
          </a:xfrm>
          <a:prstGeom prst="roundRect">
            <a:avLst>
              <a:gd name="adj" fmla="val 2353"/>
            </a:avLst>
          </a:prstGeom>
          <a:gradFill>
            <a:gsLst>
              <a:gs pos="0">
                <a:schemeClr val="bg2"/>
              </a:gs>
              <a:gs pos="35000">
                <a:schemeClr val="bg2">
                  <a:lumMod val="90000"/>
                </a:schemeClr>
              </a:gs>
            </a:gsLst>
          </a:gra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80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62000" y="2928935"/>
            <a:ext cx="10668000" cy="1470025"/>
          </a:xfrm>
        </p:spPr>
        <p:txBody>
          <a:bodyPr/>
          <a:lstStyle>
            <a:lvl1pPr algn="ctr">
              <a:defRPr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09600" y="5000636"/>
            <a:ext cx="11201440" cy="107157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3946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/>
          <p:cNvSpPr/>
          <p:nvPr/>
        </p:nvSpPr>
        <p:spPr>
          <a:xfrm>
            <a:off x="609600" y="274638"/>
            <a:ext cx="109728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33467" y="274638"/>
            <a:ext cx="10248933" cy="914400"/>
          </a:xfrm>
        </p:spPr>
        <p:txBody>
          <a:bodyPr>
            <a:noAutofit/>
          </a:bodyPr>
          <a:lstStyle>
            <a:lvl1pPr marL="742950" indent="-742950" algn="l">
              <a:buFont typeface="+mj-lt"/>
              <a:buNone/>
              <a:defRPr lang="pt-BR" sz="28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 dirty="0"/>
          </a:p>
        </p:txBody>
      </p:sp>
      <p:cxnSp>
        <p:nvCxnSpPr>
          <p:cNvPr id="12" name="Straight Connector 16"/>
          <p:cNvCxnSpPr/>
          <p:nvPr/>
        </p:nvCxnSpPr>
        <p:spPr>
          <a:xfrm rot="5400000">
            <a:off x="875208" y="730780"/>
            <a:ext cx="9144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ço Reservado para Texto 19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1" y="274638"/>
            <a:ext cx="685729" cy="914400"/>
          </a:xfrm>
        </p:spPr>
        <p:txBody>
          <a:bodyPr anchor="ctr"/>
          <a:lstStyle>
            <a:lvl1pPr>
              <a:buNone/>
              <a:defRPr lang="pt-BR" sz="5000" kern="1200" dirty="0" smtClean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pt-B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9671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353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4" name="Rectangle 5"/>
          <p:cNvSpPr/>
          <p:nvPr/>
        </p:nvSpPr>
        <p:spPr>
          <a:xfrm>
            <a:off x="512619" y="1524000"/>
            <a:ext cx="36576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36" name="Straight Connector 9"/>
          <p:cNvCxnSpPr/>
          <p:nvPr/>
        </p:nvCxnSpPr>
        <p:spPr>
          <a:xfrm rot="5400000">
            <a:off x="1085177" y="1980141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0"/>
          <p:cNvSpPr/>
          <p:nvPr/>
        </p:nvSpPr>
        <p:spPr>
          <a:xfrm>
            <a:off x="4318000" y="1524000"/>
            <a:ext cx="35560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39" name="Straight Connector 12"/>
          <p:cNvCxnSpPr/>
          <p:nvPr/>
        </p:nvCxnSpPr>
        <p:spPr>
          <a:xfrm rot="5400000">
            <a:off x="4890559" y="1980141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/>
          <p:nvPr/>
        </p:nvSpPr>
        <p:spPr>
          <a:xfrm>
            <a:off x="8132619" y="1524000"/>
            <a:ext cx="3556000" cy="914400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cxnSp>
        <p:nvCxnSpPr>
          <p:cNvPr id="42" name="Straight Connector 16"/>
          <p:cNvCxnSpPr/>
          <p:nvPr/>
        </p:nvCxnSpPr>
        <p:spPr>
          <a:xfrm rot="5400000">
            <a:off x="8705177" y="1980141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spaço Reservado para Texto 54"/>
          <p:cNvSpPr>
            <a:spLocks noGrp="1"/>
          </p:cNvSpPr>
          <p:nvPr>
            <p:ph type="body" sz="quarter" idx="14" hasCustomPrompt="1"/>
          </p:nvPr>
        </p:nvSpPr>
        <p:spPr>
          <a:xfrm>
            <a:off x="1407950" y="1533532"/>
            <a:ext cx="2762269" cy="904868"/>
          </a:xfrm>
          <a:noFill/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Titulo 1</a:t>
            </a:r>
          </a:p>
        </p:txBody>
      </p:sp>
      <p:sp>
        <p:nvSpPr>
          <p:cNvPr id="56" name="Espaço Reservado para Texto 54"/>
          <p:cNvSpPr>
            <a:spLocks noGrp="1"/>
          </p:cNvSpPr>
          <p:nvPr>
            <p:ph type="body" sz="quarter" idx="15" hasCustomPrompt="1"/>
          </p:nvPr>
        </p:nvSpPr>
        <p:spPr>
          <a:xfrm>
            <a:off x="5234518" y="1524000"/>
            <a:ext cx="2671245" cy="904868"/>
          </a:xfrm>
          <a:noFill/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Titulo 2</a:t>
            </a:r>
          </a:p>
        </p:txBody>
      </p:sp>
      <p:sp>
        <p:nvSpPr>
          <p:cNvPr id="57" name="Espaço Reservado para Texto 54"/>
          <p:cNvSpPr>
            <a:spLocks noGrp="1"/>
          </p:cNvSpPr>
          <p:nvPr>
            <p:ph type="body" sz="quarter" idx="16" hasCustomPrompt="1"/>
          </p:nvPr>
        </p:nvSpPr>
        <p:spPr>
          <a:xfrm>
            <a:off x="9049136" y="1524000"/>
            <a:ext cx="2666653" cy="904868"/>
          </a:xfrm>
        </p:spPr>
        <p:txBody>
          <a:bodyPr anchor="ctr"/>
          <a:lstStyle>
            <a:lvl1pPr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Titulo 3</a:t>
            </a:r>
          </a:p>
        </p:txBody>
      </p:sp>
      <p:sp>
        <p:nvSpPr>
          <p:cNvPr id="59" name="Espaço Reservado para Texto 58"/>
          <p:cNvSpPr>
            <a:spLocks noGrp="1"/>
          </p:cNvSpPr>
          <p:nvPr>
            <p:ph type="body" sz="quarter" idx="17"/>
          </p:nvPr>
        </p:nvSpPr>
        <p:spPr>
          <a:xfrm>
            <a:off x="512619" y="2428868"/>
            <a:ext cx="3657600" cy="3888000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0" name="Espaço Reservado para Texto 58"/>
          <p:cNvSpPr>
            <a:spLocks noGrp="1"/>
          </p:cNvSpPr>
          <p:nvPr>
            <p:ph type="body" sz="quarter" idx="18"/>
          </p:nvPr>
        </p:nvSpPr>
        <p:spPr>
          <a:xfrm>
            <a:off x="4318000" y="2428868"/>
            <a:ext cx="3587763" cy="3929090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1" name="Espaço Reservado para Texto 58"/>
          <p:cNvSpPr>
            <a:spLocks noGrp="1"/>
          </p:cNvSpPr>
          <p:nvPr>
            <p:ph type="body" sz="quarter" idx="19"/>
          </p:nvPr>
        </p:nvSpPr>
        <p:spPr>
          <a:xfrm>
            <a:off x="8123435" y="2438400"/>
            <a:ext cx="3592355" cy="3835374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tlCol="0" anchor="t" anchorCtr="0"/>
          <a:lstStyle>
            <a:lvl1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defRPr lang="pt-BR" sz="16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3" name="Espaço Reservado para Texto 62"/>
          <p:cNvSpPr>
            <a:spLocks noGrp="1"/>
          </p:cNvSpPr>
          <p:nvPr>
            <p:ph type="body" sz="quarter" idx="20" hasCustomPrompt="1"/>
          </p:nvPr>
        </p:nvSpPr>
        <p:spPr>
          <a:xfrm>
            <a:off x="512619" y="1524000"/>
            <a:ext cx="895331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64" name="Espaço Reservado para Texto 62"/>
          <p:cNvSpPr>
            <a:spLocks noGrp="1"/>
          </p:cNvSpPr>
          <p:nvPr>
            <p:ph type="body" sz="quarter" idx="21" hasCustomPrompt="1"/>
          </p:nvPr>
        </p:nvSpPr>
        <p:spPr>
          <a:xfrm>
            <a:off x="4339187" y="1524000"/>
            <a:ext cx="895331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65" name="Espaço Reservado para Texto 62"/>
          <p:cNvSpPr>
            <a:spLocks noGrp="1"/>
          </p:cNvSpPr>
          <p:nvPr>
            <p:ph type="body" sz="quarter" idx="22" hasCustomPrompt="1"/>
          </p:nvPr>
        </p:nvSpPr>
        <p:spPr>
          <a:xfrm>
            <a:off x="8123435" y="1524000"/>
            <a:ext cx="895331" cy="861774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buNone/>
              <a:defRPr lang="pt-BR" sz="5000" kern="12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1680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709083" y="2143116"/>
            <a:ext cx="5386917" cy="3951288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dirty="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bg2">
                  <a:lumMod val="90000"/>
                  <a:alpha val="7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1pPr>
            <a:lvl2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2pPr>
            <a:lvl3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3pPr>
            <a:lvl4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4pPr>
            <a:lvl5pPr algn="l" defTabSz="914400" rtl="0" eaLnBrk="1" latinLnBrk="0" hangingPunct="1">
              <a:spcBef>
                <a:spcPct val="20000"/>
              </a:spcBef>
              <a:buFont typeface="Arial" pitchFamily="34" charset="0"/>
              <a:defRPr lang="pt-BR" sz="2000" kern="1200" smtClean="0">
                <a:solidFill>
                  <a:prstClr val="white">
                    <a:lumMod val="50000"/>
                  </a:prstClr>
                </a:solidFill>
                <a:latin typeface="Gill Sans MT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0" name="Rectangle 5"/>
          <p:cNvSpPr/>
          <p:nvPr/>
        </p:nvSpPr>
        <p:spPr>
          <a:xfrm>
            <a:off x="709083" y="1417639"/>
            <a:ext cx="5386917" cy="757237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609568" y="1357298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</a:rPr>
              <a:t>1</a:t>
            </a:r>
          </a:p>
        </p:txBody>
      </p:sp>
      <p:cxnSp>
        <p:nvCxnSpPr>
          <p:cNvPr id="12" name="Straight Connector 9"/>
          <p:cNvCxnSpPr/>
          <p:nvPr/>
        </p:nvCxnSpPr>
        <p:spPr>
          <a:xfrm rot="5400000">
            <a:off x="1086876" y="1799158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0836" y="1428737"/>
            <a:ext cx="4565683" cy="717559"/>
          </a:xfr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4" name="Rectangle 5"/>
          <p:cNvSpPr/>
          <p:nvPr/>
        </p:nvSpPr>
        <p:spPr>
          <a:xfrm>
            <a:off x="6193368" y="1417639"/>
            <a:ext cx="5389033" cy="757237"/>
          </a:xfrm>
          <a:prstGeom prst="rect">
            <a:avLst/>
          </a:prstGeom>
          <a:gradFill flip="none" rotWithShape="1">
            <a:gsLst>
              <a:gs pos="32000">
                <a:schemeClr val="bg2"/>
              </a:gs>
              <a:gs pos="100000">
                <a:schemeClr val="bg2">
                  <a:lumMod val="75000"/>
                </a:schemeClr>
              </a:gs>
            </a:gsLst>
            <a:lin ang="54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  <a:tileRect/>
            </a:gradFill>
          </a:ln>
          <a:effectLst>
            <a:glow rad="63500">
              <a:schemeClr val="bg1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rtlCol="0" anchor="ctr"/>
          <a:lstStyle/>
          <a:p>
            <a:endParaRPr lang="en-US" sz="2400" dirty="0">
              <a:solidFill>
                <a:srgbClr val="EEECE1">
                  <a:lumMod val="25000"/>
                </a:srgbClr>
              </a:solidFill>
              <a:latin typeface="Gill Sans MT" pitchFamily="34" charset="0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6096000" y="1357298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>
                <a:solidFill>
                  <a:srgbClr val="EEECE1">
                    <a:lumMod val="75000"/>
                  </a:srgbClr>
                </a:solidFill>
                <a:latin typeface="Calisto MT" pitchFamily="18" charset="0"/>
              </a:rPr>
              <a:t>2</a:t>
            </a:r>
          </a:p>
        </p:txBody>
      </p:sp>
      <p:cxnSp>
        <p:nvCxnSpPr>
          <p:cNvPr id="16" name="Straight Connector 9"/>
          <p:cNvCxnSpPr/>
          <p:nvPr/>
        </p:nvCxnSpPr>
        <p:spPr>
          <a:xfrm rot="5400000">
            <a:off x="6611415" y="1799158"/>
            <a:ext cx="685800" cy="2117"/>
          </a:xfrm>
          <a:prstGeom prst="line">
            <a:avLst/>
          </a:prstGeom>
          <a:ln w="31750">
            <a:solidFill>
              <a:srgbClr val="FFFF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ço Reservado para Texto 2"/>
          <p:cNvSpPr>
            <a:spLocks noGrp="1"/>
          </p:cNvSpPr>
          <p:nvPr>
            <p:ph type="body" idx="13"/>
          </p:nvPr>
        </p:nvSpPr>
        <p:spPr>
          <a:xfrm>
            <a:off x="6953256" y="1428737"/>
            <a:ext cx="4565683" cy="717559"/>
          </a:xfrm>
          <a:noFill/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9144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pt-BR" sz="2400" kern="1200" dirty="0" smtClean="0">
                <a:solidFill>
                  <a:srgbClr val="EEECE1">
                    <a:lumMod val="25000"/>
                  </a:srgbClr>
                </a:solidFill>
                <a:latin typeface="Gill Sans MT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25596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4851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3807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gradFill>
            <a:gsLst>
              <a:gs pos="0">
                <a:schemeClr val="bg1">
                  <a:alpha val="0"/>
                </a:schemeClr>
              </a:gs>
              <a:gs pos="55000">
                <a:schemeClr val="bg2">
                  <a:lumMod val="9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solidFill>
              <a:schemeClr val="bg2">
                <a:lumMod val="75000"/>
              </a:schemeClr>
            </a:solidFill>
          </a:ln>
        </p:spPr>
        <p:txBody>
          <a:bodyPr anchor="ctr"/>
          <a:lstStyle>
            <a:lvl1pPr algn="l">
              <a:defRPr sz="2000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gradFill>
            <a:gsLst>
              <a:gs pos="0">
                <a:schemeClr val="bg1">
                  <a:alpha val="0"/>
                </a:schemeClr>
              </a:gs>
              <a:gs pos="55000">
                <a:schemeClr val="bg2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 sz="1400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109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088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605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2695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46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7830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9913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8685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6911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1442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764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5615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97525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93290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56110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09854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4242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82772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61983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13187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26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/>
            </a:gs>
            <a:gs pos="10000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136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E6AF9-F7D4-4C45-9F16-4BC65E636369}" type="datetimeFigureOut">
              <a:rPr lang="pt-BR" smtClean="0"/>
              <a:t>09/09/2023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ED21B1A-71FD-4DD8-B271-956185582C8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499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4000" dirty="0">
                <a:latin typeface="Arial Black" panose="020B0A04020102020204" pitchFamily="34" charset="0"/>
              </a:rPr>
              <a:t>Programação WEB 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2</a:t>
            </a:r>
          </a:p>
        </p:txBody>
      </p:sp>
    </p:spTree>
    <p:extLst>
      <p:ext uri="{BB962C8B-B14F-4D97-AF65-F5344CB8AC3E}">
        <p14:creationId xmlns:p14="http://schemas.microsoft.com/office/powerpoint/2010/main" val="318143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9220200" cy="4626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                                 Estrutura básica, DOCTYPE e Charsets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O Doctype deve ser a primeira linha de código do documento antes da tag HTML.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dirty="0"/>
              <a:t>&lt;!DOCTYPE</a:t>
            </a:r>
            <a:r>
              <a:rPr lang="pt-BR"/>
              <a:t>  HTML&gt;</a:t>
            </a:r>
            <a:endParaRPr lang="pt-BR" dirty="0"/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O Doctype indica para o navegador e para outros meios qual a especificação de código utilizar.</a:t>
            </a:r>
          </a:p>
          <a:p>
            <a:pPr marL="0" indent="0">
              <a:buNone/>
            </a:pPr>
            <a:r>
              <a:rPr lang="pt-BR" b="1" dirty="0"/>
              <a:t>Doctype não é uma tag do HTML, mas uma instrução para que o browser tenha informações sobre qual versão de código a marcação foi escrita.</a:t>
            </a:r>
          </a:p>
          <a:p>
            <a:pPr marL="0" indent="0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2490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9220200" cy="4626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                                 Estrutura básica, DOCTYPE e Charsets</a:t>
            </a:r>
          </a:p>
          <a:p>
            <a:pPr marL="0" indent="0">
              <a:buNone/>
            </a:pPr>
            <a:r>
              <a:rPr lang="pt-BR" b="1" dirty="0"/>
              <a:t>Atributo LANG</a:t>
            </a:r>
          </a:p>
          <a:p>
            <a:pPr marL="0" indent="0">
              <a:buNone/>
            </a:pPr>
            <a:r>
              <a:rPr lang="pt-BR" dirty="0"/>
              <a:t>O atributo LANG é necessário para que os user-agents saibam qual a linguagem principal do documento.</a:t>
            </a:r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Lembre-se que o atributo LANG não é restrito ao elemento HTML, ele pode ser utilizado em qualquer outro elemento para indicar o idioma do texto representado.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&lt;html lang="pt-br"&gt;</a:t>
            </a:r>
          </a:p>
        </p:txBody>
      </p:sp>
    </p:spTree>
    <p:extLst>
      <p:ext uri="{BB962C8B-B14F-4D97-AF65-F5344CB8AC3E}">
        <p14:creationId xmlns:p14="http://schemas.microsoft.com/office/powerpoint/2010/main" val="1124416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120203"/>
            <a:ext cx="8596668" cy="1320800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br>
              <a:rPr lang="pt-BR" dirty="0">
                <a:latin typeface="Arial Black" panose="020B0A04020102020204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953037"/>
            <a:ext cx="9220200" cy="5499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                               </a:t>
            </a:r>
          </a:p>
          <a:p>
            <a:pPr marL="0" indent="0">
              <a:buNone/>
            </a:pPr>
            <a:r>
              <a:rPr lang="pt-BR" b="1" dirty="0"/>
              <a:t>  Estrutura básica, DOCTYPE e Charsets</a:t>
            </a:r>
          </a:p>
          <a:p>
            <a:pPr marL="0" indent="0">
              <a:buNone/>
            </a:pPr>
            <a:r>
              <a:rPr lang="pt-BR" b="1" dirty="0"/>
              <a:t>HEAD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A Tag HEAD é onde fica toda a parte inteligente da página. No HEAD ficam os metadados. Metadados são informações sobre a página e o conteúdo ali publicado.</a:t>
            </a:r>
          </a:p>
          <a:p>
            <a:pPr marL="0" indent="0">
              <a:buNone/>
            </a:pPr>
            <a:r>
              <a:rPr lang="pt-BR" b="1" dirty="0" err="1"/>
              <a:t>Metatag</a:t>
            </a:r>
            <a:r>
              <a:rPr lang="pt-BR" b="1" dirty="0"/>
              <a:t> </a:t>
            </a:r>
            <a:r>
              <a:rPr lang="pt-BR" b="1" dirty="0" err="1"/>
              <a:t>Charset</a:t>
            </a:r>
            <a:endParaRPr lang="pt-BR" b="1" dirty="0"/>
          </a:p>
          <a:p>
            <a:pPr marL="0" indent="0">
              <a:buNone/>
            </a:pPr>
            <a:r>
              <a:rPr lang="pt-BR" b="1" dirty="0"/>
              <a:t>Neste exemplo há uma </a:t>
            </a:r>
            <a:r>
              <a:rPr lang="pt-BR" b="1" dirty="0" err="1"/>
              <a:t>metatag</a:t>
            </a:r>
            <a:r>
              <a:rPr lang="pt-BR" b="1" dirty="0"/>
              <a:t> responsável por chavear qual tabela de </a:t>
            </a:r>
            <a:r>
              <a:rPr lang="pt-BR" b="1" dirty="0" err="1"/>
              <a:t>caractéres</a:t>
            </a:r>
            <a:r>
              <a:rPr lang="pt-BR" b="1" dirty="0"/>
              <a:t> a página está utilizando. Exemplo utilizado para versões antes do HTML 5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&lt;meta </a:t>
            </a:r>
            <a:r>
              <a:rPr lang="pt-BR" b="1" dirty="0" err="1"/>
              <a:t>http-equiv</a:t>
            </a:r>
            <a:r>
              <a:rPr lang="pt-BR" b="1" dirty="0"/>
              <a:t>="</a:t>
            </a:r>
            <a:r>
              <a:rPr lang="pt-BR" b="1" dirty="0" err="1"/>
              <a:t>Content-Type</a:t>
            </a:r>
            <a:r>
              <a:rPr lang="pt-BR" b="1" dirty="0"/>
              <a:t>" </a:t>
            </a:r>
            <a:r>
              <a:rPr lang="pt-BR" b="1" dirty="0" err="1"/>
              <a:t>content</a:t>
            </a:r>
            <a:r>
              <a:rPr lang="pt-BR" b="1" dirty="0"/>
              <a:t>="</a:t>
            </a:r>
            <a:r>
              <a:rPr lang="pt-BR" b="1" dirty="0" err="1"/>
              <a:t>text</a:t>
            </a:r>
            <a:r>
              <a:rPr lang="pt-BR" b="1" dirty="0"/>
              <a:t>/</a:t>
            </a:r>
            <a:r>
              <a:rPr lang="pt-BR" b="1" dirty="0" err="1"/>
              <a:t>html;charset</a:t>
            </a:r>
            <a:r>
              <a:rPr lang="pt-BR" b="1" dirty="0"/>
              <a:t>=iso-8859-1" /&gt;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Para versões do HTML 5</a:t>
            </a:r>
          </a:p>
          <a:p>
            <a:pPr marL="0" indent="0">
              <a:buNone/>
            </a:pPr>
            <a:r>
              <a:rPr lang="pt-BR" b="1" dirty="0"/>
              <a:t>&lt;meta </a:t>
            </a:r>
            <a:r>
              <a:rPr lang="pt-BR" b="1" dirty="0" err="1"/>
              <a:t>charset</a:t>
            </a:r>
            <a:r>
              <a:rPr lang="pt-BR" b="1" dirty="0"/>
              <a:t>="utf-8"&gt;</a:t>
            </a:r>
          </a:p>
        </p:txBody>
      </p:sp>
    </p:spTree>
    <p:extLst>
      <p:ext uri="{BB962C8B-B14F-4D97-AF65-F5344CB8AC3E}">
        <p14:creationId xmlns:p14="http://schemas.microsoft.com/office/powerpoint/2010/main" val="2623227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08656" y="326490"/>
            <a:ext cx="8267164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19707"/>
            <a:ext cx="10515600" cy="46572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                                                 Comentários  </a:t>
            </a:r>
          </a:p>
          <a:p>
            <a:pPr marL="0" indent="0">
              <a:buNone/>
            </a:pPr>
            <a:r>
              <a:rPr lang="pt-BR" dirty="0"/>
              <a:t>Qualquer texto escrito dento da limitação dos marcadores &lt;BODY&gt; e &lt;/BODY&gt; </a:t>
            </a:r>
          </a:p>
          <a:p>
            <a:pPr marL="0" indent="0">
              <a:buNone/>
            </a:pPr>
            <a:r>
              <a:rPr lang="pt-BR" dirty="0"/>
              <a:t>serão exibidos em tela, a menos que seja um comentário. </a:t>
            </a:r>
          </a:p>
          <a:p>
            <a:pPr marL="0" indent="0">
              <a:buNone/>
            </a:pPr>
            <a:r>
              <a:rPr lang="pt-BR" dirty="0"/>
              <a:t>Comentários são colocados dentro de páginas entre os marcadores &lt;!-- e --&gt;</a:t>
            </a:r>
          </a:p>
          <a:p>
            <a:pPr marL="0" indent="0">
              <a:buNone/>
            </a:pPr>
            <a:r>
              <a:rPr lang="pt-BR" dirty="0"/>
              <a:t> e servem apenas para documentação, sendo ignorados pelo browser.  </a:t>
            </a:r>
          </a:p>
          <a:p>
            <a:pPr marL="0" indent="0">
              <a:buNone/>
            </a:pPr>
            <a:r>
              <a:rPr lang="pt-BR" dirty="0"/>
              <a:t>Exemplo:  </a:t>
            </a:r>
          </a:p>
          <a:p>
            <a:pPr marL="0" indent="0">
              <a:buNone/>
            </a:pPr>
            <a:r>
              <a:rPr lang="pt-BR" dirty="0"/>
              <a:t>&lt;html&gt;</a:t>
            </a:r>
          </a:p>
          <a:p>
            <a:pPr marL="0" indent="0">
              <a:buNone/>
            </a:pPr>
            <a:r>
              <a:rPr lang="pt-BR" dirty="0"/>
              <a:t> &lt;head&gt; </a:t>
            </a:r>
          </a:p>
          <a:p>
            <a:pPr marL="0" indent="0">
              <a:buNone/>
            </a:pPr>
            <a:r>
              <a:rPr lang="pt-BR" dirty="0"/>
              <a:t>&lt;title&gt; Teste &lt;/title&gt;</a:t>
            </a:r>
          </a:p>
          <a:p>
            <a:pPr marL="0" indent="0">
              <a:buNone/>
            </a:pPr>
            <a:r>
              <a:rPr lang="pt-BR" dirty="0"/>
              <a:t> &lt;/head&gt;</a:t>
            </a:r>
          </a:p>
          <a:p>
            <a:pPr marL="0" indent="0">
              <a:buNone/>
            </a:pPr>
            <a:r>
              <a:rPr lang="pt-BR" dirty="0"/>
              <a:t> &lt;body&gt; comentário 1  </a:t>
            </a:r>
          </a:p>
          <a:p>
            <a:pPr marL="0" indent="0">
              <a:buNone/>
            </a:pPr>
            <a:r>
              <a:rPr lang="pt-BR" dirty="0"/>
              <a:t>&lt;!-- Exemplo sobre Comentario --&gt;</a:t>
            </a:r>
          </a:p>
          <a:p>
            <a:pPr marL="0" indent="0">
              <a:buNone/>
            </a:pPr>
            <a:r>
              <a:rPr lang="pt-BR" dirty="0"/>
              <a:t> &lt;/body&gt;</a:t>
            </a:r>
          </a:p>
          <a:p>
            <a:pPr marL="0" indent="0">
              <a:buNone/>
            </a:pPr>
            <a:r>
              <a:rPr lang="pt-BR" dirty="0"/>
              <a:t> &lt;/html&gt; </a:t>
            </a:r>
          </a:p>
        </p:txBody>
      </p:sp>
    </p:spTree>
    <p:extLst>
      <p:ext uri="{BB962C8B-B14F-4D97-AF65-F5344CB8AC3E}">
        <p14:creationId xmlns:p14="http://schemas.microsoft.com/office/powerpoint/2010/main" val="1183871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1520" y="1609965"/>
            <a:ext cx="9646276" cy="4626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                                 Estrutura básica, DOCTYPE e Charsets</a:t>
            </a:r>
          </a:p>
          <a:p>
            <a:pPr marL="0" indent="0">
              <a:buNone/>
            </a:pPr>
            <a:r>
              <a:rPr lang="pt-BR" b="1" dirty="0"/>
              <a:t> 1 &lt;!DOCTYPE HTML&gt;</a:t>
            </a:r>
          </a:p>
          <a:p>
            <a:pPr marL="0" indent="0">
              <a:buNone/>
            </a:pPr>
            <a:r>
              <a:rPr lang="pt-BR" b="1" dirty="0"/>
              <a:t> 2 &lt;html lang="pt-br"&gt;</a:t>
            </a:r>
          </a:p>
          <a:p>
            <a:pPr marL="0" indent="0">
              <a:buNone/>
            </a:pPr>
            <a:r>
              <a:rPr lang="pt-BR" b="1" dirty="0"/>
              <a:t> 3 &lt;</a:t>
            </a:r>
            <a:r>
              <a:rPr lang="pt-BR" b="1" dirty="0" err="1"/>
              <a:t>head</a:t>
            </a:r>
            <a:r>
              <a:rPr lang="pt-BR" b="1" dirty="0"/>
              <a:t>&gt;</a:t>
            </a:r>
          </a:p>
          <a:p>
            <a:pPr marL="0" indent="0">
              <a:buNone/>
            </a:pPr>
            <a:r>
              <a:rPr lang="pt-BR" b="1" dirty="0"/>
              <a:t> 4 &lt;meta </a:t>
            </a:r>
            <a:r>
              <a:rPr lang="pt-BR" b="1" dirty="0" err="1"/>
              <a:t>http-equiv</a:t>
            </a:r>
            <a:r>
              <a:rPr lang="pt-BR" b="1" dirty="0"/>
              <a:t>="</a:t>
            </a:r>
            <a:r>
              <a:rPr lang="pt-BR" b="1" dirty="0" err="1"/>
              <a:t>Content-Type</a:t>
            </a:r>
            <a:r>
              <a:rPr lang="pt-BR" b="1" dirty="0"/>
              <a:t>" </a:t>
            </a:r>
            <a:r>
              <a:rPr lang="pt-BR" b="1" dirty="0" err="1"/>
              <a:t>content</a:t>
            </a:r>
            <a:r>
              <a:rPr lang="pt-BR" b="1" dirty="0"/>
              <a:t>="</a:t>
            </a:r>
            <a:r>
              <a:rPr lang="pt-BR" b="1" dirty="0" err="1"/>
              <a:t>text</a:t>
            </a:r>
            <a:r>
              <a:rPr lang="pt-BR" b="1" dirty="0"/>
              <a:t>/</a:t>
            </a:r>
            <a:r>
              <a:rPr lang="pt-BR" b="1" dirty="0" err="1"/>
              <a:t>html;charset</a:t>
            </a:r>
            <a:r>
              <a:rPr lang="pt-BR" b="1" dirty="0"/>
              <a:t>=iso-8859-1" /&gt;</a:t>
            </a:r>
          </a:p>
          <a:p>
            <a:pPr marL="0" indent="0">
              <a:buNone/>
            </a:pPr>
            <a:r>
              <a:rPr lang="pt-BR" b="1" dirty="0"/>
              <a:t> 5  &lt;</a:t>
            </a:r>
            <a:r>
              <a:rPr lang="pt-BR" b="1" dirty="0" err="1"/>
              <a:t>title</a:t>
            </a:r>
            <a:r>
              <a:rPr lang="pt-BR" b="1" dirty="0"/>
              <a:t>&gt;&lt;/title&gt;</a:t>
            </a:r>
          </a:p>
          <a:p>
            <a:pPr marL="0" indent="0">
              <a:buNone/>
            </a:pPr>
            <a:r>
              <a:rPr lang="pt-BR" b="1" dirty="0"/>
              <a:t> 6 &lt;/head&gt;</a:t>
            </a:r>
          </a:p>
          <a:p>
            <a:pPr marL="0" indent="0">
              <a:buNone/>
            </a:pPr>
            <a:r>
              <a:rPr lang="pt-BR" b="1" dirty="0"/>
              <a:t> 7 &lt;</a:t>
            </a:r>
            <a:r>
              <a:rPr lang="pt-BR" b="1" dirty="0" err="1"/>
              <a:t>body</a:t>
            </a:r>
            <a:r>
              <a:rPr lang="pt-BR" b="1" dirty="0"/>
              <a:t>&gt;</a:t>
            </a:r>
          </a:p>
          <a:p>
            <a:pPr marL="0" indent="0">
              <a:buNone/>
            </a:pPr>
            <a:r>
              <a:rPr lang="pt-BR" b="1" dirty="0"/>
              <a:t>  .........</a:t>
            </a:r>
          </a:p>
          <a:p>
            <a:pPr marL="0" indent="0">
              <a:buNone/>
            </a:pPr>
            <a:r>
              <a:rPr lang="pt-BR" b="1" dirty="0"/>
              <a:t> 8 &lt;/body&gt;</a:t>
            </a:r>
          </a:p>
          <a:p>
            <a:pPr marL="0" indent="0">
              <a:buNone/>
            </a:pPr>
            <a:r>
              <a:rPr lang="pt-BR" b="1" dirty="0"/>
              <a:t> 9 &lt;/html&gt;</a:t>
            </a:r>
          </a:p>
        </p:txBody>
      </p:sp>
    </p:spTree>
    <p:extLst>
      <p:ext uri="{BB962C8B-B14F-4D97-AF65-F5344CB8AC3E}">
        <p14:creationId xmlns:p14="http://schemas.microsoft.com/office/powerpoint/2010/main" val="324690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6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                                                         </a:t>
            </a:r>
            <a:r>
              <a:rPr lang="pt-BR" u="sng" dirty="0"/>
              <a:t>TAGS</a:t>
            </a:r>
          </a:p>
          <a:p>
            <a:pPr marL="0" indent="0">
              <a:buNone/>
            </a:pPr>
            <a:r>
              <a:rPr lang="pt-BR" dirty="0"/>
              <a:t>&lt;HTML&gt;...&lt;/HTML&gt;</a:t>
            </a:r>
          </a:p>
          <a:p>
            <a:pPr marL="0" indent="0">
              <a:buNone/>
            </a:pPr>
            <a:r>
              <a:rPr lang="pt-BR" dirty="0"/>
              <a:t>&lt;TITLE&gt;...&lt;/TITLE&gt;</a:t>
            </a:r>
          </a:p>
          <a:p>
            <a:pPr marL="0" indent="0">
              <a:buNone/>
            </a:pPr>
            <a:r>
              <a:rPr lang="pt-BR" dirty="0"/>
              <a:t>&lt;HEAD&gt;...&lt;/HEAD&gt; </a:t>
            </a:r>
          </a:p>
          <a:p>
            <a:pPr marL="0" indent="0">
              <a:buNone/>
            </a:pPr>
            <a:r>
              <a:rPr lang="pt-BR" dirty="0"/>
              <a:t>&lt;p&gt;</a:t>
            </a:r>
          </a:p>
          <a:p>
            <a:pPr marL="0" indent="0">
              <a:buNone/>
            </a:pPr>
            <a:r>
              <a:rPr lang="pt-BR" dirty="0"/>
              <a:t>&lt;br&gt;</a:t>
            </a:r>
          </a:p>
        </p:txBody>
      </p:sp>
    </p:spTree>
    <p:extLst>
      <p:ext uri="{BB962C8B-B14F-4D97-AF65-F5344CB8AC3E}">
        <p14:creationId xmlns:p14="http://schemas.microsoft.com/office/powerpoint/2010/main" val="147080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669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pt-BR" dirty="0"/>
              <a:t>Crie uma pasta </a:t>
            </a:r>
          </a:p>
          <a:p>
            <a:pPr marL="0" indent="0">
              <a:buNone/>
            </a:pPr>
            <a:r>
              <a:rPr lang="pt-BR" dirty="0"/>
              <a:t>2. Abra o Bloco de Notas e crie arquivo com o nome index.html </a:t>
            </a:r>
          </a:p>
          <a:p>
            <a:pPr marL="0" indent="0">
              <a:buNone/>
            </a:pPr>
            <a:r>
              <a:rPr lang="pt-BR" dirty="0"/>
              <a:t>3. Digite o código abaixo:  </a:t>
            </a:r>
          </a:p>
          <a:p>
            <a:pPr marL="0" indent="0">
              <a:buNone/>
            </a:pPr>
            <a:r>
              <a:rPr lang="pt-BR" dirty="0"/>
              <a:t>&lt;html&gt; </a:t>
            </a:r>
          </a:p>
          <a:p>
            <a:pPr marL="0" indent="0">
              <a:buNone/>
            </a:pPr>
            <a:r>
              <a:rPr lang="pt-BR" dirty="0"/>
              <a:t>&lt;head&gt;</a:t>
            </a:r>
          </a:p>
          <a:p>
            <a:pPr marL="0" indent="0">
              <a:buNone/>
            </a:pPr>
            <a:r>
              <a:rPr lang="pt-BR" dirty="0"/>
              <a:t> &lt;title&gt; Aula </a:t>
            </a:r>
            <a:r>
              <a:rPr lang="pt-BR"/>
              <a:t>de Programação WEB I &lt;/</a:t>
            </a:r>
            <a:r>
              <a:rPr lang="pt-BR" dirty="0"/>
              <a:t>title&gt;</a:t>
            </a:r>
          </a:p>
          <a:p>
            <a:pPr marL="0" indent="0">
              <a:buNone/>
            </a:pPr>
            <a:r>
              <a:rPr lang="pt-BR" dirty="0"/>
              <a:t> &lt;/head&gt;</a:t>
            </a:r>
          </a:p>
          <a:p>
            <a:pPr marL="0" indent="0">
              <a:buNone/>
            </a:pPr>
            <a:r>
              <a:rPr lang="pt-BR" dirty="0"/>
              <a:t> &lt;body bgcolor=“green”&gt; Corpo da página HTML com cor de fundo. &lt;/body&gt; </a:t>
            </a:r>
          </a:p>
          <a:p>
            <a:pPr marL="0" indent="0">
              <a:buNone/>
            </a:pPr>
            <a:r>
              <a:rPr lang="pt-BR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187640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08656" y="326490"/>
            <a:ext cx="8267164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19707"/>
            <a:ext cx="10515600" cy="46572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                                                      Titulo e Sub-titulo</a:t>
            </a:r>
          </a:p>
          <a:p>
            <a:pPr marL="0" indent="0">
              <a:buNone/>
            </a:pPr>
            <a:r>
              <a:rPr lang="pt-BR" dirty="0"/>
              <a:t>&lt;html&gt;</a:t>
            </a:r>
          </a:p>
          <a:p>
            <a:pPr marL="0" indent="0">
              <a:buNone/>
            </a:pPr>
            <a:r>
              <a:rPr lang="pt-BR" dirty="0"/>
              <a:t> &lt;head&gt;</a:t>
            </a:r>
          </a:p>
          <a:p>
            <a:pPr marL="0" indent="0">
              <a:buNone/>
            </a:pPr>
            <a:r>
              <a:rPr lang="pt-BR" dirty="0"/>
              <a:t> &lt;title&gt; Aula de Programação WEB I – HTML&lt;/title&gt; </a:t>
            </a:r>
          </a:p>
          <a:p>
            <a:pPr marL="0" indent="0">
              <a:buNone/>
            </a:pPr>
            <a:r>
              <a:rPr lang="pt-BR" dirty="0"/>
              <a:t>&lt;/head&gt; </a:t>
            </a:r>
          </a:p>
          <a:p>
            <a:pPr marL="0" indent="0">
              <a:buNone/>
            </a:pPr>
            <a:r>
              <a:rPr lang="pt-BR" dirty="0"/>
              <a:t>&lt;body&gt;</a:t>
            </a:r>
          </a:p>
          <a:p>
            <a:pPr marL="0" indent="0">
              <a:buNone/>
            </a:pPr>
            <a:r>
              <a:rPr lang="pt-BR" dirty="0"/>
              <a:t>&lt;H1&gt; Título de nível 1 &lt;/H1&gt;  -</a:t>
            </a:r>
            <a:r>
              <a:rPr lang="pt-BR" dirty="0">
                <a:sym typeface="Wingdings" panose="05000000000000000000" pitchFamily="2" charset="2"/>
              </a:rPr>
              <a:t> maior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&lt;H2&gt; Título de nível 2 &lt;/H2&gt;</a:t>
            </a:r>
          </a:p>
          <a:p>
            <a:pPr marL="0" indent="0">
              <a:buNone/>
            </a:pPr>
            <a:r>
              <a:rPr lang="pt-BR" dirty="0"/>
              <a:t>   &lt;H3&gt; Título de nível 3 &lt;/H3&gt;   </a:t>
            </a:r>
          </a:p>
          <a:p>
            <a:pPr marL="0" indent="0">
              <a:buNone/>
            </a:pPr>
            <a:r>
              <a:rPr lang="pt-BR" dirty="0"/>
              <a:t>&lt;H4&gt; Título de nível 4 &lt;/H4&gt;   </a:t>
            </a:r>
          </a:p>
          <a:p>
            <a:pPr marL="0" indent="0">
              <a:buNone/>
            </a:pPr>
            <a:r>
              <a:rPr lang="pt-BR" dirty="0"/>
              <a:t>&lt;H5&gt; Título de nível 5 &lt;/H5&gt; </a:t>
            </a:r>
          </a:p>
          <a:p>
            <a:pPr marL="0" indent="0">
              <a:buNone/>
            </a:pPr>
            <a:r>
              <a:rPr lang="pt-BR" dirty="0"/>
              <a:t>  &lt;H6&gt; Título de nível 6 &lt;/H6&gt;</a:t>
            </a:r>
          </a:p>
          <a:p>
            <a:pPr marL="0" indent="0">
              <a:buNone/>
            </a:pPr>
            <a:r>
              <a:rPr lang="pt-BR" dirty="0"/>
              <a:t> &lt;/body&gt; </a:t>
            </a:r>
          </a:p>
          <a:p>
            <a:pPr marL="0" indent="0">
              <a:buNone/>
            </a:pPr>
            <a:r>
              <a:rPr lang="pt-BR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1770250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29520"/>
            <a:ext cx="8073980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19707"/>
            <a:ext cx="10515600" cy="4657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                                               </a:t>
            </a:r>
            <a:r>
              <a:rPr lang="pt-BR" u="sng" dirty="0"/>
              <a:t>PARAGRAFO</a:t>
            </a:r>
          </a:p>
          <a:p>
            <a:pPr marL="0" indent="0">
              <a:buNone/>
            </a:pPr>
            <a:endParaRPr lang="pt-BR" u="sng" dirty="0"/>
          </a:p>
          <a:p>
            <a:pPr marL="0" indent="0">
              <a:buNone/>
            </a:pPr>
            <a:r>
              <a:rPr lang="pt-BR" dirty="0"/>
              <a:t>&lt;p&gt; </a:t>
            </a:r>
          </a:p>
          <a:p>
            <a:pPr marL="0" indent="0">
              <a:buNone/>
            </a:pPr>
            <a:r>
              <a:rPr lang="pt-BR" dirty="0"/>
              <a:t>A tag responsável pela quebra de parágrafos é a &lt;P&gt; que finaliza o parágrafo e insere automaticamente uma linha em branco entre os parágrafos. Exemplo:  </a:t>
            </a:r>
          </a:p>
          <a:p>
            <a:pPr marL="0" indent="0">
              <a:buNone/>
            </a:pPr>
            <a:r>
              <a:rPr lang="pt-BR" dirty="0"/>
              <a:t>&lt;P align=“posição”&gt; texto do parágrafo.  </a:t>
            </a:r>
          </a:p>
          <a:p>
            <a:pPr marL="0" indent="0">
              <a:buNone/>
            </a:pPr>
            <a:r>
              <a:rPr lang="pt-BR" dirty="0"/>
              <a:t>Posição pode ser: </a:t>
            </a:r>
          </a:p>
          <a:p>
            <a:pPr marL="0" indent="0">
              <a:buNone/>
            </a:pPr>
            <a:r>
              <a:rPr lang="pt-BR" dirty="0"/>
              <a:t>Left : Alinhamento à esquerda. </a:t>
            </a:r>
          </a:p>
          <a:p>
            <a:pPr marL="0" indent="0">
              <a:buNone/>
            </a:pPr>
            <a:r>
              <a:rPr lang="pt-BR" dirty="0"/>
              <a:t>Center: Centralizado</a:t>
            </a:r>
          </a:p>
          <a:p>
            <a:pPr marL="0" indent="0">
              <a:buNone/>
            </a:pPr>
            <a:r>
              <a:rPr lang="pt-BR" dirty="0"/>
              <a:t> Rigth: Alinhamento à direita</a:t>
            </a:r>
          </a:p>
        </p:txBody>
      </p:sp>
    </p:spTree>
    <p:extLst>
      <p:ext uri="{BB962C8B-B14F-4D97-AF65-F5344CB8AC3E}">
        <p14:creationId xmlns:p14="http://schemas.microsoft.com/office/powerpoint/2010/main" val="697469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8048" y="352247"/>
            <a:ext cx="8151253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81377" y="1545464"/>
            <a:ext cx="9503536" cy="4657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                                               </a:t>
            </a:r>
            <a:r>
              <a:rPr lang="pt-BR" u="sng" dirty="0"/>
              <a:t>Texto Pre-Formatado</a:t>
            </a:r>
          </a:p>
          <a:p>
            <a:pPr marL="0" indent="0">
              <a:buNone/>
            </a:pPr>
            <a:endParaRPr lang="pt-BR" u="sng" dirty="0"/>
          </a:p>
          <a:p>
            <a:pPr marL="0" indent="0">
              <a:buNone/>
            </a:pPr>
            <a:r>
              <a:rPr lang="pt-BR" dirty="0"/>
              <a:t>Através das tags &lt;pre&gt;..&lt;/pre&gt;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Mantem a formatação original com marcas de tabulação ,fim de linha gerado pela tecla “Enter” e outros formatos.</a:t>
            </a:r>
          </a:p>
          <a:p>
            <a:pPr marL="0" indent="0">
              <a:buNone/>
            </a:pP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1680353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03763"/>
            <a:ext cx="8228527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19707"/>
            <a:ext cx="10515600" cy="4657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                                               </a:t>
            </a:r>
            <a:r>
              <a:rPr lang="pt-BR" u="sng" dirty="0"/>
              <a:t>Quebra de linha</a:t>
            </a:r>
          </a:p>
          <a:p>
            <a:pPr marL="0" indent="0">
              <a:buNone/>
            </a:pPr>
            <a:endParaRPr lang="pt-BR" u="sng" dirty="0"/>
          </a:p>
          <a:p>
            <a:pPr marL="0" indent="0">
              <a:buNone/>
            </a:pPr>
            <a:r>
              <a:rPr lang="pt-BR" dirty="0"/>
              <a:t>Através das tag &lt;br&gt;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Efetua uma quebra de linha sem acrescentar espaços.</a:t>
            </a:r>
          </a:p>
          <a:p>
            <a:pPr marL="0" indent="0">
              <a:buNone/>
            </a:pPr>
            <a:r>
              <a:rPr lang="pt-BR" dirty="0"/>
              <a:t>Pular para próxima linha.</a:t>
            </a:r>
          </a:p>
          <a:p>
            <a:pPr marL="0" indent="0">
              <a:buNone/>
            </a:pP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1498099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4271" y="481037"/>
            <a:ext cx="8150180" cy="806852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3031" y="1545464"/>
            <a:ext cx="11778803" cy="51515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/>
              <a:t>             </a:t>
            </a:r>
            <a:r>
              <a:rPr lang="pt-BR" u="sng" dirty="0"/>
              <a:t>Centralização de Textos e Outros Formatos</a:t>
            </a:r>
          </a:p>
          <a:p>
            <a:pPr marL="0" indent="0" algn="ctr">
              <a:buNone/>
            </a:pPr>
            <a:endParaRPr lang="pt-BR" u="sng" dirty="0"/>
          </a:p>
          <a:p>
            <a:pPr marL="0" indent="0">
              <a:buNone/>
            </a:pPr>
            <a:r>
              <a:rPr lang="pt-BR" dirty="0"/>
              <a:t>Todo conteúdo que vier a ser centralizado deve –se usar a tag &lt;Center&gt;..&lt;/Center&gt;</a:t>
            </a:r>
          </a:p>
          <a:p>
            <a:pPr marL="0" indent="0">
              <a:buNone/>
            </a:pPr>
            <a:r>
              <a:rPr lang="pt-BR" dirty="0"/>
              <a:t>Exemplo:</a:t>
            </a:r>
          </a:p>
          <a:p>
            <a:pPr marL="0" indent="0">
              <a:buNone/>
            </a:pPr>
            <a:r>
              <a:rPr lang="pt-BR" dirty="0"/>
              <a:t>&lt;html&gt;</a:t>
            </a:r>
          </a:p>
          <a:p>
            <a:pPr marL="0" indent="0">
              <a:buNone/>
            </a:pPr>
            <a:r>
              <a:rPr lang="pt-BR" dirty="0"/>
              <a:t>&lt;head&gt;</a:t>
            </a:r>
          </a:p>
          <a:p>
            <a:pPr marL="0" indent="0">
              <a:buNone/>
            </a:pPr>
            <a:r>
              <a:rPr lang="pt-BR" dirty="0"/>
              <a:t>&lt;title&gt;Tag Center&lt;/title&gt;</a:t>
            </a:r>
          </a:p>
          <a:p>
            <a:pPr marL="0" indent="0">
              <a:buNone/>
            </a:pPr>
            <a:r>
              <a:rPr lang="pt-BR" dirty="0"/>
              <a:t>&lt;/head&gt;</a:t>
            </a:r>
          </a:p>
          <a:p>
            <a:pPr marL="0" indent="0">
              <a:buNone/>
            </a:pPr>
            <a:r>
              <a:rPr lang="pt-BR" dirty="0"/>
              <a:t>&lt;Center&gt;&lt;h1&gt;Texto de nível 1 Centralizado&lt;/Center&gt;&lt;/h1&gt;</a:t>
            </a:r>
          </a:p>
          <a:p>
            <a:pPr marL="0" indent="0">
              <a:buNone/>
            </a:pPr>
            <a:r>
              <a:rPr lang="pt-BR" dirty="0"/>
              <a:t>&lt;/body&gt;</a:t>
            </a:r>
          </a:p>
          <a:p>
            <a:pPr marL="0" indent="0">
              <a:buNone/>
            </a:pPr>
            <a:r>
              <a:rPr lang="pt-BR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016128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852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Arial Black" panose="020B0A04020102020204" pitchFamily="34" charset="0"/>
              </a:rPr>
              <a:t>TPI – Técnicas de Programação</a:t>
            </a:r>
            <a:br>
              <a:rPr lang="pt-BR" dirty="0">
                <a:latin typeface="Arial Black" panose="020B0A04020102020204" pitchFamily="34" charset="0"/>
              </a:rPr>
            </a:br>
            <a:r>
              <a:rPr lang="pt-BR" dirty="0">
                <a:latin typeface="Arial Black" panose="020B0A04020102020204" pitchFamily="34" charset="0"/>
              </a:rPr>
              <a:t> Para Internet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19707"/>
            <a:ext cx="10515600" cy="465725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                                                     </a:t>
            </a:r>
            <a:r>
              <a:rPr lang="pt-BR" u="sng" dirty="0"/>
              <a:t> Estilos de Texto</a:t>
            </a:r>
          </a:p>
          <a:p>
            <a:pPr marL="0" indent="0">
              <a:buNone/>
            </a:pPr>
            <a:r>
              <a:rPr lang="pt-BR" dirty="0"/>
              <a:t>&lt;html&gt; </a:t>
            </a:r>
          </a:p>
          <a:p>
            <a:pPr marL="0" indent="0">
              <a:buNone/>
            </a:pPr>
            <a:r>
              <a:rPr lang="pt-BR" dirty="0"/>
              <a:t>&lt;head&gt; </a:t>
            </a:r>
          </a:p>
          <a:p>
            <a:pPr marL="0" indent="0">
              <a:buNone/>
            </a:pPr>
            <a:r>
              <a:rPr lang="pt-BR" dirty="0"/>
              <a:t>&lt;title&gt; Aula1 de PI – HTML&lt;/title&gt;</a:t>
            </a:r>
          </a:p>
          <a:p>
            <a:pPr marL="0" indent="0">
              <a:buNone/>
            </a:pPr>
            <a:r>
              <a:rPr lang="pt-BR" dirty="0"/>
              <a:t> &lt;/head&gt; </a:t>
            </a:r>
          </a:p>
          <a:p>
            <a:pPr marL="0" indent="0">
              <a:buNone/>
            </a:pPr>
            <a:r>
              <a:rPr lang="pt-BR" dirty="0"/>
              <a:t>&lt;body&gt; </a:t>
            </a:r>
          </a:p>
          <a:p>
            <a:pPr marL="0" indent="0">
              <a:buNone/>
            </a:pPr>
            <a:r>
              <a:rPr lang="pt-BR" dirty="0"/>
              <a:t>&lt;B&gt; Estilo negrito&lt;/B&gt; </a:t>
            </a:r>
          </a:p>
          <a:p>
            <a:pPr marL="0" indent="0">
              <a:buNone/>
            </a:pPr>
            <a:r>
              <a:rPr lang="pt-BR" dirty="0"/>
              <a:t> &lt;I&gt; Estilo itálico&lt;/I&gt; </a:t>
            </a:r>
          </a:p>
          <a:p>
            <a:pPr marL="0" indent="0">
              <a:buNone/>
            </a:pPr>
            <a:r>
              <a:rPr lang="pt-BR" dirty="0"/>
              <a:t> &lt;U&gt; Estilo sublinhado &lt;/U&gt;</a:t>
            </a:r>
          </a:p>
          <a:p>
            <a:pPr marL="0" indent="0">
              <a:buNone/>
            </a:pPr>
            <a:r>
              <a:rPr lang="pt-BR" dirty="0"/>
              <a:t>  &lt;SUP&gt; Estilo sobrescrito&lt;/SUP&gt;</a:t>
            </a:r>
          </a:p>
          <a:p>
            <a:pPr marL="0" indent="0">
              <a:buNone/>
            </a:pPr>
            <a:r>
              <a:rPr lang="pt-BR" dirty="0"/>
              <a:t>  &lt;SUB&gt; Estilo subscrito &lt;/SUB&gt;</a:t>
            </a:r>
          </a:p>
          <a:p>
            <a:pPr marL="0" indent="0">
              <a:buNone/>
            </a:pPr>
            <a:r>
              <a:rPr lang="pt-BR" dirty="0"/>
              <a:t>  &lt;P align=“Center”&gt; Este é um exemplo do primeiro parágrafo centralizado.  &lt;P&gt; Este é um exemplo do segundo parágrafo.  </a:t>
            </a:r>
          </a:p>
          <a:p>
            <a:pPr marL="0" indent="0">
              <a:buNone/>
            </a:pPr>
            <a:r>
              <a:rPr lang="pt-BR" dirty="0"/>
              <a:t>&lt;/body&gt;</a:t>
            </a:r>
          </a:p>
          <a:p>
            <a:pPr marL="0" indent="0">
              <a:buNone/>
            </a:pPr>
            <a:r>
              <a:rPr lang="pt-BR" dirty="0"/>
              <a:t> &lt;/html&gt;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458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Para inserir em sua página um texto com fontes de tamanhos, cores e tipos diferentes utilizamos a TAG </a:t>
            </a:r>
          </a:p>
          <a:p>
            <a:pPr marL="0" indent="0">
              <a:buNone/>
            </a:pPr>
            <a:r>
              <a:rPr lang="pt-BR" dirty="0"/>
              <a:t>&lt;Font&gt; ... &lt;/Font&gt; </a:t>
            </a:r>
          </a:p>
          <a:p>
            <a:pPr marL="0" indent="0">
              <a:buNone/>
            </a:pPr>
            <a:r>
              <a:rPr lang="pt-BR" dirty="0"/>
              <a:t>Sintaxe do comando:</a:t>
            </a:r>
          </a:p>
          <a:p>
            <a:pPr marL="0" indent="0">
              <a:buNone/>
            </a:pPr>
            <a:r>
              <a:rPr lang="pt-BR" dirty="0"/>
              <a:t> &lt;Font size=“n” face=“nome” color=“cor”&gt; Texto &lt;/Font&gt; </a:t>
            </a:r>
          </a:p>
        </p:txBody>
      </p:sp>
    </p:spTree>
    <p:extLst>
      <p:ext uri="{BB962C8B-B14F-4D97-AF65-F5344CB8AC3E}">
        <p14:creationId xmlns:p14="http://schemas.microsoft.com/office/powerpoint/2010/main" val="3522545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                                            </a:t>
            </a:r>
            <a:r>
              <a:rPr lang="pt-BR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Formatando conteúdo </a:t>
            </a:r>
          </a:p>
          <a:p>
            <a:pPr marL="0" indent="0">
              <a:buNone/>
            </a:pPr>
            <a:r>
              <a:rPr lang="pt-BR" dirty="0"/>
              <a:t> &lt;body&gt; </a:t>
            </a:r>
          </a:p>
          <a:p>
            <a:pPr marL="0" indent="0">
              <a:buNone/>
            </a:pPr>
            <a:r>
              <a:rPr lang="pt-BR" dirty="0"/>
              <a:t> &lt;font size="2" face="Arial" color="red"&gt; Fonte Tamanho 2 – Arial – Cor Vermelha &gt;</a:t>
            </a:r>
          </a:p>
          <a:p>
            <a:pPr marL="0" indent="0">
              <a:buNone/>
            </a:pPr>
            <a:r>
              <a:rPr lang="pt-BR" dirty="0"/>
              <a:t> &lt;/body&gt; </a:t>
            </a:r>
          </a:p>
          <a:p>
            <a:r>
              <a:rPr lang="pt-BR" dirty="0"/>
              <a:t>FONT A tag FONT define o tipo, tamanho e cor de fonte do texto marcado. Esta tag aceita os seguintes parâmetros: </a:t>
            </a:r>
          </a:p>
          <a:p>
            <a:r>
              <a:rPr lang="pt-BR" dirty="0"/>
              <a:t>SIZE – define o tamanha da fonte, de 1 a 7. </a:t>
            </a:r>
          </a:p>
          <a:p>
            <a:r>
              <a:rPr lang="pt-BR" dirty="0"/>
              <a:t>COLOR – define a cor da fonte. FACE – define o tipo da fonte.</a:t>
            </a:r>
          </a:p>
        </p:txBody>
      </p:sp>
    </p:spTree>
    <p:extLst>
      <p:ext uri="{BB962C8B-B14F-4D97-AF65-F5344CB8AC3E}">
        <p14:creationId xmlns:p14="http://schemas.microsoft.com/office/powerpoint/2010/main" val="2049245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1470"/>
          </a:xfrm>
        </p:spPr>
        <p:txBody>
          <a:bodyPr>
            <a:norm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Programação WEB 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7334" y="1571223"/>
            <a:ext cx="8596668" cy="447013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                                        Exemplo Utilizando Fontes</a:t>
            </a:r>
          </a:p>
          <a:p>
            <a:pPr marL="0" indent="0">
              <a:buNone/>
            </a:pPr>
            <a:r>
              <a:rPr lang="pt-BR" dirty="0"/>
              <a:t>&lt;html&gt;</a:t>
            </a:r>
          </a:p>
          <a:p>
            <a:pPr marL="0" indent="0">
              <a:buNone/>
            </a:pPr>
            <a:r>
              <a:rPr lang="pt-BR" dirty="0"/>
              <a:t> &lt;head&gt;</a:t>
            </a:r>
          </a:p>
          <a:p>
            <a:pPr marL="0" indent="0">
              <a:buNone/>
            </a:pPr>
            <a:r>
              <a:rPr lang="pt-BR" dirty="0"/>
              <a:t> &lt;Title&gt; Trabalhando com fonte&lt;/Title&gt;</a:t>
            </a:r>
          </a:p>
          <a:p>
            <a:pPr marL="0" indent="0">
              <a:buNone/>
            </a:pPr>
            <a:r>
              <a:rPr lang="pt-BR" dirty="0"/>
              <a:t> &lt;/Head&gt; </a:t>
            </a:r>
          </a:p>
          <a:p>
            <a:pPr marL="0" indent="0">
              <a:buNone/>
            </a:pPr>
            <a:r>
              <a:rPr lang="pt-BR" dirty="0"/>
              <a:t>&lt;Font size=“1” face=“Tahoma” color=“red”&gt; Texto com cor vemelha. &lt;/Font&gt;</a:t>
            </a:r>
          </a:p>
          <a:p>
            <a:pPr marL="0" indent="0">
              <a:buNone/>
            </a:pPr>
            <a:r>
              <a:rPr lang="pt-BR" dirty="0"/>
              <a:t> &lt;br&gt; &lt;br&gt;</a:t>
            </a:r>
          </a:p>
          <a:p>
            <a:pPr marL="0" indent="0">
              <a:buNone/>
            </a:pPr>
            <a:r>
              <a:rPr lang="pt-BR" dirty="0"/>
              <a:t> &lt;Font size=“2” face=“Arial” color=“green”&gt; Texto com cor verde. &lt;/Font&gt; </a:t>
            </a:r>
          </a:p>
          <a:p>
            <a:pPr marL="0" indent="0">
              <a:buNone/>
            </a:pPr>
            <a:r>
              <a:rPr lang="pt-BR" dirty="0"/>
              <a:t>&lt;br&gt; &lt;br&gt; </a:t>
            </a:r>
          </a:p>
          <a:p>
            <a:pPr marL="0" indent="0">
              <a:buNone/>
            </a:pPr>
            <a:r>
              <a:rPr lang="pt-BR" dirty="0"/>
              <a:t>&lt;Font size=“3” face=“Tahoma” color=“#FF00FF”&gt; Texto com cor  magenta. &lt;/Font&gt; &lt;br&gt; &lt;br&gt;</a:t>
            </a:r>
          </a:p>
          <a:p>
            <a:pPr marL="0" indent="0">
              <a:buNone/>
            </a:pPr>
            <a:r>
              <a:rPr lang="pt-BR" dirty="0"/>
              <a:t> &lt;/body&gt;</a:t>
            </a:r>
          </a:p>
          <a:p>
            <a:pPr marL="0" indent="0">
              <a:buNone/>
            </a:pPr>
            <a:r>
              <a:rPr lang="pt-BR" dirty="0"/>
              <a:t> &lt;/html&gt; </a:t>
            </a:r>
          </a:p>
        </p:txBody>
      </p:sp>
    </p:spTree>
    <p:extLst>
      <p:ext uri="{BB962C8B-B14F-4D97-AF65-F5344CB8AC3E}">
        <p14:creationId xmlns:p14="http://schemas.microsoft.com/office/powerpoint/2010/main" val="3928882196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f9ea732-a098-4257-a054-af1a10a0bbf7" xsi:nil="true"/>
    <lcf76f155ced4ddcb4097134ff3c332f xmlns="e1b5fafe-7b14-443c-b645-cb12302d210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A46FA0EB10374EAD13049DDADCE40A" ma:contentTypeVersion="11" ma:contentTypeDescription="Crie um novo documento." ma:contentTypeScope="" ma:versionID="16af94215095106a61f4823059c5d8b6">
  <xsd:schema xmlns:xsd="http://www.w3.org/2001/XMLSchema" xmlns:xs="http://www.w3.org/2001/XMLSchema" xmlns:p="http://schemas.microsoft.com/office/2006/metadata/properties" xmlns:ns2="e1b5fafe-7b14-443c-b645-cb12302d210a" xmlns:ns3="ff9ea732-a098-4257-a054-af1a10a0bbf7" targetNamespace="http://schemas.microsoft.com/office/2006/metadata/properties" ma:root="true" ma:fieldsID="d82166d0c1a7fb1a8777552efe7e1fc0" ns2:_="" ns3:_="">
    <xsd:import namespace="e1b5fafe-7b14-443c-b645-cb12302d210a"/>
    <xsd:import namespace="ff9ea732-a098-4257-a054-af1a10a0b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fafe-7b14-443c-b645-cb12302d2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ea732-a098-4257-a054-af1a10a0b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7ee3c-408d-489e-b063-8d4a4101c981}" ma:internalName="TaxCatchAll" ma:showField="CatchAllData" ma:web="ff9ea732-a098-4257-a054-af1a10a0b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144070-26A7-45AB-A14E-77A78EC5FA1F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eeb660da-6eea-4acf-ba48-d77328c06556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b9da1cff-7651-417f-a12f-237760df7049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B7A1074-154C-4468-ACE9-CCC219B49A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8D7C1A-1290-4F57-BC2C-C0602E05CE50}"/>
</file>

<file path=docProps/app.xml><?xml version="1.0" encoding="utf-8"?>
<Properties xmlns="http://schemas.openxmlformats.org/officeDocument/2006/extended-properties" xmlns:vt="http://schemas.openxmlformats.org/officeDocument/2006/docPropsVTypes">
  <Template>TC030006182[[fn=Classic Theme 2007]]</Template>
  <TotalTime>205</TotalTime>
  <Words>1181</Words>
  <Application>Microsoft Office PowerPoint</Application>
  <PresentationFormat>Widescreen</PresentationFormat>
  <Paragraphs>166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17</vt:i4>
      </vt:variant>
    </vt:vector>
  </HeadingPairs>
  <TitlesOfParts>
    <vt:vector size="19" baseType="lpstr">
      <vt:lpstr>Classic</vt:lpstr>
      <vt:lpstr>Facetado</vt:lpstr>
      <vt:lpstr>Programação WEB I</vt:lpstr>
      <vt:lpstr>Programação WEB I</vt:lpstr>
      <vt:lpstr>Programação WEB I</vt:lpstr>
      <vt:lpstr>Programação WEB I 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TPI – Técnicas de Programação  Para Internet</vt:lpstr>
      <vt:lpstr>Programação WEB I</vt:lpstr>
      <vt:lpstr>Programação WEB I</vt:lpstr>
      <vt:lpstr>Programação WEB 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 – Programação Para Internet</dc:title>
  <dc:creator>CARLOS EDUARDO DE CARVALHO</dc:creator>
  <cp:lastModifiedBy>Admin</cp:lastModifiedBy>
  <cp:revision>54</cp:revision>
  <dcterms:created xsi:type="dcterms:W3CDTF">2013-07-29T11:29:38Z</dcterms:created>
  <dcterms:modified xsi:type="dcterms:W3CDTF">2023-09-09T22:21:44Z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0x0101005AA46FA0EB10374EAD13049DDADCE40A</vt:lpwstr>
  </property>
</Properties>
</file>