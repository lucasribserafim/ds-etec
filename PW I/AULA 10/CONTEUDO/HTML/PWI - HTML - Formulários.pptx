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E MOREIRA LIMA" userId="S::aline.lima292@etec.sp.gov.br::6c822b0d-33c5-46c8-8c11-0cffae768b02" providerId="AD" clId="Web-{CFAE5596-DF7F-226E-FF55-97E2EB41CD08}"/>
    <pc:docChg chg="addSld delSld">
      <pc:chgData name="ALINE MOREIRA LIMA" userId="S::aline.lima292@etec.sp.gov.br::6c822b0d-33c5-46c8-8c11-0cffae768b02" providerId="AD" clId="Web-{CFAE5596-DF7F-226E-FF55-97E2EB41CD08}" dt="2024-03-26T17:54:03.943" v="1"/>
      <pc:docMkLst>
        <pc:docMk/>
      </pc:docMkLst>
      <pc:sldChg chg="new del">
        <pc:chgData name="ALINE MOREIRA LIMA" userId="S::aline.lima292@etec.sp.gov.br::6c822b0d-33c5-46c8-8c11-0cffae768b02" providerId="AD" clId="Web-{CFAE5596-DF7F-226E-FF55-97E2EB41CD08}" dt="2024-03-26T17:54:03.943" v="1"/>
        <pc:sldMkLst>
          <pc:docMk/>
          <pc:sldMk cId="3398019394" sldId="281"/>
        </pc:sldMkLst>
      </pc:sldChg>
    </pc:docChg>
  </pc:docChgLst>
  <pc:docChgLst>
    <pc:chgData name="RAISSA LIMA CEDRO" userId="S::raissa.cedro@etec.sp.gov.br::b0d377d9-2fc1-4a10-91de-6467e3fa6303" providerId="AD" clId="Web-{17E90C93-FEC3-2615-B598-0E8A56ACCE2D}"/>
    <pc:docChg chg="modSld">
      <pc:chgData name="RAISSA LIMA CEDRO" userId="S::raissa.cedro@etec.sp.gov.br::b0d377d9-2fc1-4a10-91de-6467e3fa6303" providerId="AD" clId="Web-{17E90C93-FEC3-2615-B598-0E8A56ACCE2D}" dt="2024-03-26T17:25:48.735" v="0" actId="20577"/>
      <pc:docMkLst>
        <pc:docMk/>
      </pc:docMkLst>
      <pc:sldChg chg="modSp">
        <pc:chgData name="RAISSA LIMA CEDRO" userId="S::raissa.cedro@etec.sp.gov.br::b0d377d9-2fc1-4a10-91de-6467e3fa6303" providerId="AD" clId="Web-{17E90C93-FEC3-2615-B598-0E8A56ACCE2D}" dt="2024-03-26T17:25:48.735" v="0" actId="20577"/>
        <pc:sldMkLst>
          <pc:docMk/>
          <pc:sldMk cId="1240145401" sldId="266"/>
        </pc:sldMkLst>
        <pc:spChg chg="mod">
          <ac:chgData name="RAISSA LIMA CEDRO" userId="S::raissa.cedro@etec.sp.gov.br::b0d377d9-2fc1-4a10-91de-6467e3fa6303" providerId="AD" clId="Web-{17E90C93-FEC3-2615-B598-0E8A56ACCE2D}" dt="2024-03-26T17:25:48.735" v="0" actId="20577"/>
          <ac:spMkLst>
            <pc:docMk/>
            <pc:sldMk cId="1240145401" sldId="266"/>
            <ac:spMk id="3" creationId="{00000000-0000-0000-0000-000000000000}"/>
          </ac:spMkLst>
        </pc:spChg>
      </pc:sldChg>
    </pc:docChg>
  </pc:docChgLst>
  <pc:docChgLst>
    <pc:chgData name="JOAO PEDRO ARRUDA DE SOUZA" userId="S::joao.souza1082@etec.sp.gov.br::67d71fd8-c1fb-4fd4-9deb-89f425384dff" providerId="AD" clId="Web-{050098B8-42BC-79E8-6CEA-CD5320BFD8FF}"/>
    <pc:docChg chg="addSld delSld">
      <pc:chgData name="JOAO PEDRO ARRUDA DE SOUZA" userId="S::joao.souza1082@etec.sp.gov.br::67d71fd8-c1fb-4fd4-9deb-89f425384dff" providerId="AD" clId="Web-{050098B8-42BC-79E8-6CEA-CD5320BFD8FF}" dt="2024-03-26T17:39:29.794" v="1"/>
      <pc:docMkLst>
        <pc:docMk/>
      </pc:docMkLst>
      <pc:sldChg chg="new del">
        <pc:chgData name="JOAO PEDRO ARRUDA DE SOUZA" userId="S::joao.souza1082@etec.sp.gov.br::67d71fd8-c1fb-4fd4-9deb-89f425384dff" providerId="AD" clId="Web-{050098B8-42BC-79E8-6CEA-CD5320BFD8FF}" dt="2024-03-26T17:39:29.794" v="1"/>
        <pc:sldMkLst>
          <pc:docMk/>
          <pc:sldMk cId="4286315353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59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07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75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93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83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04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7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17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51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27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55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D5C2E-6BA7-48C0-9F91-0C4074E402B3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488F2-BF87-4855-9359-57D7409396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13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HTML - Formulários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98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Form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8600" y="1700808"/>
            <a:ext cx="8686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/>
              <a:t>A </a:t>
            </a:r>
            <a:r>
              <a:rPr lang="pt-BR" err="1"/>
              <a:t>tag</a:t>
            </a:r>
            <a:r>
              <a:rPr lang="pt-BR"/>
              <a:t> FORM define o início e o fim de um formulário. O formulário pode estar dentro de uma tabela ou outros elementos, além de poder conter outros elementos da HTML dentro de </a:t>
            </a:r>
            <a:r>
              <a:rPr lang="pt-BR" err="1"/>
              <a:t>sí</a:t>
            </a:r>
            <a:r>
              <a:rPr lang="pt-BR"/>
              <a:t>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Esta </a:t>
            </a:r>
            <a:r>
              <a:rPr lang="pt-BR" err="1"/>
              <a:t>tag</a:t>
            </a:r>
            <a:r>
              <a:rPr lang="pt-BR"/>
              <a:t> aceita os seguintes parâmetros: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ACTION </a:t>
            </a:r>
            <a:r>
              <a:rPr lang="pt-BR"/>
              <a:t>– Define a URL do recurso para onde serão enviados os dados.</a:t>
            </a:r>
          </a:p>
          <a:p>
            <a:pPr marL="0" indent="0">
              <a:buNone/>
            </a:pPr>
            <a:r>
              <a:rPr lang="pt-BR" b="1"/>
              <a:t>METHOD </a:t>
            </a:r>
            <a:r>
              <a:rPr lang="pt-BR"/>
              <a:t>– Define o método de envio (POST, GET).</a:t>
            </a:r>
          </a:p>
          <a:p>
            <a:pPr marL="0" indent="0">
              <a:buNone/>
            </a:pPr>
            <a:r>
              <a:rPr lang="pt-BR" b="1"/>
              <a:t>NAME </a:t>
            </a:r>
            <a:r>
              <a:rPr lang="pt-BR"/>
              <a:t>– Nome do formulário. Para identificar, caso haja mais de um na página.</a:t>
            </a:r>
          </a:p>
          <a:p>
            <a:pPr marL="0" indent="0">
              <a:buNone/>
            </a:pP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64096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Formulários e Componentes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/>
              <a:t>Os formulários e seus componentes dão ao usuário a capacidade de inserir dados e enviá-los ao servidor, como uma forma de interação.</a:t>
            </a:r>
          </a:p>
        </p:txBody>
      </p:sp>
    </p:spTree>
    <p:extLst>
      <p:ext uri="{BB962C8B-B14F-4D97-AF65-F5344CB8AC3E}">
        <p14:creationId xmlns:p14="http://schemas.microsoft.com/office/powerpoint/2010/main" val="367344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Os componentes disponíveis são: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Campos de texto e senha.</a:t>
            </a:r>
          </a:p>
          <a:p>
            <a:r>
              <a:rPr lang="pt-BR"/>
              <a:t>Lista de seleção (combo e lista)</a:t>
            </a:r>
          </a:p>
          <a:p>
            <a:r>
              <a:rPr lang="pt-BR"/>
              <a:t>Botões</a:t>
            </a:r>
          </a:p>
          <a:p>
            <a:r>
              <a:rPr lang="pt-BR"/>
              <a:t>Botões de radio</a:t>
            </a:r>
          </a:p>
          <a:p>
            <a:r>
              <a:rPr lang="pt-BR"/>
              <a:t>Caixas de seleção (</a:t>
            </a:r>
            <a:r>
              <a:rPr lang="pt-BR" err="1"/>
              <a:t>checkbox</a:t>
            </a:r>
            <a:r>
              <a:rPr lang="pt-BR"/>
              <a:t>)</a:t>
            </a:r>
          </a:p>
          <a:p>
            <a:r>
              <a:rPr lang="pt-BR"/>
              <a:t>Seleção de arquivos</a:t>
            </a:r>
          </a:p>
        </p:txBody>
      </p:sp>
    </p:spTree>
    <p:extLst>
      <p:ext uri="{BB962C8B-B14F-4D97-AF65-F5344CB8AC3E}">
        <p14:creationId xmlns:p14="http://schemas.microsoft.com/office/powerpoint/2010/main" val="26722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TEXTFIELD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/>
              <a:t>O </a:t>
            </a:r>
            <a:r>
              <a:rPr lang="pt-BR" err="1"/>
              <a:t>textfield</a:t>
            </a:r>
            <a:r>
              <a:rPr lang="pt-BR"/>
              <a:t> é um campo usado para a digitação de um texto.</a:t>
            </a:r>
          </a:p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INPUT, com o atributo TYPE=“TEXT”.</a:t>
            </a:r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r>
              <a:rPr lang="pt-BR" b="1"/>
              <a:t>NAME </a:t>
            </a:r>
            <a:r>
              <a:rPr lang="pt-BR"/>
              <a:t>– Nome do campo de texto.</a:t>
            </a:r>
          </a:p>
          <a:p>
            <a:r>
              <a:rPr lang="pt-BR" b="1"/>
              <a:t>VALUE </a:t>
            </a:r>
            <a:r>
              <a:rPr lang="pt-BR"/>
              <a:t>– Valor a ser exibido no campo.</a:t>
            </a:r>
          </a:p>
          <a:p>
            <a:r>
              <a:rPr lang="pt-BR" b="1"/>
              <a:t>SIZE </a:t>
            </a:r>
            <a:r>
              <a:rPr lang="pt-BR"/>
              <a:t>– Define o tamanho do campo (em número de caracteres).</a:t>
            </a:r>
          </a:p>
          <a:p>
            <a:r>
              <a:rPr lang="pt-BR" b="1"/>
              <a:t>MAXLENGTH </a:t>
            </a:r>
            <a:r>
              <a:rPr lang="pt-BR"/>
              <a:t>– Define o número máximo de caracteres.</a:t>
            </a:r>
          </a:p>
          <a:p>
            <a:r>
              <a:rPr lang="pt-BR" b="1"/>
              <a:t>DISABLED </a:t>
            </a:r>
            <a:r>
              <a:rPr lang="pt-BR"/>
              <a:t>– Indica se o campo está desabilitado (TRUE, FALSE).</a:t>
            </a:r>
          </a:p>
          <a:p>
            <a:r>
              <a:rPr lang="pt-BR" b="1"/>
              <a:t>READONLY </a:t>
            </a:r>
            <a:r>
              <a:rPr lang="pt-BR"/>
              <a:t>– </a:t>
            </a:r>
            <a:r>
              <a:rPr lang="pt-BR" err="1"/>
              <a:t>Indice</a:t>
            </a:r>
            <a:r>
              <a:rPr lang="pt-BR"/>
              <a:t> se o campo é apenas de leitura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390878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 </a:t>
            </a:r>
            <a:r>
              <a:rPr lang="pt-BR" b="1"/>
              <a:t>TEXTFIELD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&lt;form&gt;</a:t>
            </a:r>
          </a:p>
          <a:p>
            <a:pPr marL="0" indent="0">
              <a:buNone/>
            </a:pPr>
            <a:r>
              <a:rPr lang="en-US" sz="2000" b="1"/>
              <a:t>  Nome: &lt;input type="text" name="</a:t>
            </a:r>
            <a:r>
              <a:rPr lang="en-US" sz="2000" b="1" err="1"/>
              <a:t>nome</a:t>
            </a:r>
            <a:r>
              <a:rPr lang="en-US" sz="2000" b="1"/>
              <a:t>" value="Daniel" size="20"&gt;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85292"/>
            <a:ext cx="3816424" cy="489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0710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PASSWORD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/>
              <a:t>O </a:t>
            </a:r>
            <a:r>
              <a:rPr lang="pt-BR" err="1"/>
              <a:t>password</a:t>
            </a:r>
            <a:r>
              <a:rPr lang="pt-BR"/>
              <a:t> é um campo usado para a digitação de um texto para senhas.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INPUT, com o atributo TYPE=“PASSWORD”.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r>
              <a:rPr lang="pt-BR" sz="2600" b="1"/>
              <a:t>NAME </a:t>
            </a:r>
            <a:r>
              <a:rPr lang="pt-BR" sz="2600"/>
              <a:t>– Nome do campo de senha.</a:t>
            </a:r>
          </a:p>
          <a:p>
            <a:r>
              <a:rPr lang="pt-BR" sz="2600" b="1"/>
              <a:t>VALUE </a:t>
            </a:r>
            <a:r>
              <a:rPr lang="pt-BR" sz="2600"/>
              <a:t>– Valor do campo – o valor exibido será sempre </a:t>
            </a:r>
            <a:r>
              <a:rPr lang="pt-BR" sz="2600" err="1"/>
              <a:t>asteríscos</a:t>
            </a:r>
            <a:r>
              <a:rPr lang="pt-BR" sz="2600"/>
              <a:t> (*).</a:t>
            </a:r>
          </a:p>
          <a:p>
            <a:r>
              <a:rPr lang="pt-BR" sz="2600" b="1"/>
              <a:t>SIZE </a:t>
            </a:r>
            <a:r>
              <a:rPr lang="pt-BR" sz="2600"/>
              <a:t>– Define o tamanho do campo (em número de caracteres).</a:t>
            </a:r>
          </a:p>
          <a:p>
            <a:r>
              <a:rPr lang="pt-BR" sz="2600" b="1"/>
              <a:t>MAXLENGTH </a:t>
            </a:r>
            <a:r>
              <a:rPr lang="pt-BR" sz="2600"/>
              <a:t>– Define o número máximo de caracteres.</a:t>
            </a:r>
          </a:p>
          <a:p>
            <a:r>
              <a:rPr lang="pt-BR" sz="2600" b="1"/>
              <a:t>DISABLED </a:t>
            </a:r>
            <a:r>
              <a:rPr lang="pt-BR" sz="2600"/>
              <a:t>– Indica se o campo está desabilitado (TRUE, FALSE).</a:t>
            </a:r>
          </a:p>
          <a:p>
            <a:r>
              <a:rPr lang="pt-BR" sz="2600" b="1"/>
              <a:t>READONLY </a:t>
            </a:r>
            <a:r>
              <a:rPr lang="pt-BR" sz="2600"/>
              <a:t>– </a:t>
            </a:r>
            <a:r>
              <a:rPr lang="pt-BR" sz="2600" err="1"/>
              <a:t>Indice</a:t>
            </a:r>
            <a:r>
              <a:rPr lang="pt-BR" sz="2600"/>
              <a:t> se o campo é apenas de leitura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11947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</a:t>
            </a:r>
            <a:r>
              <a:rPr lang="pt-BR" b="1"/>
              <a:t> PASSWORD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&lt;form&gt;</a:t>
            </a:r>
          </a:p>
          <a:p>
            <a:pPr marL="0" indent="0">
              <a:buNone/>
            </a:pPr>
            <a:r>
              <a:rPr lang="en-US" sz="2000" b="1" err="1"/>
              <a:t>Senha</a:t>
            </a:r>
            <a:r>
              <a:rPr lang="en-US" sz="2000" b="1"/>
              <a:t>: &lt;input type="password" name="</a:t>
            </a:r>
            <a:r>
              <a:rPr lang="en-US" sz="2000" b="1" err="1"/>
              <a:t>senha</a:t>
            </a:r>
            <a:r>
              <a:rPr lang="en-US" sz="2000" b="1"/>
              <a:t>" size="15"&gt;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10482"/>
            <a:ext cx="3170501" cy="55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521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TEXT AREA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/>
              <a:t>O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area</a:t>
            </a:r>
            <a:r>
              <a:rPr lang="pt-BR"/>
              <a:t> é um campo usado para a digitação de textos grandes.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TEXTAREA. O texto de conteúdo deve ir entre a </a:t>
            </a:r>
            <a:r>
              <a:rPr lang="pt-BR" err="1"/>
              <a:t>tag</a:t>
            </a:r>
            <a:r>
              <a:rPr lang="pt-BR"/>
              <a:t> inicial e final.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r>
              <a:rPr lang="pt-BR" b="1"/>
              <a:t>NAME </a:t>
            </a:r>
            <a:r>
              <a:rPr lang="pt-BR"/>
              <a:t>– Nome do campo de senha.</a:t>
            </a:r>
          </a:p>
          <a:p>
            <a:r>
              <a:rPr lang="pt-BR" b="1"/>
              <a:t>ROWS </a:t>
            </a:r>
            <a:r>
              <a:rPr lang="pt-BR"/>
              <a:t>– Número de linhas do campo (visualmente).</a:t>
            </a:r>
          </a:p>
          <a:p>
            <a:r>
              <a:rPr lang="pt-BR" b="1"/>
              <a:t>COLS </a:t>
            </a:r>
            <a:r>
              <a:rPr lang="pt-BR"/>
              <a:t>– Número de colunas – caracteres - do campo (visualmente).</a:t>
            </a:r>
          </a:p>
          <a:p>
            <a:r>
              <a:rPr lang="pt-BR" b="1"/>
              <a:t>DISABLED </a:t>
            </a:r>
            <a:r>
              <a:rPr lang="pt-BR"/>
              <a:t>– Indica se o campo está desabilitado (TRUE, FALSE).</a:t>
            </a:r>
          </a:p>
          <a:p>
            <a:r>
              <a:rPr lang="pt-BR" b="1"/>
              <a:t>READONLY </a:t>
            </a:r>
            <a:r>
              <a:rPr lang="pt-BR"/>
              <a:t>– </a:t>
            </a:r>
            <a:r>
              <a:rPr lang="pt-BR" err="1"/>
              <a:t>Indice</a:t>
            </a:r>
            <a:r>
              <a:rPr lang="pt-BR"/>
              <a:t> se o campo é apenas de leitura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2562976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 </a:t>
            </a:r>
            <a:r>
              <a:rPr lang="pt-BR" b="1"/>
              <a:t>TEXT AREA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/>
              <a:t>&lt;form</a:t>
            </a:r>
            <a:r>
              <a:rPr lang="pt-BR" sz="1800" b="1"/>
              <a:t>&gt;</a:t>
            </a:r>
          </a:p>
          <a:p>
            <a:pPr marL="0" indent="0">
              <a:buNone/>
            </a:pPr>
            <a:r>
              <a:rPr lang="pt-BR" sz="1800" b="1" err="1"/>
              <a:t>Memo</a:t>
            </a:r>
            <a:r>
              <a:rPr lang="pt-BR" sz="1800" b="1"/>
              <a:t>: &lt;</a:t>
            </a:r>
            <a:r>
              <a:rPr lang="pt-BR" sz="1800" b="1" err="1"/>
              <a:t>br</a:t>
            </a:r>
            <a:r>
              <a:rPr lang="pt-BR" sz="1800" b="1"/>
              <a:t>&gt;</a:t>
            </a:r>
          </a:p>
          <a:p>
            <a:pPr marL="0" indent="0">
              <a:buNone/>
            </a:pPr>
            <a:r>
              <a:rPr lang="pt-BR" sz="1800" b="1"/>
              <a:t>&lt;</a:t>
            </a:r>
            <a:r>
              <a:rPr lang="pt-BR" sz="1800" b="1" err="1"/>
              <a:t>textarea</a:t>
            </a:r>
            <a:r>
              <a:rPr lang="pt-BR" sz="1800" b="1"/>
              <a:t> </a:t>
            </a:r>
            <a:r>
              <a:rPr lang="pt-BR" sz="1800" b="1" err="1"/>
              <a:t>name</a:t>
            </a:r>
            <a:r>
              <a:rPr lang="pt-BR" sz="1800" b="1"/>
              <a:t>="</a:t>
            </a:r>
            <a:r>
              <a:rPr lang="pt-BR" sz="1800" b="1" err="1"/>
              <a:t>memo</a:t>
            </a:r>
            <a:r>
              <a:rPr lang="pt-BR" sz="1800" b="1"/>
              <a:t>" </a:t>
            </a:r>
            <a:r>
              <a:rPr lang="pt-BR" sz="1800" b="1" err="1"/>
              <a:t>rows</a:t>
            </a:r>
            <a:r>
              <a:rPr lang="pt-BR" sz="1800" b="1"/>
              <a:t>="5" </a:t>
            </a:r>
            <a:r>
              <a:rPr lang="pt-BR" sz="1800" b="1" err="1"/>
              <a:t>cols</a:t>
            </a:r>
            <a:r>
              <a:rPr lang="pt-BR" sz="1800" b="1"/>
              <a:t>="30"&gt;</a:t>
            </a:r>
          </a:p>
          <a:p>
            <a:pPr marL="0" indent="0">
              <a:buNone/>
            </a:pPr>
            <a:r>
              <a:rPr lang="pt-BR" sz="1800" b="1"/>
              <a:t>&lt;/</a:t>
            </a:r>
            <a:r>
              <a:rPr lang="pt-BR" sz="1800" b="1" err="1"/>
              <a:t>textarea</a:t>
            </a:r>
            <a:r>
              <a:rPr lang="pt-BR" sz="1800" b="1"/>
              <a:t>&gt;</a:t>
            </a:r>
          </a:p>
          <a:p>
            <a:pPr marL="0" indent="0">
              <a:buNone/>
            </a:pPr>
            <a:r>
              <a:rPr lang="pt-BR" sz="1800" b="1"/>
              <a:t>&lt;/</a:t>
            </a:r>
            <a:r>
              <a:rPr lang="pt-BR" sz="1800" b="1" err="1"/>
              <a:t>form</a:t>
            </a:r>
            <a:r>
              <a:rPr lang="pt-BR" sz="1800" b="1"/>
              <a:t>&gt;</a:t>
            </a:r>
          </a:p>
          <a:p>
            <a:pPr marL="0" indent="0">
              <a:buNone/>
            </a:pPr>
            <a:endParaRPr lang="pt-BR" sz="1800" b="1"/>
          </a:p>
          <a:p>
            <a:pPr marL="0" indent="0">
              <a:buNone/>
            </a:pPr>
            <a:endParaRPr lang="pt-BR" sz="180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717032"/>
            <a:ext cx="3600400" cy="1634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60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BOTÕES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pt-BR"/>
              <a:t>Os botões são componentes que podem ser pressionados ou clicados, para a execução de uma ação.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Existem três tipos de botões: SUBMIT, RESET e BUTTON.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SUBMIT </a:t>
            </a:r>
            <a:r>
              <a:rPr lang="pt-BR"/>
              <a:t>– Este botão, ao ser clicado, submete as informações do</a:t>
            </a:r>
          </a:p>
          <a:p>
            <a:pPr marL="0" indent="0">
              <a:buNone/>
            </a:pPr>
            <a:r>
              <a:rPr lang="pt-BR"/>
              <a:t>formulário. 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>
                <a:highlight>
                  <a:srgbClr val="C0C0C0"/>
                </a:highlight>
              </a:rPr>
              <a:t>RESET </a:t>
            </a:r>
            <a:r>
              <a:rPr lang="pt-BR">
                <a:highlight>
                  <a:srgbClr val="C0C0C0"/>
                </a:highlight>
              </a:rPr>
              <a:t>– Ao ser clicado, limpa as informações do formulário, voltando ao estado inicial.</a:t>
            </a:r>
            <a:endParaRPr lang="pt-BR">
              <a:highlight>
                <a:srgbClr val="C0C0C0"/>
              </a:highlight>
              <a:cs typeface="Calibri"/>
            </a:endParaRP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BUTTON </a:t>
            </a:r>
            <a:r>
              <a:rPr lang="pt-BR"/>
              <a:t>– Um botão comum, sem função padrão. Sua funcionalidade é</a:t>
            </a:r>
          </a:p>
          <a:p>
            <a:pPr marL="0" indent="0">
              <a:buNone/>
            </a:pPr>
            <a:r>
              <a:rPr lang="pt-BR"/>
              <a:t>determinada pela execução de um método </a:t>
            </a:r>
            <a:r>
              <a:rPr lang="pt-BR" err="1"/>
              <a:t>JavaScript</a:t>
            </a:r>
            <a:r>
              <a:rPr lang="pt-BR"/>
              <a:t> definido no atributo </a:t>
            </a:r>
            <a:r>
              <a:rPr lang="pt-BR" err="1"/>
              <a:t>onClick</a:t>
            </a:r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014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BOTÕES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INPUT, com o atributo TYPE informando o tipo desejado.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NAME </a:t>
            </a:r>
            <a:r>
              <a:rPr lang="pt-BR"/>
              <a:t>– Nome do botão.</a:t>
            </a:r>
          </a:p>
          <a:p>
            <a:pPr marL="0" indent="0">
              <a:buNone/>
            </a:pPr>
            <a:r>
              <a:rPr lang="pt-BR" b="1"/>
              <a:t>VALUE </a:t>
            </a:r>
            <a:r>
              <a:rPr lang="pt-BR"/>
              <a:t>– Texto a ser exibido no botão.</a:t>
            </a:r>
          </a:p>
          <a:p>
            <a:pPr marL="0" indent="0">
              <a:buNone/>
            </a:pPr>
            <a:r>
              <a:rPr lang="pt-BR" b="1"/>
              <a:t>DISABLED </a:t>
            </a:r>
            <a:r>
              <a:rPr lang="pt-BR"/>
              <a:t>– Indica se o campo está desabilitado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327015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– Botões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&lt;form&gt;</a:t>
            </a:r>
          </a:p>
          <a:p>
            <a:pPr marL="0" indent="0">
              <a:buNone/>
            </a:pPr>
            <a:r>
              <a:rPr lang="en-US" sz="2000" b="1"/>
              <a:t>&lt;input type="submit" name="</a:t>
            </a:r>
            <a:r>
              <a:rPr lang="en-US" sz="2000" b="1" err="1"/>
              <a:t>enviar</a:t>
            </a:r>
            <a:r>
              <a:rPr lang="en-US" sz="2000" b="1"/>
              <a:t>" value="</a:t>
            </a:r>
            <a:r>
              <a:rPr lang="en-US" sz="2000" b="1" err="1"/>
              <a:t>Enviar</a:t>
            </a:r>
            <a:r>
              <a:rPr lang="en-US" sz="2000" b="1"/>
              <a:t>"&gt;</a:t>
            </a:r>
          </a:p>
          <a:p>
            <a:pPr marL="0" indent="0">
              <a:buNone/>
            </a:pPr>
            <a:r>
              <a:rPr lang="en-US" sz="2000" b="1"/>
              <a:t>&lt;input type="reset" name="</a:t>
            </a:r>
            <a:r>
              <a:rPr lang="en-US" sz="2000" b="1" err="1"/>
              <a:t>limpar</a:t>
            </a:r>
            <a:r>
              <a:rPr lang="en-US" sz="2000" b="1"/>
              <a:t>" value="</a:t>
            </a:r>
            <a:r>
              <a:rPr lang="en-US" sz="2000" b="1" err="1"/>
              <a:t>Limpar</a:t>
            </a:r>
            <a:r>
              <a:rPr lang="en-US" sz="2000" b="1"/>
              <a:t>"&gt;</a:t>
            </a:r>
          </a:p>
          <a:p>
            <a:pPr marL="0" indent="0">
              <a:buNone/>
            </a:pPr>
            <a:r>
              <a:rPr lang="en-US" sz="2000" b="1"/>
              <a:t>&lt;input type="button" name="nada" value="Nada </a:t>
            </a:r>
            <a:r>
              <a:rPr lang="en-US" sz="2000" b="1" err="1"/>
              <a:t>Faz</a:t>
            </a:r>
            <a:r>
              <a:rPr lang="en-US" sz="2000" b="1"/>
              <a:t>"&gt;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933056"/>
            <a:ext cx="4248472" cy="5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689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CHECKBOX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/>
              <a:t>O </a:t>
            </a:r>
            <a:r>
              <a:rPr lang="pt-BR" err="1"/>
              <a:t>checkbox</a:t>
            </a:r>
            <a:r>
              <a:rPr lang="pt-BR"/>
              <a:t> é um caixinha usada para selecionar itens de um grupo.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INPUT, com o atributo TYPE=“CHECKBOX”.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NAME </a:t>
            </a:r>
            <a:r>
              <a:rPr lang="pt-BR"/>
              <a:t>– Nome do campo (grupo de itens).</a:t>
            </a:r>
          </a:p>
          <a:p>
            <a:pPr marL="0" indent="0">
              <a:buNone/>
            </a:pPr>
            <a:r>
              <a:rPr lang="pt-BR" b="1"/>
              <a:t>VALUE </a:t>
            </a:r>
            <a:r>
              <a:rPr lang="pt-BR"/>
              <a:t>– Valor do item. Apenas os valores dos selecionados são enviados.</a:t>
            </a:r>
          </a:p>
          <a:p>
            <a:pPr marL="0" indent="0">
              <a:buNone/>
            </a:pPr>
            <a:r>
              <a:rPr lang="pt-BR" b="1"/>
              <a:t>DISABLED </a:t>
            </a:r>
            <a:r>
              <a:rPr lang="pt-BR"/>
              <a:t>– Indica se o item está desabilitado (TRUE, FALSE).</a:t>
            </a:r>
          </a:p>
          <a:p>
            <a:pPr marL="0" indent="0">
              <a:buNone/>
            </a:pPr>
            <a:r>
              <a:rPr lang="pt-BR" b="1"/>
              <a:t>CHECKED </a:t>
            </a:r>
            <a:r>
              <a:rPr lang="pt-BR"/>
              <a:t>– Indica se o item está selecionado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3177782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 </a:t>
            </a:r>
            <a:r>
              <a:rPr lang="pt-BR" err="1"/>
              <a:t>Checkbox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/>
              <a:t>&lt;form&gt;</a:t>
            </a:r>
          </a:p>
          <a:p>
            <a:pPr marL="0" indent="0">
              <a:buNone/>
            </a:pPr>
            <a:r>
              <a:rPr lang="en-US" sz="1800" b="1"/>
              <a:t>&lt;input type="checkbox" name="forma" value="email"&gt; E-mail&lt;</a:t>
            </a:r>
            <a:r>
              <a:rPr lang="en-US" sz="1800" b="1" err="1"/>
              <a:t>br</a:t>
            </a:r>
            <a:r>
              <a:rPr lang="en-US" sz="1800" b="1"/>
              <a:t>&gt;</a:t>
            </a:r>
          </a:p>
          <a:p>
            <a:pPr marL="0" indent="0">
              <a:buNone/>
            </a:pPr>
            <a:r>
              <a:rPr lang="en-US" sz="1800" b="1"/>
              <a:t>&lt;input type="checkbox" name="forma" value="</a:t>
            </a:r>
            <a:r>
              <a:rPr lang="en-US" sz="1800" b="1" err="1"/>
              <a:t>telefone</a:t>
            </a:r>
            <a:r>
              <a:rPr lang="en-US" sz="1800" b="1"/>
              <a:t>"&gt;</a:t>
            </a:r>
          </a:p>
          <a:p>
            <a:pPr marL="0" indent="0">
              <a:buNone/>
            </a:pPr>
            <a:r>
              <a:rPr lang="pt-BR" sz="1800" b="1"/>
              <a:t>Telefone&lt;</a:t>
            </a:r>
            <a:r>
              <a:rPr lang="pt-BR" sz="1800" b="1" err="1"/>
              <a:t>br</a:t>
            </a:r>
            <a:r>
              <a:rPr lang="pt-BR" sz="1800" b="1"/>
              <a:t>&gt;</a:t>
            </a:r>
          </a:p>
          <a:p>
            <a:pPr marL="0" indent="0">
              <a:buNone/>
            </a:pPr>
            <a:r>
              <a:rPr lang="en-US" sz="1800" b="1"/>
              <a:t>&lt;input type="checkbox" name="forma"</a:t>
            </a:r>
          </a:p>
          <a:p>
            <a:pPr marL="0" indent="0">
              <a:buNone/>
            </a:pPr>
            <a:r>
              <a:rPr lang="en-US" sz="1800" b="1"/>
              <a:t>value="</a:t>
            </a:r>
            <a:r>
              <a:rPr lang="en-US" sz="1800" b="1" err="1"/>
              <a:t>carta</a:t>
            </a:r>
            <a:r>
              <a:rPr lang="en-US" sz="1800" b="1"/>
              <a:t>" disabled="true"&gt; </a:t>
            </a:r>
            <a:r>
              <a:rPr lang="en-US" sz="1800" b="1" err="1"/>
              <a:t>Carta</a:t>
            </a:r>
            <a:endParaRPr lang="en-US" sz="1800" b="1"/>
          </a:p>
          <a:p>
            <a:pPr marL="0" indent="0">
              <a:buNone/>
            </a:pPr>
            <a:r>
              <a:rPr lang="pt-BR" sz="1800" b="1"/>
              <a:t>&lt;/</a:t>
            </a:r>
            <a:r>
              <a:rPr lang="pt-BR" sz="1800" b="1" err="1"/>
              <a:t>form</a:t>
            </a:r>
            <a:r>
              <a:rPr lang="pt-BR" sz="1800" b="1"/>
              <a:t>&gt;</a:t>
            </a:r>
            <a:endParaRPr lang="pt-BR" sz="18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17" y="4149080"/>
            <a:ext cx="1728192" cy="1327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3613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RADIO BUTTON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/>
              <a:t>O radio </a:t>
            </a:r>
            <a:r>
              <a:rPr lang="pt-BR" err="1"/>
              <a:t>button</a:t>
            </a:r>
            <a:r>
              <a:rPr lang="pt-BR"/>
              <a:t> é uma espécie de botão usado para seleção única de grupos de itens.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formado pela </a:t>
            </a:r>
            <a:r>
              <a:rPr lang="pt-BR" err="1"/>
              <a:t>tag</a:t>
            </a:r>
            <a:r>
              <a:rPr lang="pt-BR"/>
              <a:t> INPUT, com o atributo TYPE=“RADIO”.</a:t>
            </a:r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NAME </a:t>
            </a:r>
            <a:r>
              <a:rPr lang="pt-BR"/>
              <a:t>– Nome do campo (grupo de itens).</a:t>
            </a:r>
          </a:p>
          <a:p>
            <a:pPr marL="0" indent="0">
              <a:buNone/>
            </a:pPr>
            <a:r>
              <a:rPr lang="pt-BR" b="1"/>
              <a:t>VALUE </a:t>
            </a:r>
            <a:r>
              <a:rPr lang="pt-BR"/>
              <a:t>– Valor do item. Apenas o item selecionado será enviado.</a:t>
            </a:r>
          </a:p>
          <a:p>
            <a:pPr marL="0" indent="0">
              <a:buNone/>
            </a:pPr>
            <a:r>
              <a:rPr lang="pt-BR" b="1"/>
              <a:t>DISABLED </a:t>
            </a:r>
            <a:r>
              <a:rPr lang="pt-BR"/>
              <a:t>– Indica se o item está desabilitado (TRUE, FALSE).</a:t>
            </a:r>
          </a:p>
          <a:p>
            <a:pPr marL="0" indent="0">
              <a:buNone/>
            </a:pPr>
            <a:r>
              <a:rPr lang="pt-BR" b="1"/>
              <a:t>CHECKED </a:t>
            </a:r>
            <a:r>
              <a:rPr lang="pt-BR"/>
              <a:t>– Indica se o item está selecionado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226909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– Radio Button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&lt;form&gt;</a:t>
            </a:r>
          </a:p>
          <a:p>
            <a:pPr marL="0" indent="0">
              <a:buNone/>
            </a:pPr>
            <a:r>
              <a:rPr lang="en-US" sz="2000" b="1"/>
              <a:t>&lt;input type="radio" name="forma" value="email"&gt; E-mail&lt;</a:t>
            </a:r>
            <a:r>
              <a:rPr lang="en-US" sz="2000" b="1" err="1"/>
              <a:t>br</a:t>
            </a:r>
            <a:r>
              <a:rPr lang="en-US" sz="2000" b="1"/>
              <a:t>&gt;</a:t>
            </a:r>
          </a:p>
          <a:p>
            <a:pPr marL="0" indent="0">
              <a:buNone/>
            </a:pPr>
            <a:r>
              <a:rPr lang="en-US" sz="2000" b="1"/>
              <a:t>&lt;input type="radio" name="forma" value="</a:t>
            </a:r>
            <a:r>
              <a:rPr lang="en-US" sz="2000" b="1" err="1"/>
              <a:t>telefone</a:t>
            </a:r>
            <a:r>
              <a:rPr lang="en-US" sz="2000" b="1"/>
              <a:t>"&gt;</a:t>
            </a:r>
          </a:p>
          <a:p>
            <a:pPr marL="0" indent="0">
              <a:buNone/>
            </a:pPr>
            <a:r>
              <a:rPr lang="pt-BR" sz="2000" b="1"/>
              <a:t>Telefone&lt;</a:t>
            </a:r>
            <a:r>
              <a:rPr lang="pt-BR" sz="2000" b="1" err="1"/>
              <a:t>br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r>
              <a:rPr lang="en-US" sz="2000" b="1"/>
              <a:t>&lt;input type="radio" name="forma"</a:t>
            </a:r>
          </a:p>
          <a:p>
            <a:pPr marL="0" indent="0">
              <a:buNone/>
            </a:pPr>
            <a:r>
              <a:rPr lang="en-US" sz="2000" b="1"/>
              <a:t>value="</a:t>
            </a:r>
            <a:r>
              <a:rPr lang="en-US" sz="2000" b="1" err="1"/>
              <a:t>carta</a:t>
            </a:r>
            <a:r>
              <a:rPr lang="en-US" sz="2000" b="1"/>
              <a:t>" disabled="true"&gt; </a:t>
            </a:r>
            <a:r>
              <a:rPr lang="en-US" sz="2000" b="1" err="1"/>
              <a:t>Carta</a:t>
            </a:r>
            <a:endParaRPr lang="en-US" sz="2000" b="1"/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  <a:endParaRPr lang="pt-BR" sz="200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37112"/>
            <a:ext cx="1584176" cy="1212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581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COMBOBOX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/>
              <a:t>O </a:t>
            </a:r>
            <a:r>
              <a:rPr lang="pt-BR" sz="2400" err="1"/>
              <a:t>combobox</a:t>
            </a:r>
            <a:r>
              <a:rPr lang="pt-BR" sz="2400"/>
              <a:t> é um caixa usada para selecionar um item de uma lista (pop-up).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É formado pelas </a:t>
            </a:r>
            <a:r>
              <a:rPr lang="pt-BR" sz="2400" err="1"/>
              <a:t>tags</a:t>
            </a:r>
            <a:r>
              <a:rPr lang="pt-BR" sz="2400"/>
              <a:t> SELECT e OPTION.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Aceita os seguintes parâmetros: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 b="1"/>
              <a:t>NAME </a:t>
            </a:r>
            <a:r>
              <a:rPr lang="pt-BR" sz="2400"/>
              <a:t>– Nome do componente, usado na </a:t>
            </a:r>
            <a:r>
              <a:rPr lang="pt-BR" sz="2400" err="1"/>
              <a:t>tag</a:t>
            </a:r>
            <a:r>
              <a:rPr lang="pt-BR" sz="2400"/>
              <a:t> SELECT.</a:t>
            </a:r>
          </a:p>
          <a:p>
            <a:pPr marL="0" indent="0">
              <a:buNone/>
            </a:pPr>
            <a:r>
              <a:rPr lang="pt-BR" sz="2400" b="1"/>
              <a:t>DISABLED </a:t>
            </a:r>
            <a:r>
              <a:rPr lang="pt-BR" sz="2400"/>
              <a:t>– Indica se o combo está desabilitado (TRUE, FALSE).</a:t>
            </a:r>
          </a:p>
          <a:p>
            <a:pPr marL="0" indent="0">
              <a:buNone/>
            </a:pPr>
            <a:r>
              <a:rPr lang="pt-BR" sz="2400" b="1"/>
              <a:t>CHECKED </a:t>
            </a:r>
            <a:r>
              <a:rPr lang="pt-BR" sz="2400"/>
              <a:t>– Indica se o combo está selecionado (TRUE, FALSE).</a:t>
            </a:r>
          </a:p>
          <a:p>
            <a:pPr marL="0" indent="0">
              <a:buNone/>
            </a:pPr>
            <a:r>
              <a:rPr lang="pt-BR" sz="2400" b="1"/>
              <a:t>VALUE </a:t>
            </a:r>
            <a:r>
              <a:rPr lang="pt-BR" sz="2400"/>
              <a:t>– Valor do item, usado na </a:t>
            </a:r>
            <a:r>
              <a:rPr lang="pt-BR" sz="2400" err="1"/>
              <a:t>tag</a:t>
            </a:r>
            <a:r>
              <a:rPr lang="pt-BR" sz="2400"/>
              <a:t> OPTION.</a:t>
            </a:r>
          </a:p>
          <a:p>
            <a:pPr marL="0" indent="0">
              <a:buNone/>
            </a:pPr>
            <a:r>
              <a:rPr lang="pt-BR" sz="2400" b="1"/>
              <a:t>SELECTED </a:t>
            </a:r>
            <a:r>
              <a:rPr lang="pt-BR" sz="2400"/>
              <a:t>– Indica qual o item que está selecionado.</a:t>
            </a:r>
          </a:p>
        </p:txBody>
      </p:sp>
    </p:spTree>
    <p:extLst>
      <p:ext uri="{BB962C8B-B14F-4D97-AF65-F5344CB8AC3E}">
        <p14:creationId xmlns:p14="http://schemas.microsoft.com/office/powerpoint/2010/main" val="1309375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 </a:t>
            </a:r>
            <a:r>
              <a:rPr lang="pt-BR" err="1"/>
              <a:t>Combobox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&lt;form&gt;</a:t>
            </a:r>
          </a:p>
          <a:p>
            <a:pPr marL="0" indent="0">
              <a:buNone/>
            </a:pPr>
            <a:r>
              <a:rPr lang="pt-BR" sz="2000" b="1"/>
              <a:t>&lt;</a:t>
            </a:r>
            <a:r>
              <a:rPr lang="pt-BR" sz="2000" b="1" err="1"/>
              <a:t>select</a:t>
            </a:r>
            <a:r>
              <a:rPr lang="pt-BR" sz="2000" b="1"/>
              <a:t> </a:t>
            </a:r>
            <a:r>
              <a:rPr lang="pt-BR" sz="2000" b="1" err="1"/>
              <a:t>name</a:t>
            </a:r>
            <a:r>
              <a:rPr lang="pt-BR" sz="2000" b="1"/>
              <a:t>="</a:t>
            </a:r>
            <a:r>
              <a:rPr lang="pt-BR" sz="2000" b="1" err="1"/>
              <a:t>cartao</a:t>
            </a:r>
            <a:r>
              <a:rPr lang="pt-BR" sz="2000" b="1"/>
              <a:t>"&gt;</a:t>
            </a:r>
          </a:p>
          <a:p>
            <a:pPr marL="0" indent="0">
              <a:buNone/>
            </a:pPr>
            <a:r>
              <a:rPr lang="pt-BR" sz="2000" b="1"/>
              <a:t>&lt;</a:t>
            </a:r>
            <a:r>
              <a:rPr lang="pt-BR" sz="2000" b="1" err="1"/>
              <a:t>option</a:t>
            </a:r>
            <a:r>
              <a:rPr lang="pt-BR" sz="2000" b="1"/>
              <a:t> </a:t>
            </a:r>
            <a:r>
              <a:rPr lang="pt-BR" sz="2000" b="1" err="1"/>
              <a:t>value</a:t>
            </a:r>
            <a:r>
              <a:rPr lang="pt-BR" sz="2000" b="1"/>
              <a:t>="VISA" SELECTED&gt;Visa&lt;/</a:t>
            </a:r>
            <a:r>
              <a:rPr lang="pt-BR" sz="2000" b="1" err="1"/>
              <a:t>option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r>
              <a:rPr lang="en-US" sz="2000" b="1"/>
              <a:t>&lt;option value="MASTERCARD"&gt;</a:t>
            </a:r>
            <a:r>
              <a:rPr lang="en-US" sz="2000" b="1" err="1"/>
              <a:t>Mastercard</a:t>
            </a:r>
            <a:r>
              <a:rPr lang="en-US" sz="2000" b="1"/>
              <a:t>&lt;/option&gt;</a:t>
            </a:r>
          </a:p>
          <a:p>
            <a:pPr marL="0" indent="0">
              <a:buNone/>
            </a:pPr>
            <a:r>
              <a:rPr lang="en-US" sz="2000" b="1"/>
              <a:t>&lt;option value="AMEX"&gt;American Express&lt;/option&gt;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select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  <a:endParaRPr lang="pt-BR" sz="20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653136"/>
            <a:ext cx="2016224" cy="1056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93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LIST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/>
              <a:t>O </a:t>
            </a:r>
            <a:r>
              <a:rPr lang="pt-BR" err="1"/>
              <a:t>list</a:t>
            </a:r>
            <a:r>
              <a:rPr lang="pt-BR"/>
              <a:t> é um caixa usada para selecionar um item de uma lista (aberta).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formado pelas </a:t>
            </a:r>
            <a:r>
              <a:rPr lang="pt-BR" err="1"/>
              <a:t>tags</a:t>
            </a:r>
            <a:r>
              <a:rPr lang="pt-BR"/>
              <a:t> SELECT e OPTION.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Aceita os seguintes parâmetros: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b="1"/>
              <a:t>NAME </a:t>
            </a:r>
            <a:r>
              <a:rPr lang="pt-BR"/>
              <a:t>– Nome do componente, usado na </a:t>
            </a:r>
            <a:r>
              <a:rPr lang="pt-BR" err="1"/>
              <a:t>tag</a:t>
            </a:r>
            <a:r>
              <a:rPr lang="pt-BR"/>
              <a:t> SELECT.</a:t>
            </a:r>
          </a:p>
          <a:p>
            <a:pPr marL="0" indent="0">
              <a:buNone/>
            </a:pPr>
            <a:r>
              <a:rPr lang="pt-BR" b="1"/>
              <a:t>SIZE </a:t>
            </a:r>
            <a:r>
              <a:rPr lang="pt-BR"/>
              <a:t>– Define o tamanho (visual) da lista (número de itens).</a:t>
            </a:r>
          </a:p>
          <a:p>
            <a:pPr marL="0" indent="0">
              <a:buNone/>
            </a:pPr>
            <a:r>
              <a:rPr lang="pt-BR" b="1"/>
              <a:t>MULTIPLE </a:t>
            </a:r>
            <a:r>
              <a:rPr lang="pt-BR"/>
              <a:t>– Indica se a lista é de seleção múltipla (TRUE, FALSE).</a:t>
            </a:r>
          </a:p>
          <a:p>
            <a:pPr marL="0" indent="0">
              <a:buNone/>
            </a:pPr>
            <a:r>
              <a:rPr lang="pt-BR" b="1"/>
              <a:t>DISABLED </a:t>
            </a:r>
            <a:r>
              <a:rPr lang="pt-BR"/>
              <a:t>– Indica se o combo está desabilitado (TRUE, FALSE).</a:t>
            </a:r>
          </a:p>
          <a:p>
            <a:pPr marL="0" indent="0">
              <a:buNone/>
            </a:pPr>
            <a:r>
              <a:rPr lang="pt-BR" b="1"/>
              <a:t>CHECKED </a:t>
            </a:r>
            <a:r>
              <a:rPr lang="pt-BR"/>
              <a:t>– Indica se o combo está selecionado (TRUE, FALSE).</a:t>
            </a:r>
          </a:p>
          <a:p>
            <a:pPr marL="0" indent="0">
              <a:buNone/>
            </a:pPr>
            <a:r>
              <a:rPr lang="pt-BR" b="1"/>
              <a:t>VALUE </a:t>
            </a:r>
            <a:r>
              <a:rPr lang="pt-BR"/>
              <a:t>– Valor do item, usado na </a:t>
            </a:r>
            <a:r>
              <a:rPr lang="pt-BR" err="1"/>
              <a:t>tag</a:t>
            </a:r>
            <a:r>
              <a:rPr lang="pt-BR"/>
              <a:t> OPTION.</a:t>
            </a:r>
          </a:p>
          <a:p>
            <a:pPr marL="0" indent="0">
              <a:buNone/>
            </a:pPr>
            <a:r>
              <a:rPr lang="pt-BR" b="1"/>
              <a:t>SELECTED </a:t>
            </a:r>
            <a:r>
              <a:rPr lang="pt-BR"/>
              <a:t>– Indica qual o item que está selecionado.</a:t>
            </a:r>
          </a:p>
        </p:txBody>
      </p:sp>
    </p:spTree>
    <p:extLst>
      <p:ext uri="{BB962C8B-B14F-4D97-AF65-F5344CB8AC3E}">
        <p14:creationId xmlns:p14="http://schemas.microsoft.com/office/powerpoint/2010/main" val="2051597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- </a:t>
            </a:r>
            <a:r>
              <a:rPr lang="pt-BR" err="1"/>
              <a:t>List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/>
              <a:t>&lt;</a:t>
            </a:r>
            <a:r>
              <a:rPr lang="pt-BR" sz="2400" b="1" err="1"/>
              <a:t>select</a:t>
            </a:r>
            <a:r>
              <a:rPr lang="pt-BR" sz="2400" b="1"/>
              <a:t> </a:t>
            </a:r>
            <a:r>
              <a:rPr lang="pt-BR" sz="2400" b="1" err="1"/>
              <a:t>name</a:t>
            </a:r>
            <a:r>
              <a:rPr lang="pt-BR" sz="2400" b="1"/>
              <a:t>="</a:t>
            </a:r>
            <a:r>
              <a:rPr lang="pt-BR" sz="2400" b="1" err="1"/>
              <a:t>cartao</a:t>
            </a:r>
            <a:r>
              <a:rPr lang="pt-BR" sz="2400" b="1"/>
              <a:t>" </a:t>
            </a:r>
            <a:r>
              <a:rPr lang="pt-BR" sz="2400" b="1" err="1"/>
              <a:t>size</a:t>
            </a:r>
            <a:r>
              <a:rPr lang="pt-BR" sz="2400" b="1"/>
              <a:t>=3&gt;</a:t>
            </a:r>
          </a:p>
          <a:p>
            <a:pPr marL="0" indent="0">
              <a:buNone/>
            </a:pPr>
            <a:r>
              <a:rPr lang="pt-BR" sz="2400" b="1"/>
              <a:t>&lt;</a:t>
            </a:r>
            <a:r>
              <a:rPr lang="pt-BR" sz="2400" b="1" err="1"/>
              <a:t>option</a:t>
            </a:r>
            <a:r>
              <a:rPr lang="pt-BR" sz="2400" b="1"/>
              <a:t> </a:t>
            </a:r>
            <a:r>
              <a:rPr lang="pt-BR" sz="2400" b="1" err="1"/>
              <a:t>value</a:t>
            </a:r>
            <a:r>
              <a:rPr lang="pt-BR" sz="2400" b="1"/>
              <a:t>="VISA" SELECTED&gt;Visa&lt;/</a:t>
            </a:r>
            <a:r>
              <a:rPr lang="pt-BR" sz="2400" b="1" err="1"/>
              <a:t>option</a:t>
            </a:r>
            <a:r>
              <a:rPr lang="pt-BR" sz="2400" b="1"/>
              <a:t>&gt;</a:t>
            </a:r>
          </a:p>
          <a:p>
            <a:pPr marL="0" indent="0">
              <a:buNone/>
            </a:pPr>
            <a:r>
              <a:rPr lang="en-US" sz="2400" b="1"/>
              <a:t>&lt;option value="MASTERCARD"&gt;</a:t>
            </a:r>
            <a:r>
              <a:rPr lang="en-US" sz="2400" b="1" err="1"/>
              <a:t>Mastercard</a:t>
            </a:r>
            <a:r>
              <a:rPr lang="en-US" sz="2400" b="1"/>
              <a:t>&lt;/option&gt;</a:t>
            </a:r>
          </a:p>
          <a:p>
            <a:pPr marL="0" indent="0">
              <a:buNone/>
            </a:pPr>
            <a:r>
              <a:rPr lang="en-US" sz="2400" b="1"/>
              <a:t>&lt;option value="AMEX"&gt;American Express&lt;/option&gt;</a:t>
            </a:r>
          </a:p>
          <a:p>
            <a:pPr marL="0" indent="0">
              <a:buNone/>
            </a:pPr>
            <a:r>
              <a:rPr lang="pt-BR" sz="2400" b="1"/>
              <a:t>&lt;/</a:t>
            </a:r>
            <a:r>
              <a:rPr lang="pt-BR" sz="2400" b="1" err="1"/>
              <a:t>select</a:t>
            </a:r>
            <a:r>
              <a:rPr lang="pt-BR" sz="2400" b="1"/>
              <a:t>&gt;</a:t>
            </a:r>
            <a:endParaRPr lang="pt-BR" sz="240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221088"/>
            <a:ext cx="302812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9659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FILE CHOOSER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/>
              <a:t>O file </a:t>
            </a:r>
            <a:r>
              <a:rPr lang="pt-BR" sz="2400" err="1"/>
              <a:t>chooser</a:t>
            </a:r>
            <a:r>
              <a:rPr lang="pt-BR" sz="2400"/>
              <a:t> é um caixa usada para selecionar um arquivo do sistema operacional.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É formado pela </a:t>
            </a:r>
            <a:r>
              <a:rPr lang="pt-BR" sz="2400" err="1"/>
              <a:t>tag</a:t>
            </a:r>
            <a:r>
              <a:rPr lang="pt-BR" sz="2400"/>
              <a:t> INPUT, com o atributo TYPE=“FILE”.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Aceita os seguintes parâmetros: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 b="1"/>
              <a:t>NAME </a:t>
            </a:r>
            <a:r>
              <a:rPr lang="pt-BR" sz="2400"/>
              <a:t>– Nome do campo.</a:t>
            </a:r>
          </a:p>
          <a:p>
            <a:pPr marL="0" indent="0">
              <a:buNone/>
            </a:pPr>
            <a:r>
              <a:rPr lang="pt-BR" sz="2400" b="1"/>
              <a:t>DISABLED </a:t>
            </a:r>
            <a:r>
              <a:rPr lang="pt-BR" sz="2400"/>
              <a:t>– Indica se o campo está desabilitado (TRUE, FALSE).</a:t>
            </a:r>
          </a:p>
        </p:txBody>
      </p:sp>
    </p:spTree>
    <p:extLst>
      <p:ext uri="{BB962C8B-B14F-4D97-AF65-F5344CB8AC3E}">
        <p14:creationId xmlns:p14="http://schemas.microsoft.com/office/powerpoint/2010/main" val="3889708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– File </a:t>
            </a:r>
            <a:r>
              <a:rPr lang="pt-BR" err="1"/>
              <a:t>Chooser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&lt;form</a:t>
            </a:r>
            <a:r>
              <a:rPr lang="pt-BR" sz="2000" b="1"/>
              <a:t>" </a:t>
            </a:r>
            <a:r>
              <a:rPr lang="pt-BR" sz="2000" b="1" err="1"/>
              <a:t>enctype</a:t>
            </a:r>
            <a:r>
              <a:rPr lang="pt-BR" sz="2000" b="1"/>
              <a:t>="</a:t>
            </a:r>
            <a:r>
              <a:rPr lang="pt-BR" sz="2000" b="1" err="1"/>
              <a:t>multipart</a:t>
            </a:r>
            <a:r>
              <a:rPr lang="pt-BR" sz="2000" b="1"/>
              <a:t>/</a:t>
            </a:r>
            <a:r>
              <a:rPr lang="pt-BR" sz="2000" b="1" err="1"/>
              <a:t>form-data</a:t>
            </a:r>
            <a:r>
              <a:rPr lang="pt-BR" sz="2000" b="1"/>
              <a:t>"&gt;</a:t>
            </a:r>
          </a:p>
          <a:p>
            <a:pPr marL="0" indent="0">
              <a:buNone/>
            </a:pPr>
            <a:r>
              <a:rPr lang="pt-BR" sz="2000" b="1"/>
              <a:t>Foto: &lt;input </a:t>
            </a:r>
            <a:r>
              <a:rPr lang="pt-BR" sz="2000" b="1" err="1"/>
              <a:t>type</a:t>
            </a:r>
            <a:r>
              <a:rPr lang="pt-BR" sz="2000" b="1"/>
              <a:t>="file" </a:t>
            </a:r>
            <a:r>
              <a:rPr lang="pt-BR" sz="2000" b="1" err="1"/>
              <a:t>name</a:t>
            </a:r>
            <a:r>
              <a:rPr lang="pt-BR" sz="2000" b="1"/>
              <a:t>="foto"&gt;</a:t>
            </a:r>
          </a:p>
          <a:p>
            <a:pPr marL="0" indent="0">
              <a:buNone/>
            </a:pPr>
            <a:r>
              <a:rPr lang="en-US" sz="2000" b="1"/>
              <a:t>&lt;input type="submit" name="</a:t>
            </a:r>
            <a:r>
              <a:rPr lang="en-US" sz="2000" b="1" err="1"/>
              <a:t>enviar</a:t>
            </a:r>
            <a:r>
              <a:rPr lang="en-US" sz="2000" b="1"/>
              <a:t>" value="</a:t>
            </a:r>
            <a:r>
              <a:rPr lang="en-US" sz="2000" b="1" err="1"/>
              <a:t>Enviar</a:t>
            </a:r>
            <a:r>
              <a:rPr lang="en-US" sz="2000" b="1"/>
              <a:t>"&gt;</a:t>
            </a:r>
          </a:p>
          <a:p>
            <a:pPr marL="0" indent="0">
              <a:buNone/>
            </a:pPr>
            <a:r>
              <a:rPr lang="pt-BR" sz="2000" b="1"/>
              <a:t>&lt;/</a:t>
            </a:r>
            <a:r>
              <a:rPr lang="pt-BR" sz="2000" b="1" err="1"/>
              <a:t>form</a:t>
            </a:r>
            <a:r>
              <a:rPr lang="pt-BR" sz="2000" b="1"/>
              <a:t>&gt;</a:t>
            </a:r>
          </a:p>
          <a:p>
            <a:pPr marL="0" indent="0">
              <a:buNone/>
            </a:pP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05064"/>
            <a:ext cx="561662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0500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5978" y="-171400"/>
            <a:ext cx="8229600" cy="903237"/>
          </a:xfrm>
        </p:spPr>
        <p:txBody>
          <a:bodyPr/>
          <a:lstStyle/>
          <a:p>
            <a:r>
              <a:rPr lang="pt-BR" b="1"/>
              <a:t>Date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1916" y="548680"/>
            <a:ext cx="8579296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/>
              <a:t>Outro tipo que foi lançado no HTML5 é o “date”. O campo do tipo “date” define um selecionador de data. Portanto, o valor resultante inclui o ano, o mês e o dia. Contudo, esse tipo de campo não é aceito por todos os navegadores, como por exemplo no Safari.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Vejamos então o exemplo abaixo de um input do tipo date em um formulário HTML: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>
                <a:solidFill>
                  <a:srgbClr val="FF0000"/>
                </a:solidFill>
              </a:rPr>
              <a:t>Data de nascimento: &lt;input </a:t>
            </a:r>
            <a:r>
              <a:rPr lang="pt-BR" sz="2400" err="1">
                <a:solidFill>
                  <a:srgbClr val="FF0000"/>
                </a:solidFill>
              </a:rPr>
              <a:t>type</a:t>
            </a:r>
            <a:r>
              <a:rPr lang="pt-BR" sz="2400">
                <a:solidFill>
                  <a:srgbClr val="FF0000"/>
                </a:solidFill>
              </a:rPr>
              <a:t>="date" </a:t>
            </a:r>
            <a:r>
              <a:rPr lang="pt-BR" sz="2400" err="1">
                <a:solidFill>
                  <a:srgbClr val="FF0000"/>
                </a:solidFill>
              </a:rPr>
              <a:t>name</a:t>
            </a:r>
            <a:r>
              <a:rPr lang="pt-BR" sz="2400">
                <a:solidFill>
                  <a:srgbClr val="FF0000"/>
                </a:solidFill>
              </a:rPr>
              <a:t>="nascimento"&gt;</a:t>
            </a:r>
          </a:p>
        </p:txBody>
      </p:sp>
      <p:pic>
        <p:nvPicPr>
          <p:cNvPr id="1027" name="Picture 3" descr="Exemplo do campo de data">
            <a:extLst>
              <a:ext uri="{FF2B5EF4-FFF2-40B4-BE49-F238E27FC236}">
                <a16:creationId xmlns:a16="http://schemas.microsoft.com/office/drawing/2014/main" id="{DB49135A-824A-344A-5671-E5C320C69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312697"/>
            <a:ext cx="4598293" cy="252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798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5978" y="-171400"/>
            <a:ext cx="8229600" cy="903237"/>
          </a:xfrm>
        </p:spPr>
        <p:txBody>
          <a:bodyPr/>
          <a:lstStyle/>
          <a:p>
            <a:r>
              <a:rPr lang="pt-BR" b="1" err="1"/>
              <a:t>Number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548681"/>
            <a:ext cx="8923708" cy="43204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Este tipo de campo também foi lançado com o HTML5 .O input do tipo “</a:t>
            </a:r>
            <a:r>
              <a:rPr lang="pt-BR" sz="2400" err="1"/>
              <a:t>number</a:t>
            </a:r>
            <a:r>
              <a:rPr lang="pt-BR" sz="2400"/>
              <a:t>” define um campo para inserir um número. Este recurso é muito </a:t>
            </a:r>
            <a:r>
              <a:rPr lang="pt-BR" sz="2400" err="1"/>
              <a:t>util</a:t>
            </a:r>
            <a:r>
              <a:rPr lang="pt-BR" sz="2400"/>
              <a:t>, pois permite também incluir restrições, ou seja, valores mínimos e/ou máximos. Portanto, você pode utilizar os atributos abaixo para especificar as restrições: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 err="1"/>
              <a:t>max</a:t>
            </a:r>
            <a:r>
              <a:rPr lang="pt-BR" sz="2400"/>
              <a:t> – especifica o valor máximo permitido;</a:t>
            </a:r>
          </a:p>
          <a:p>
            <a:pPr marL="0" indent="0">
              <a:buNone/>
            </a:pPr>
            <a:r>
              <a:rPr lang="pt-BR" sz="2400"/>
              <a:t>min – especifica o valor mínimo permitido;</a:t>
            </a:r>
          </a:p>
          <a:p>
            <a:pPr marL="0" indent="0">
              <a:buNone/>
            </a:pPr>
            <a:r>
              <a:rPr lang="pt-BR" sz="2400"/>
              <a:t>step – especifica os intervalos numéricos legais..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Vejamos então o exemplo abaixo de um input do tipo date em um formulário HTML: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>
                <a:solidFill>
                  <a:srgbClr val="FF0000"/>
                </a:solidFill>
              </a:rPr>
              <a:t>Quantidade (entre 1 e 5): &lt;input </a:t>
            </a:r>
            <a:r>
              <a:rPr lang="pt-BR" sz="2400" err="1">
                <a:solidFill>
                  <a:srgbClr val="FF0000"/>
                </a:solidFill>
              </a:rPr>
              <a:t>type</a:t>
            </a:r>
            <a:r>
              <a:rPr lang="pt-BR" sz="2400">
                <a:solidFill>
                  <a:srgbClr val="FF0000"/>
                </a:solidFill>
              </a:rPr>
              <a:t>="</a:t>
            </a:r>
            <a:r>
              <a:rPr lang="pt-BR" sz="2400" err="1">
                <a:solidFill>
                  <a:srgbClr val="FF0000"/>
                </a:solidFill>
              </a:rPr>
              <a:t>number</a:t>
            </a:r>
            <a:r>
              <a:rPr lang="pt-BR" sz="2400">
                <a:solidFill>
                  <a:srgbClr val="FF0000"/>
                </a:solidFill>
              </a:rPr>
              <a:t>" </a:t>
            </a:r>
            <a:r>
              <a:rPr lang="pt-BR" sz="2400" err="1">
                <a:solidFill>
                  <a:srgbClr val="FF0000"/>
                </a:solidFill>
              </a:rPr>
              <a:t>name</a:t>
            </a:r>
            <a:r>
              <a:rPr lang="pt-BR" sz="2400">
                <a:solidFill>
                  <a:srgbClr val="FF0000"/>
                </a:solidFill>
              </a:rPr>
              <a:t>="quantidade" min="1" </a:t>
            </a:r>
            <a:r>
              <a:rPr lang="pt-BR" sz="2400" err="1">
                <a:solidFill>
                  <a:srgbClr val="FF0000"/>
                </a:solidFill>
              </a:rPr>
              <a:t>max</a:t>
            </a:r>
            <a:r>
              <a:rPr lang="pt-BR" sz="2400">
                <a:solidFill>
                  <a:srgbClr val="FF0000"/>
                </a:solidFill>
              </a:rPr>
              <a:t>="5"&gt;</a:t>
            </a:r>
          </a:p>
        </p:txBody>
      </p:sp>
      <p:pic>
        <p:nvPicPr>
          <p:cNvPr id="2051" name="Picture 3" descr="Exemplo de formulario html com input type number">
            <a:extLst>
              <a:ext uri="{FF2B5EF4-FFF2-40B4-BE49-F238E27FC236}">
                <a16:creationId xmlns:a16="http://schemas.microsoft.com/office/drawing/2014/main" id="{8824EE92-70AA-4F7A-CF35-4F52AB083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5229200"/>
            <a:ext cx="3424039" cy="87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080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9ACE852-9ED0-4CAF-9AF0-F6999850C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59BA38-1282-4335-B60C-97DC0D625FA1}"/>
</file>

<file path=customXml/itemProps3.xml><?xml version="1.0" encoding="utf-8"?>
<ds:datastoreItem xmlns:ds="http://schemas.openxmlformats.org/officeDocument/2006/customXml" ds:itemID="{F6FC09E5-D887-4C23-A501-0C674331AF85}">
  <ds:schemaRefs>
    <ds:schemaRef ds:uri="http://schemas.microsoft.com/office/2006/metadata/properties"/>
    <ds:schemaRef ds:uri="http://schemas.microsoft.com/office/infopath/2007/PartnerControls"/>
    <ds:schemaRef ds:uri="ff9ea732-a098-4257-a054-af1a10a0bbf7"/>
    <ds:schemaRef ds:uri="e1b5fafe-7b14-443c-b645-cb12302d21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25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Tema do Office</vt:lpstr>
      <vt:lpstr>HTML - Formulários</vt:lpstr>
      <vt:lpstr>Form</vt:lpstr>
      <vt:lpstr>Formulários e Componentes</vt:lpstr>
      <vt:lpstr>Os componentes disponíveis são:</vt:lpstr>
      <vt:lpstr>TEXTFIELD</vt:lpstr>
      <vt:lpstr>Exemplo - TEXTFIELD</vt:lpstr>
      <vt:lpstr>PASSWORD</vt:lpstr>
      <vt:lpstr>Exemplo - PASSWORD</vt:lpstr>
      <vt:lpstr>TEXT AREA</vt:lpstr>
      <vt:lpstr>Exemplo - TEXT AREA</vt:lpstr>
      <vt:lpstr>BOTÕES</vt:lpstr>
      <vt:lpstr>BOTÕES</vt:lpstr>
      <vt:lpstr>Exemplo – Botões</vt:lpstr>
      <vt:lpstr>CHECKBOX</vt:lpstr>
      <vt:lpstr>Exemplo - Checkbox</vt:lpstr>
      <vt:lpstr>RADIO BUTTON</vt:lpstr>
      <vt:lpstr>Exemplo – Radio Button</vt:lpstr>
      <vt:lpstr>COMBOBOX</vt:lpstr>
      <vt:lpstr>Exemplo - Combobox</vt:lpstr>
      <vt:lpstr>LIST</vt:lpstr>
      <vt:lpstr>Exemplo - List</vt:lpstr>
      <vt:lpstr>FILE CHOOSER</vt:lpstr>
      <vt:lpstr>Exemplo – File Chooser</vt:lpstr>
      <vt:lpstr>Date</vt:lpstr>
      <vt:lpstr>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Formulários</dc:title>
  <dc:creator>Marlene</dc:creator>
  <cp:revision>2</cp:revision>
  <dcterms:created xsi:type="dcterms:W3CDTF">2012-03-01T13:13:40Z</dcterms:created>
  <dcterms:modified xsi:type="dcterms:W3CDTF">2024-08-13T20:09:03Z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0x0101005AA46FA0EB10374EAD13049DDADCE40A</vt:lpwstr>
  </property>
</Properties>
</file>