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75" r:id="rId8"/>
    <p:sldId id="276" r:id="rId9"/>
    <p:sldId id="272" r:id="rId10"/>
    <p:sldId id="273" r:id="rId11"/>
    <p:sldId id="274" r:id="rId12"/>
    <p:sldId id="260" r:id="rId13"/>
    <p:sldId id="261" r:id="rId14"/>
    <p:sldId id="277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D50"/>
    <a:srgbClr val="2C58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96E2C-747D-4665-8D4E-54D00CBA3A08}" v="4" dt="2023-08-29T22:36:05.9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AVIO VILAS BOAS ALVES DA SILVA" userId="S::flavio.silva369@etec.sp.gov.br::8d83c38c-c33b-4cca-8855-cee9da3be865" providerId="AD" clId="Web-{27C96E2C-747D-4665-8D4E-54D00CBA3A08}"/>
    <pc:docChg chg="modSld">
      <pc:chgData name="FLAVIO VILAS BOAS ALVES DA SILVA" userId="S::flavio.silva369@etec.sp.gov.br::8d83c38c-c33b-4cca-8855-cee9da3be865" providerId="AD" clId="Web-{27C96E2C-747D-4665-8D4E-54D00CBA3A08}" dt="2023-08-29T22:36:03.363" v="2" actId="20577"/>
      <pc:docMkLst>
        <pc:docMk/>
      </pc:docMkLst>
      <pc:sldChg chg="modSp">
        <pc:chgData name="FLAVIO VILAS BOAS ALVES DA SILVA" userId="S::flavio.silva369@etec.sp.gov.br::8d83c38c-c33b-4cca-8855-cee9da3be865" providerId="AD" clId="Web-{27C96E2C-747D-4665-8D4E-54D00CBA3A08}" dt="2023-08-29T22:36:03.363" v="2" actId="20577"/>
        <pc:sldMkLst>
          <pc:docMk/>
          <pc:sldMk cId="763863093" sldId="264"/>
        </pc:sldMkLst>
        <pc:spChg chg="mod">
          <ac:chgData name="FLAVIO VILAS BOAS ALVES DA SILVA" userId="S::flavio.silva369@etec.sp.gov.br::8d83c38c-c33b-4cca-8855-cee9da3be865" providerId="AD" clId="Web-{27C96E2C-747D-4665-8D4E-54D00CBA3A08}" dt="2023-08-29T22:36:03.363" v="2" actId="20577"/>
          <ac:spMkLst>
            <pc:docMk/>
            <pc:sldMk cId="763863093" sldId="264"/>
            <ac:spMk id="3" creationId="{00000000-0000-0000-0000-000000000000}"/>
          </ac:spMkLst>
        </pc:spChg>
      </pc:sldChg>
      <pc:sldChg chg="modSp">
        <pc:chgData name="FLAVIO VILAS BOAS ALVES DA SILVA" userId="S::flavio.silva369@etec.sp.gov.br::8d83c38c-c33b-4cca-8855-cee9da3be865" providerId="AD" clId="Web-{27C96E2C-747D-4665-8D4E-54D00CBA3A08}" dt="2023-08-29T22:31:32.527" v="0" actId="1076"/>
        <pc:sldMkLst>
          <pc:docMk/>
          <pc:sldMk cId="202516276" sldId="273"/>
        </pc:sldMkLst>
        <pc:picChg chg="mod">
          <ac:chgData name="FLAVIO VILAS BOAS ALVES DA SILVA" userId="S::flavio.silva369@etec.sp.gov.br::8d83c38c-c33b-4cca-8855-cee9da3be865" providerId="AD" clId="Web-{27C96E2C-747D-4665-8D4E-54D00CBA3A08}" dt="2023-08-29T22:31:32.527" v="0" actId="1076"/>
          <ac:picMkLst>
            <pc:docMk/>
            <pc:sldMk cId="202516276" sldId="273"/>
            <ac:picMk id="9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Programação para WEB I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1</a:t>
            </a:r>
          </a:p>
        </p:txBody>
      </p:sp>
    </p:spTree>
    <p:extLst>
      <p:ext uri="{BB962C8B-B14F-4D97-AF65-F5344CB8AC3E}">
        <p14:creationId xmlns:p14="http://schemas.microsoft.com/office/powerpoint/2010/main" val="1247048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WEB I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169" y="1606182"/>
            <a:ext cx="6584208" cy="426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68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79211"/>
            <a:ext cx="8596668" cy="1320800"/>
          </a:xfrm>
        </p:spPr>
        <p:txBody>
          <a:bodyPr/>
          <a:lstStyle/>
          <a:p>
            <a:r>
              <a:rPr lang="pt-BR" dirty="0"/>
              <a:t>Programação WEB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700011"/>
            <a:ext cx="9029303" cy="480382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Você sabe a diferença entre páginas estáticas e páginas dinâmicas? </a:t>
            </a:r>
          </a:p>
          <a:p>
            <a:pPr marL="0" lvl="0" indent="0" fontAlgn="base">
              <a:buNone/>
            </a:pPr>
            <a:r>
              <a:rPr lang="pt-BR" dirty="0"/>
              <a:t>Estáticas à sem interação com o usuário </a:t>
            </a:r>
          </a:p>
          <a:p>
            <a:pPr marL="0" lvl="0" indent="0" fontAlgn="base">
              <a:buNone/>
            </a:pPr>
            <a:r>
              <a:rPr lang="pt-BR" dirty="0"/>
              <a:t>Dinâmicas à com interação com o usuário 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Hoje em dia é comum as páginas aparecerem com a data e hora atualizadas automaticamente, com um cumprimento ao usuário, com tela de cadastro, </a:t>
            </a:r>
            <a:r>
              <a:rPr lang="pt-BR" dirty="0" err="1"/>
              <a:t>login</a:t>
            </a:r>
            <a:r>
              <a:rPr lang="pt-BR" dirty="0"/>
              <a:t>... 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É isso que as aulas de PWI vem proporcionar: criação de páginas estruturadas com HTML, formatação das mesmas com recursos de CSS, </a:t>
            </a:r>
            <a:r>
              <a:rPr lang="pt-BR" dirty="0" err="1"/>
              <a:t>Bootstrap</a:t>
            </a:r>
            <a:r>
              <a:rPr lang="pt-BR" dirty="0"/>
              <a:t> , materialize , </a:t>
            </a:r>
            <a:r>
              <a:rPr lang="pt-BR" dirty="0" err="1"/>
              <a:t>jquery</a:t>
            </a:r>
            <a:r>
              <a:rPr lang="pt-BR" dirty="0"/>
              <a:t> e </a:t>
            </a:r>
            <a:r>
              <a:rPr lang="pt-BR" dirty="0" err="1"/>
              <a:t>JavaScript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0833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WEB I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377536"/>
            <a:ext cx="7220197" cy="267751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58" y="4324289"/>
            <a:ext cx="2821688" cy="253371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568" y="2576947"/>
            <a:ext cx="3435432" cy="42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42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WEB I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060" y="2179121"/>
            <a:ext cx="3408218" cy="467887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2082" y="2095500"/>
            <a:ext cx="4380139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32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79211"/>
            <a:ext cx="8596668" cy="1320800"/>
          </a:xfrm>
        </p:spPr>
        <p:txBody>
          <a:bodyPr/>
          <a:lstStyle/>
          <a:p>
            <a:r>
              <a:rPr lang="pt-BR" dirty="0"/>
              <a:t>Programação WEB I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9270"/>
            <a:ext cx="6958940" cy="4978730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940" y="1879270"/>
            <a:ext cx="5233061" cy="497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53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8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952" y="24319"/>
            <a:ext cx="5332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16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70457" y="379211"/>
            <a:ext cx="8596668" cy="1320800"/>
          </a:xfrm>
        </p:spPr>
        <p:txBody>
          <a:bodyPr/>
          <a:lstStyle/>
          <a:p>
            <a:r>
              <a:rPr lang="pt-BR" dirty="0"/>
              <a:t>Programação WEB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175657"/>
            <a:ext cx="11773130" cy="5328174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Para desenvolver WEB o que será necessário ?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1 – </a:t>
            </a:r>
            <a:r>
              <a:rPr lang="pt-BR"/>
              <a:t>Navegador                                                     </a:t>
            </a:r>
            <a:r>
              <a:rPr lang="pt-BR" dirty="0"/>
              <a:t>2 -  Editor de HTML                             3 – Linguagem HTML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43" y="3016331"/>
            <a:ext cx="3789846" cy="3144983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88" y="2609933"/>
            <a:ext cx="4640597" cy="3444503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484" y="3722432"/>
            <a:ext cx="2675327" cy="2438883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2815" y="2460830"/>
            <a:ext cx="1270992" cy="1179311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1849" y="2609933"/>
            <a:ext cx="1191491" cy="899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1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WEB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700" y="1700011"/>
            <a:ext cx="8052634" cy="480382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HTML </a:t>
            </a:r>
          </a:p>
          <a:p>
            <a:pPr marL="0" indent="0" algn="ctr">
              <a:buNone/>
            </a:pPr>
            <a:endParaRPr lang="pt-BR" dirty="0"/>
          </a:p>
          <a:p>
            <a:pPr marL="0" indent="0">
              <a:buNone/>
            </a:pPr>
            <a:r>
              <a:rPr lang="pt-BR" sz="2000" dirty="0"/>
              <a:t> Conhecendo a estrutura de páginas de Internet. 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 O que vem a ser HTML? </a:t>
            </a:r>
          </a:p>
          <a:p>
            <a:pPr marL="0" indent="0">
              <a:buNone/>
            </a:pPr>
            <a:r>
              <a:rPr lang="pt-BR" sz="2000" dirty="0"/>
              <a:t> </a:t>
            </a:r>
          </a:p>
          <a:p>
            <a:pPr marL="0" indent="0">
              <a:buNone/>
            </a:pPr>
            <a:r>
              <a:rPr lang="pt-BR" sz="2000" b="1" dirty="0" err="1"/>
              <a:t>Hyper</a:t>
            </a:r>
            <a:r>
              <a:rPr lang="pt-BR" sz="2000" b="1" dirty="0"/>
              <a:t> </a:t>
            </a:r>
            <a:r>
              <a:rPr lang="pt-BR" sz="2000" b="1" dirty="0" err="1"/>
              <a:t>Text</a:t>
            </a:r>
            <a:r>
              <a:rPr lang="pt-BR" sz="2000" b="1" dirty="0"/>
              <a:t> Markup </a:t>
            </a:r>
            <a:r>
              <a:rPr lang="pt-BR" sz="2000" b="1" dirty="0" err="1"/>
              <a:t>Language</a:t>
            </a:r>
            <a:r>
              <a:rPr lang="pt-BR" sz="2000" b="1" dirty="0"/>
              <a:t> </a:t>
            </a:r>
            <a:r>
              <a:rPr lang="pt-BR" sz="2000" dirty="0"/>
              <a:t>à Linguagem de marcação de páginas de hipertexto, ou seja, é a linguagem na qual são escritas as páginas da web, interpretadas pelo navegador. 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607" y="3217024"/>
            <a:ext cx="3774393" cy="364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91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70457" y="379211"/>
            <a:ext cx="8596668" cy="1320800"/>
          </a:xfrm>
        </p:spPr>
        <p:txBody>
          <a:bodyPr/>
          <a:lstStyle/>
          <a:p>
            <a:r>
              <a:rPr lang="pt-BR" dirty="0"/>
              <a:t>Programação WEB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700011"/>
            <a:ext cx="9029303" cy="480382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A Web está estruturada em dois princípios básicos: HTTP e HTML </a:t>
            </a:r>
          </a:p>
          <a:p>
            <a:pPr marL="0" lvl="0" indent="0" fontAlgn="base">
              <a:buNone/>
            </a:pPr>
            <a:endParaRPr lang="pt-BR" dirty="0"/>
          </a:p>
          <a:p>
            <a:pPr marL="0" lvl="0" indent="0" fontAlgn="base">
              <a:buNone/>
            </a:pPr>
            <a:r>
              <a:rPr lang="pt-BR" dirty="0"/>
              <a:t>HTTP à </a:t>
            </a:r>
            <a:r>
              <a:rPr lang="pt-BR" dirty="0" err="1"/>
              <a:t>Hyper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Transfer</a:t>
            </a:r>
            <a:r>
              <a:rPr lang="pt-BR" dirty="0"/>
              <a:t> </a:t>
            </a:r>
            <a:r>
              <a:rPr lang="pt-BR" dirty="0" err="1"/>
              <a:t>Protocol</a:t>
            </a:r>
            <a:r>
              <a:rPr lang="pt-BR" dirty="0"/>
              <a:t> </a:t>
            </a:r>
          </a:p>
          <a:p>
            <a:pPr marL="0" lvl="0" indent="0" fontAlgn="base">
              <a:buNone/>
            </a:pPr>
            <a:r>
              <a:rPr lang="pt-BR" dirty="0"/>
              <a:t>HTML à </a:t>
            </a:r>
            <a:r>
              <a:rPr lang="pt-BR" dirty="0" err="1"/>
              <a:t>Hyper</a:t>
            </a:r>
            <a:r>
              <a:rPr lang="pt-BR" dirty="0"/>
              <a:t> 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Markup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HTTP é o protocolo de transferência de hipertexto, ou seja, é o protocolo que permite a navegação na web, com o simples clicar do mouse sobre o texto ( ou imagem) que esteja associado a outro link.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3111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70457" y="379211"/>
            <a:ext cx="8596668" cy="1320800"/>
          </a:xfrm>
        </p:spPr>
        <p:txBody>
          <a:bodyPr/>
          <a:lstStyle/>
          <a:p>
            <a:r>
              <a:rPr lang="pt-BR" dirty="0"/>
              <a:t>Programação WEB I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1148"/>
            <a:ext cx="6741622" cy="597685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622" y="2693323"/>
            <a:ext cx="5353396" cy="4164677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7689273" y="1284512"/>
            <a:ext cx="3158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rgbClr val="F78D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1783632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WEB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700011"/>
            <a:ext cx="9029303" cy="48038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/>
              <a:t> </a:t>
            </a:r>
            <a:r>
              <a:rPr lang="pt-BR" dirty="0" err="1"/>
              <a:t>Tags</a:t>
            </a:r>
            <a:r>
              <a:rPr lang="pt-BR" dirty="0"/>
              <a:t> </a:t>
            </a:r>
          </a:p>
          <a:p>
            <a:pPr marL="0" indent="0" algn="ctr">
              <a:buNone/>
            </a:pPr>
            <a:endParaRPr lang="pt-BR" dirty="0"/>
          </a:p>
          <a:p>
            <a:pPr marL="0" lvl="0" indent="0" fontAlgn="base">
              <a:buNone/>
            </a:pPr>
            <a:r>
              <a:rPr lang="pt-BR" dirty="0"/>
              <a:t> Os comandos HTML são chamados de </a:t>
            </a:r>
            <a:r>
              <a:rPr lang="pt-BR" dirty="0" err="1"/>
              <a:t>TAGs</a:t>
            </a:r>
            <a:r>
              <a:rPr lang="pt-BR" dirty="0"/>
              <a:t>, compreendem de marcas padrões que são utilizadas para fazer indicações a um browser. </a:t>
            </a:r>
          </a:p>
          <a:p>
            <a:pPr lvl="0" fontAlgn="base"/>
            <a:endParaRPr lang="pt-BR" dirty="0"/>
          </a:p>
          <a:p>
            <a:pPr marL="0" lvl="0" indent="0" fontAlgn="base">
              <a:buNone/>
            </a:pPr>
            <a:r>
              <a:rPr lang="pt-BR" dirty="0"/>
              <a:t>Assim como em outras linguagens, os comandos têm uma sintaxe própria, e seguem algumas regras: </a:t>
            </a:r>
          </a:p>
          <a:p>
            <a:pPr marL="0" lvl="0" indent="0" fontAlgn="base">
              <a:buNone/>
            </a:pPr>
            <a:r>
              <a:rPr lang="pt-BR" dirty="0"/>
              <a:t>As </a:t>
            </a:r>
            <a:r>
              <a:rPr lang="pt-BR" dirty="0" err="1"/>
              <a:t>tags</a:t>
            </a:r>
            <a:r>
              <a:rPr lang="pt-BR" dirty="0"/>
              <a:t> aparecem sempre entre sinais de “menor que” (&lt;) e “maior que”(&gt;);</a:t>
            </a:r>
          </a:p>
          <a:p>
            <a:pPr marL="0" lvl="0" indent="0" fontAlgn="base">
              <a:buNone/>
            </a:pPr>
            <a:endParaRPr lang="pt-BR" dirty="0"/>
          </a:p>
          <a:p>
            <a:pPr marL="0" lvl="0" indent="0" fontAlgn="base">
              <a:buNone/>
            </a:pPr>
            <a:r>
              <a:rPr lang="pt-BR" dirty="0"/>
              <a:t>Geralmente são utilizadas aos pares, sendo que a TAG de finalização de um comando qualquer é finalizada com a procedência de uma barra (/). </a:t>
            </a:r>
            <a:endParaRPr lang="pt-BR" sz="800" dirty="0"/>
          </a:p>
          <a:p>
            <a:pPr marL="0" lvl="0" indent="0" fontAlgn="base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9911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WEB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700011"/>
            <a:ext cx="9029303" cy="48038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/>
              <a:t> </a:t>
            </a:r>
            <a:r>
              <a:rPr lang="pt-BR" dirty="0" err="1"/>
              <a:t>Tags</a:t>
            </a:r>
            <a:r>
              <a:rPr lang="pt-BR" dirty="0"/>
              <a:t> </a:t>
            </a:r>
          </a:p>
          <a:p>
            <a:pPr marL="0" indent="0" algn="ctr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Exemplos 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b="1" dirty="0"/>
              <a:t> </a:t>
            </a:r>
            <a:r>
              <a:rPr lang="pt-BR" b="1" dirty="0" err="1"/>
              <a:t>Tag</a:t>
            </a:r>
            <a:r>
              <a:rPr lang="pt-BR" b="1" dirty="0"/>
              <a:t> único: </a:t>
            </a:r>
            <a:endParaRPr lang="pt-BR" sz="800" dirty="0"/>
          </a:p>
          <a:p>
            <a:pPr marL="0" indent="0">
              <a:buNone/>
            </a:pPr>
            <a:r>
              <a:rPr lang="pt-BR" dirty="0"/>
              <a:t> &lt;</a:t>
            </a:r>
            <a:r>
              <a:rPr lang="pt-BR" dirty="0" err="1"/>
              <a:t>br</a:t>
            </a:r>
            <a:r>
              <a:rPr lang="pt-BR" dirty="0"/>
              <a:t>&gt; </a:t>
            </a:r>
            <a:endParaRPr lang="pt-BR" sz="800" dirty="0"/>
          </a:p>
          <a:p>
            <a:pPr marL="0" indent="0">
              <a:buNone/>
            </a:pPr>
            <a:r>
              <a:rPr lang="pt-BR" dirty="0"/>
              <a:t> </a:t>
            </a:r>
            <a:endParaRPr lang="pt-BR" sz="800" dirty="0"/>
          </a:p>
          <a:p>
            <a:pPr marL="0" indent="0">
              <a:buNone/>
            </a:pPr>
            <a:r>
              <a:rPr lang="pt-BR" b="1" dirty="0" err="1"/>
              <a:t>Tag</a:t>
            </a:r>
            <a:r>
              <a:rPr lang="pt-BR" b="1" dirty="0"/>
              <a:t> duplo: </a:t>
            </a:r>
            <a:endParaRPr lang="pt-BR" sz="800" dirty="0"/>
          </a:p>
          <a:p>
            <a:pPr marL="0" indent="0">
              <a:buNone/>
            </a:pPr>
            <a:r>
              <a:rPr lang="pt-BR" dirty="0"/>
              <a:t> &lt;center&gt; abc &lt;/center&gt; 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770629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WEB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700011"/>
            <a:ext cx="9029303" cy="4803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pt-BR" dirty="0"/>
              <a:t>Iniciando um documento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Todo documento HTML fica contido entre os </a:t>
            </a:r>
            <a:r>
              <a:rPr lang="pt-BR" dirty="0" err="1"/>
              <a:t>TAGs</a:t>
            </a:r>
            <a:r>
              <a:rPr lang="pt-BR" dirty="0"/>
              <a:t>: &lt;HTML&gt; e &lt;/HTML&gt;. 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Uma página HTML possui três partes básicas: estrutura principal, um cabeçalho e um corpo de página. </a:t>
            </a:r>
          </a:p>
          <a:p>
            <a:pPr marL="0" indent="0">
              <a:buNone/>
            </a:pPr>
            <a:r>
              <a:rPr lang="pt-BR" dirty="0"/>
              <a:t>Página Web possui uma estrutura dividida em 4 </a:t>
            </a:r>
            <a:r>
              <a:rPr lang="pt-BR" dirty="0" err="1"/>
              <a:t>TAGs</a:t>
            </a:r>
            <a:r>
              <a:rPr lang="pt-BR" dirty="0"/>
              <a:t> básicas: </a:t>
            </a:r>
          </a:p>
          <a:p>
            <a:pPr marL="0" indent="0">
              <a:buNone/>
            </a:pPr>
            <a:r>
              <a:rPr lang="pt-BR" dirty="0"/>
              <a:t>&lt;!DOCTYPE HTML&gt;</a:t>
            </a:r>
          </a:p>
          <a:p>
            <a:pPr marL="0" indent="0">
              <a:buNone/>
            </a:pPr>
            <a:r>
              <a:rPr lang="pt-BR" dirty="0"/>
              <a:t>&lt;HTML&gt; ...&lt;/HTML&gt; </a:t>
            </a:r>
          </a:p>
          <a:p>
            <a:pPr marL="0" indent="0">
              <a:buNone/>
            </a:pPr>
            <a:r>
              <a:rPr lang="pt-BR" dirty="0"/>
              <a:t>&lt;HEAD&gt; ...&lt;/HEAD&gt;</a:t>
            </a:r>
          </a:p>
          <a:p>
            <a:pPr marL="0" indent="0">
              <a:buNone/>
            </a:pPr>
            <a:r>
              <a:rPr lang="pt-BR" dirty="0"/>
              <a:t>&lt;TITLE&gt; ...&lt;/TITLE&gt; </a:t>
            </a:r>
          </a:p>
          <a:p>
            <a:pPr marL="0" indent="0">
              <a:buNone/>
            </a:pPr>
            <a:r>
              <a:rPr lang="pt-BR" dirty="0"/>
              <a:t>&lt;BODY&gt; ...&lt;/BODY&gt;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3863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pt-BR" dirty="0">
                <a:latin typeface="Arial Black" panose="020B0A04020102020204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584101"/>
            <a:ext cx="9029303" cy="49197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&lt;HTML&gt; ...&lt;/HTML&gt; </a:t>
            </a:r>
          </a:p>
          <a:p>
            <a:pPr marL="0" indent="0">
              <a:buNone/>
            </a:pPr>
            <a:r>
              <a:rPr lang="pt-BR" dirty="0"/>
              <a:t>São usados para delimitar os comandos HTML, indicam o início e o fim de um documento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&lt;HEAD&gt; ...&lt;/HEAD&gt; </a:t>
            </a:r>
          </a:p>
          <a:p>
            <a:pPr marL="0" indent="0">
              <a:buNone/>
            </a:pPr>
            <a:r>
              <a:rPr lang="pt-BR" dirty="0"/>
              <a:t>Usado para indicar parâmetros de configuração do documento, também utilizado para exibir o título na barra de títulos do browser.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&lt;TITLE&gt; ...&lt;/TITLE&gt; </a:t>
            </a:r>
          </a:p>
          <a:p>
            <a:pPr marL="0" indent="0">
              <a:buNone/>
            </a:pPr>
            <a:r>
              <a:rPr lang="pt-BR" dirty="0"/>
              <a:t>Indica o título do documento para o browser.</a:t>
            </a:r>
          </a:p>
          <a:p>
            <a:pPr marL="0" indent="0">
              <a:buNone/>
            </a:pPr>
            <a:r>
              <a:rPr lang="pt-BR" dirty="0"/>
              <a:t> Esta TAG deve estar sempre dentro das </a:t>
            </a:r>
            <a:r>
              <a:rPr lang="pt-BR" dirty="0" err="1"/>
              <a:t>TAGs</a:t>
            </a:r>
            <a:r>
              <a:rPr lang="pt-BR" dirty="0"/>
              <a:t> &lt;HEAD&gt; &lt;/HEAD&gt;. 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461016" y="436451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/>
              <a:t>Programação WEB 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3435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Programação WEB I</a:t>
            </a:r>
            <a:br>
              <a:rPr lang="pt-BR" dirty="0">
                <a:latin typeface="Arial Black" panose="020B0A04020102020204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584101"/>
            <a:ext cx="9029303" cy="491973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&lt;BODY&gt; ...&lt;/BODY&gt;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Envolvem a seção do corpo do documento. Aqui fica o conteúdo principal da Home Page. 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Opcionalmente podemos indicar uma cor para o fundo da página, usando a opção </a:t>
            </a:r>
            <a:r>
              <a:rPr lang="pt-BR" b="1" dirty="0"/>
              <a:t>BGCOLOR</a:t>
            </a:r>
            <a:r>
              <a:rPr lang="pt-BR" dirty="0"/>
              <a:t>, ou um arquivo de imagem para formar o fundo, usando a opção </a:t>
            </a:r>
            <a:r>
              <a:rPr lang="pt-BR" b="1" dirty="0"/>
              <a:t>BACKGROUNG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98432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pt-BR" dirty="0">
                <a:latin typeface="Arial Black" panose="020B0A04020102020204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584101"/>
            <a:ext cx="9029303" cy="491973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/>
              <a:t>Exemplo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&gt; 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head</a:t>
            </a:r>
            <a:r>
              <a:rPr lang="pt-BR" dirty="0"/>
              <a:t>&gt; 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title</a:t>
            </a:r>
            <a:r>
              <a:rPr lang="pt-BR" dirty="0"/>
              <a:t>&gt; Aula1 de PWI – HTML&lt;/</a:t>
            </a:r>
            <a:r>
              <a:rPr lang="pt-BR" dirty="0" err="1"/>
              <a:t>title</a:t>
            </a:r>
            <a:r>
              <a:rPr lang="pt-BR" dirty="0"/>
              <a:t>&gt; </a:t>
            </a:r>
          </a:p>
          <a:p>
            <a:pPr marL="0" indent="0">
              <a:buNone/>
            </a:pPr>
            <a:r>
              <a:rPr lang="pt-BR" dirty="0"/>
              <a:t>&lt;/</a:t>
            </a:r>
            <a:r>
              <a:rPr lang="pt-BR" dirty="0" err="1"/>
              <a:t>head</a:t>
            </a:r>
            <a:r>
              <a:rPr lang="pt-BR" dirty="0"/>
              <a:t>&gt; 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body</a:t>
            </a:r>
            <a:r>
              <a:rPr lang="pt-BR" dirty="0"/>
              <a:t> </a:t>
            </a:r>
            <a:r>
              <a:rPr lang="pt-BR" dirty="0" err="1"/>
              <a:t>bgcolor</a:t>
            </a:r>
            <a:r>
              <a:rPr lang="pt-BR" dirty="0"/>
              <a:t>=“</a:t>
            </a:r>
            <a:r>
              <a:rPr lang="pt-BR" dirty="0" err="1"/>
              <a:t>green</a:t>
            </a:r>
            <a:r>
              <a:rPr lang="pt-BR" dirty="0"/>
              <a:t>”&gt; </a:t>
            </a:r>
          </a:p>
          <a:p>
            <a:pPr marL="0" indent="0">
              <a:buNone/>
            </a:pPr>
            <a:r>
              <a:rPr lang="pt-BR" dirty="0"/>
              <a:t>Corpo da página HTML com cor de fundo. </a:t>
            </a:r>
          </a:p>
          <a:p>
            <a:pPr marL="0" indent="0">
              <a:buNone/>
            </a:pPr>
            <a:r>
              <a:rPr lang="pt-BR" dirty="0"/>
              <a:t>&lt;/</a:t>
            </a:r>
            <a:r>
              <a:rPr lang="pt-BR" dirty="0" err="1"/>
              <a:t>body</a:t>
            </a:r>
            <a:r>
              <a:rPr lang="pt-BR" dirty="0"/>
              <a:t>&gt; </a:t>
            </a:r>
          </a:p>
          <a:p>
            <a:pPr marL="0" indent="0">
              <a:buNone/>
            </a:pPr>
            <a:r>
              <a:rPr lang="pt-BR" dirty="0"/>
              <a:t>&lt;/</a:t>
            </a:r>
            <a:r>
              <a:rPr lang="pt-BR" dirty="0" err="1"/>
              <a:t>html</a:t>
            </a:r>
            <a:r>
              <a:rPr lang="pt-BR" dirty="0"/>
              <a:t>&gt; 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461016" y="524494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/>
              <a:t>Programação WEB 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3463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584100"/>
            <a:ext cx="9029303" cy="5273899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pt-BR" b="1" dirty="0"/>
              <a:t>Títulos e Subtítulos </a:t>
            </a:r>
          </a:p>
          <a:p>
            <a:pPr marL="0" lvl="0" indent="0" fontAlgn="base">
              <a:buNone/>
            </a:pPr>
            <a:r>
              <a:rPr lang="pt-BR" dirty="0"/>
              <a:t>Para demarcar títulos e subtítulos, use as </a:t>
            </a:r>
            <a:r>
              <a:rPr lang="pt-BR" dirty="0" err="1"/>
              <a:t>TAGs</a:t>
            </a:r>
            <a:r>
              <a:rPr lang="pt-BR" dirty="0"/>
              <a:t> de HEADER (H1 até H6) </a:t>
            </a:r>
          </a:p>
          <a:p>
            <a:pPr marL="0" lvl="0" indent="0" fontAlgn="base">
              <a:buNone/>
            </a:pPr>
            <a:r>
              <a:rPr lang="pt-BR" dirty="0"/>
              <a:t>Exemplo: </a:t>
            </a:r>
          </a:p>
          <a:p>
            <a:pPr marL="0" indent="0">
              <a:buNone/>
            </a:pPr>
            <a:r>
              <a:rPr lang="pt-BR" dirty="0"/>
              <a:t> 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html</a:t>
            </a:r>
            <a:r>
              <a:rPr lang="pt-BR" dirty="0"/>
              <a:t>&gt; 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head</a:t>
            </a:r>
            <a:r>
              <a:rPr lang="pt-BR" dirty="0"/>
              <a:t>&gt; 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title</a:t>
            </a:r>
            <a:r>
              <a:rPr lang="pt-BR" dirty="0"/>
              <a:t>&gt; Aula1 de PWI – HTML&lt;/</a:t>
            </a:r>
            <a:r>
              <a:rPr lang="pt-BR" dirty="0" err="1"/>
              <a:t>title</a:t>
            </a:r>
            <a:r>
              <a:rPr lang="pt-BR" dirty="0"/>
              <a:t>&gt; </a:t>
            </a:r>
          </a:p>
          <a:p>
            <a:pPr marL="0" indent="0">
              <a:buNone/>
            </a:pPr>
            <a:r>
              <a:rPr lang="pt-BR" dirty="0"/>
              <a:t>&lt;/</a:t>
            </a:r>
            <a:r>
              <a:rPr lang="pt-BR" dirty="0" err="1"/>
              <a:t>head</a:t>
            </a:r>
            <a:r>
              <a:rPr lang="pt-BR" dirty="0"/>
              <a:t>&gt; 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body</a:t>
            </a:r>
            <a:r>
              <a:rPr lang="pt-BR" dirty="0"/>
              <a:t>&gt; </a:t>
            </a:r>
          </a:p>
          <a:p>
            <a:pPr marL="0" indent="0">
              <a:buNone/>
            </a:pPr>
            <a:r>
              <a:rPr lang="pt-BR" dirty="0"/>
              <a:t>  	&lt;H1&gt; Título de nível 1 &lt;/H1&gt; </a:t>
            </a:r>
          </a:p>
          <a:p>
            <a:pPr marL="0" indent="0">
              <a:buNone/>
            </a:pPr>
            <a:r>
              <a:rPr lang="pt-BR" dirty="0"/>
              <a:t> 	&lt;H2&gt; Título de nível 2 &lt;/H2&gt; </a:t>
            </a:r>
          </a:p>
          <a:p>
            <a:pPr marL="0" indent="0">
              <a:buNone/>
            </a:pPr>
            <a:r>
              <a:rPr lang="pt-BR" dirty="0"/>
              <a:t>       &lt;H3&gt; Título de nível 3 &lt;/H3&gt;   	</a:t>
            </a:r>
          </a:p>
          <a:p>
            <a:pPr marL="0" indent="0">
              <a:buNone/>
            </a:pPr>
            <a:r>
              <a:rPr lang="pt-BR" dirty="0"/>
              <a:t>       &lt;H4&gt; Título de nível 4 &lt;/H4&gt;   	</a:t>
            </a:r>
          </a:p>
          <a:p>
            <a:pPr marL="0" indent="0">
              <a:buNone/>
            </a:pPr>
            <a:r>
              <a:rPr lang="pt-BR" dirty="0"/>
              <a:t>      &lt;H5&gt; Título de nível 5 &lt;/H5&gt; </a:t>
            </a:r>
          </a:p>
          <a:p>
            <a:pPr marL="0" indent="0">
              <a:buNone/>
            </a:pPr>
            <a:r>
              <a:rPr lang="pt-BR" dirty="0"/>
              <a:t>      &lt;H6&gt;&lt;Center&gt; Título de nível 6  Centralizado &lt;/Center&gt;&lt;/H5&gt; </a:t>
            </a:r>
          </a:p>
          <a:p>
            <a:pPr marL="0" indent="0">
              <a:buNone/>
            </a:pPr>
            <a:r>
              <a:rPr lang="pt-BR" dirty="0"/>
              <a:t>     &lt;/</a:t>
            </a:r>
            <a:r>
              <a:rPr lang="pt-BR" dirty="0" err="1"/>
              <a:t>body</a:t>
            </a:r>
            <a:r>
              <a:rPr lang="pt-BR" dirty="0"/>
              <a:t>&gt; </a:t>
            </a:r>
          </a:p>
          <a:p>
            <a:pPr marL="0" indent="0">
              <a:buNone/>
            </a:pPr>
            <a:r>
              <a:rPr lang="pt-BR" dirty="0"/>
              <a:t>      &lt;/</a:t>
            </a:r>
            <a:r>
              <a:rPr lang="pt-BR" dirty="0" err="1"/>
              <a:t>html</a:t>
            </a:r>
            <a:r>
              <a:rPr lang="pt-BR" dirty="0"/>
              <a:t>&gt; 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570456" y="263300"/>
            <a:ext cx="8596668" cy="1320800"/>
          </a:xfrm>
        </p:spPr>
        <p:txBody>
          <a:bodyPr/>
          <a:lstStyle/>
          <a:p>
            <a:r>
              <a:rPr lang="pt-BR" dirty="0"/>
              <a:t>Programação WEB I</a:t>
            </a:r>
          </a:p>
        </p:txBody>
      </p:sp>
    </p:spTree>
    <p:extLst>
      <p:ext uri="{BB962C8B-B14F-4D97-AF65-F5344CB8AC3E}">
        <p14:creationId xmlns:p14="http://schemas.microsoft.com/office/powerpoint/2010/main" val="775281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4699" y="0"/>
            <a:ext cx="8596668" cy="1320800"/>
          </a:xfrm>
        </p:spPr>
        <p:txBody>
          <a:bodyPr>
            <a:normAutofit/>
          </a:bodyPr>
          <a:lstStyle/>
          <a:p>
            <a:br>
              <a:rPr lang="pt-BR" dirty="0">
                <a:latin typeface="Arial Black" panose="020B0A04020102020204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584100"/>
            <a:ext cx="9029303" cy="5273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    Estilos de Texto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&lt;B&gt; Negrito &lt;/B&gt; </a:t>
            </a:r>
          </a:p>
          <a:p>
            <a:pPr marL="0" indent="0">
              <a:buNone/>
            </a:pPr>
            <a:r>
              <a:rPr lang="pt-BR" dirty="0"/>
              <a:t>&lt;I&gt; Itálico&lt;/I&gt; </a:t>
            </a:r>
          </a:p>
          <a:p>
            <a:pPr marL="0" indent="0">
              <a:buNone/>
            </a:pPr>
            <a:r>
              <a:rPr lang="pt-BR" dirty="0"/>
              <a:t>&lt;U&gt; Sublinhado&lt;/U&gt; </a:t>
            </a:r>
          </a:p>
          <a:p>
            <a:pPr marL="0" indent="0">
              <a:buNone/>
            </a:pPr>
            <a:r>
              <a:rPr lang="pt-BR" dirty="0"/>
              <a:t>&lt;SUP&gt; Sobrescrito&lt;/SUP&gt; </a:t>
            </a:r>
          </a:p>
          <a:p>
            <a:pPr marL="0" indent="0">
              <a:buNone/>
            </a:pPr>
            <a:r>
              <a:rPr lang="pt-BR" dirty="0"/>
              <a:t>&lt;SUB&gt; Subscrito&lt;/SUB&gt; </a:t>
            </a:r>
          </a:p>
          <a:p>
            <a:pPr marL="0" indent="0">
              <a:buNone/>
            </a:pPr>
            <a:r>
              <a:rPr lang="pt-BR" dirty="0"/>
              <a:t>&lt;HR&gt;</a:t>
            </a:r>
            <a:r>
              <a:rPr lang="pt-BR"/>
              <a:t>Linha horizontal</a:t>
            </a:r>
            <a:r>
              <a:rPr lang="pt-BR" dirty="0"/>
              <a:t>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829734" y="7620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Programação WEB I</a:t>
            </a:r>
          </a:p>
        </p:txBody>
      </p:sp>
    </p:spTree>
    <p:extLst>
      <p:ext uri="{BB962C8B-B14F-4D97-AF65-F5344CB8AC3E}">
        <p14:creationId xmlns:p14="http://schemas.microsoft.com/office/powerpoint/2010/main" val="29036431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pt-BR" dirty="0">
                <a:latin typeface="Arial Black" panose="020B0A04020102020204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584100"/>
            <a:ext cx="9029303" cy="52738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                                                                 &lt;p&gt; </a:t>
            </a:r>
          </a:p>
          <a:p>
            <a:pPr marL="0" indent="0">
              <a:buNone/>
            </a:pPr>
            <a:r>
              <a:rPr lang="pt-BR" sz="2000" dirty="0"/>
              <a:t>A </a:t>
            </a:r>
            <a:r>
              <a:rPr lang="pt-BR" sz="2000" dirty="0" err="1"/>
              <a:t>tag</a:t>
            </a:r>
            <a:r>
              <a:rPr lang="pt-BR" sz="2000" dirty="0"/>
              <a:t> responsável pela quebra de parágrafos é a &lt;P&gt; que finaliza o parágrafo e insere automaticamente uma linha embranco entre os parágrafos. </a:t>
            </a:r>
          </a:p>
          <a:p>
            <a:pPr marL="0" indent="0">
              <a:buNone/>
            </a:pPr>
            <a:r>
              <a:rPr lang="pt-BR" sz="2000" dirty="0"/>
              <a:t>Exemplo: </a:t>
            </a:r>
          </a:p>
          <a:p>
            <a:pPr marL="0" indent="0">
              <a:buNone/>
            </a:pPr>
            <a:r>
              <a:rPr lang="pt-BR" sz="2000" dirty="0"/>
              <a:t> </a:t>
            </a:r>
          </a:p>
          <a:p>
            <a:pPr marL="0" indent="0">
              <a:buNone/>
            </a:pPr>
            <a:r>
              <a:rPr lang="pt-BR" sz="2000" dirty="0"/>
              <a:t>&lt;P </a:t>
            </a:r>
            <a:r>
              <a:rPr lang="pt-BR" sz="2000" dirty="0" err="1"/>
              <a:t>align</a:t>
            </a:r>
            <a:r>
              <a:rPr lang="pt-BR" sz="2000" dirty="0"/>
              <a:t>=“posição”&gt; texto do parágrafo. </a:t>
            </a:r>
          </a:p>
          <a:p>
            <a:pPr marL="0" indent="0">
              <a:buNone/>
            </a:pPr>
            <a:r>
              <a:rPr lang="pt-BR" sz="2000" dirty="0"/>
              <a:t> </a:t>
            </a:r>
          </a:p>
          <a:p>
            <a:pPr marL="0" indent="0">
              <a:buNone/>
            </a:pPr>
            <a:r>
              <a:rPr lang="pt-BR" sz="2000" dirty="0"/>
              <a:t>Posição pode ser: </a:t>
            </a:r>
          </a:p>
          <a:p>
            <a:pPr marL="0" indent="0">
              <a:buNone/>
            </a:pPr>
            <a:r>
              <a:rPr lang="pt-BR" sz="2000" dirty="0" err="1"/>
              <a:t>Left</a:t>
            </a:r>
            <a:r>
              <a:rPr lang="pt-BR" sz="2000" dirty="0"/>
              <a:t> : Alinhamento à esquerda. </a:t>
            </a:r>
          </a:p>
          <a:p>
            <a:pPr marL="0" indent="0">
              <a:buNone/>
            </a:pPr>
            <a:r>
              <a:rPr lang="pt-BR" sz="2000" dirty="0"/>
              <a:t>Center: Centralizado </a:t>
            </a:r>
          </a:p>
          <a:p>
            <a:pPr marL="0" indent="0">
              <a:buNone/>
            </a:pPr>
            <a:r>
              <a:rPr lang="pt-BR" sz="2000" dirty="0" err="1"/>
              <a:t>Rigth</a:t>
            </a:r>
            <a:r>
              <a:rPr lang="pt-BR" sz="2000" dirty="0"/>
              <a:t>: Alinhamento à direita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544726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 dirty="0"/>
              <a:t>Programação WEB I</a:t>
            </a:r>
          </a:p>
        </p:txBody>
      </p:sp>
    </p:spTree>
    <p:extLst>
      <p:ext uri="{BB962C8B-B14F-4D97-AF65-F5344CB8AC3E}">
        <p14:creationId xmlns:p14="http://schemas.microsoft.com/office/powerpoint/2010/main" val="3503069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pt-BR" dirty="0">
                <a:latin typeface="Arial Black" panose="020B0A04020102020204" pitchFamily="34" charset="0"/>
              </a:rPr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609600"/>
            <a:ext cx="9029303" cy="6029739"/>
          </a:xfrm>
        </p:spPr>
        <p:txBody>
          <a:bodyPr>
            <a:normAutofit fontScale="40000" lnSpcReduction="20000"/>
          </a:bodyPr>
          <a:lstStyle/>
          <a:p>
            <a:pPr marL="0" indent="0" algn="ctr">
              <a:buNone/>
            </a:pPr>
            <a:r>
              <a:rPr lang="pt-BR" sz="4200" dirty="0"/>
              <a:t>Exemplo </a:t>
            </a:r>
          </a:p>
          <a:p>
            <a:pPr marL="0" indent="0">
              <a:buNone/>
            </a:pPr>
            <a:r>
              <a:rPr lang="pt-BR" sz="4200" dirty="0"/>
              <a:t>&lt;</a:t>
            </a:r>
            <a:r>
              <a:rPr lang="pt-BR" sz="4200" dirty="0" err="1"/>
              <a:t>html</a:t>
            </a:r>
            <a:r>
              <a:rPr lang="pt-BR" sz="4200" dirty="0"/>
              <a:t>&gt; </a:t>
            </a:r>
          </a:p>
          <a:p>
            <a:pPr marL="0" indent="0">
              <a:buNone/>
            </a:pPr>
            <a:r>
              <a:rPr lang="pt-BR" sz="4200" dirty="0"/>
              <a:t>&lt;</a:t>
            </a:r>
            <a:r>
              <a:rPr lang="pt-BR" sz="4200" dirty="0" err="1"/>
              <a:t>head</a:t>
            </a:r>
            <a:r>
              <a:rPr lang="pt-BR" sz="4200" dirty="0"/>
              <a:t>&gt; </a:t>
            </a:r>
          </a:p>
          <a:p>
            <a:pPr marL="0" indent="0">
              <a:buNone/>
            </a:pPr>
            <a:r>
              <a:rPr lang="pt-BR" sz="4200" dirty="0"/>
              <a:t>&lt;</a:t>
            </a:r>
            <a:r>
              <a:rPr lang="pt-BR" sz="4200" dirty="0" err="1"/>
              <a:t>title</a:t>
            </a:r>
            <a:r>
              <a:rPr lang="pt-BR" sz="4200" dirty="0"/>
              <a:t>&gt; Aula1 de PWI – HTML&lt;/</a:t>
            </a:r>
            <a:r>
              <a:rPr lang="pt-BR" sz="4200" dirty="0" err="1"/>
              <a:t>title</a:t>
            </a:r>
            <a:r>
              <a:rPr lang="pt-BR" sz="4200" dirty="0"/>
              <a:t>&gt; </a:t>
            </a:r>
          </a:p>
          <a:p>
            <a:pPr marL="0" indent="0">
              <a:buNone/>
            </a:pPr>
            <a:r>
              <a:rPr lang="pt-BR" sz="4200" dirty="0"/>
              <a:t>&lt;/</a:t>
            </a:r>
            <a:r>
              <a:rPr lang="pt-BR" sz="4200" dirty="0" err="1"/>
              <a:t>head</a:t>
            </a:r>
            <a:r>
              <a:rPr lang="pt-BR" sz="4200" dirty="0"/>
              <a:t>&gt; </a:t>
            </a:r>
          </a:p>
          <a:p>
            <a:pPr marL="0" indent="0">
              <a:buNone/>
            </a:pPr>
            <a:r>
              <a:rPr lang="pt-BR" sz="4200" dirty="0"/>
              <a:t>&lt;</a:t>
            </a:r>
            <a:r>
              <a:rPr lang="pt-BR" sz="4200" dirty="0" err="1"/>
              <a:t>body</a:t>
            </a:r>
            <a:r>
              <a:rPr lang="pt-BR" sz="4200" dirty="0"/>
              <a:t>&gt; </a:t>
            </a:r>
          </a:p>
          <a:p>
            <a:pPr marL="0" indent="0">
              <a:buNone/>
            </a:pPr>
            <a:r>
              <a:rPr lang="pt-BR" sz="4200" dirty="0"/>
              <a:t> 	 </a:t>
            </a:r>
          </a:p>
          <a:p>
            <a:pPr marL="0" indent="0">
              <a:buNone/>
            </a:pPr>
            <a:r>
              <a:rPr lang="pt-BR" sz="4200" dirty="0"/>
              <a:t>&lt;B&gt; Estilo negrito&lt;/B&gt; </a:t>
            </a:r>
          </a:p>
          <a:p>
            <a:pPr marL="0" indent="0">
              <a:buNone/>
            </a:pPr>
            <a:r>
              <a:rPr lang="pt-BR" sz="4200" dirty="0"/>
              <a:t> &lt;I&gt; Estilo itálico&lt;/I&gt; </a:t>
            </a:r>
          </a:p>
          <a:p>
            <a:pPr marL="0" indent="0">
              <a:buNone/>
            </a:pPr>
            <a:r>
              <a:rPr lang="pt-BR" sz="4200" dirty="0"/>
              <a:t>&lt;U&gt; Estilo sublinhado &lt;/U&gt; </a:t>
            </a:r>
          </a:p>
          <a:p>
            <a:pPr marL="0" indent="0">
              <a:buNone/>
            </a:pPr>
            <a:r>
              <a:rPr lang="pt-BR" sz="4200" dirty="0"/>
              <a:t>&lt;SUP&gt; Estilo sobrescrito&lt;/SUP&gt; </a:t>
            </a:r>
          </a:p>
          <a:p>
            <a:pPr marL="0" indent="0">
              <a:buNone/>
            </a:pPr>
            <a:r>
              <a:rPr lang="pt-BR" sz="4200" dirty="0"/>
              <a:t>&lt;SUB&gt; Estilo subscrito &lt;/SUB&gt; </a:t>
            </a:r>
          </a:p>
          <a:p>
            <a:pPr marL="0" indent="0">
              <a:buNone/>
            </a:pPr>
            <a:r>
              <a:rPr lang="pt-BR" sz="4200" dirty="0"/>
              <a:t> &lt;P </a:t>
            </a:r>
            <a:r>
              <a:rPr lang="pt-BR" sz="4200" dirty="0" err="1"/>
              <a:t>align</a:t>
            </a:r>
            <a:r>
              <a:rPr lang="pt-BR" sz="4200" dirty="0"/>
              <a:t>=“Center”&gt; Este é um exemplo do primeiro parágrafo centralizado. </a:t>
            </a:r>
          </a:p>
          <a:p>
            <a:pPr marL="0" indent="0">
              <a:buNone/>
            </a:pPr>
            <a:r>
              <a:rPr lang="pt-BR" sz="4200" dirty="0"/>
              <a:t>&lt;P&gt; Este é um exemplo do segundo parágrafo. </a:t>
            </a:r>
          </a:p>
          <a:p>
            <a:endParaRPr lang="pt-BR" sz="4200" dirty="0"/>
          </a:p>
          <a:p>
            <a:pPr marL="0" indent="0">
              <a:buNone/>
            </a:pPr>
            <a:r>
              <a:rPr lang="pt-BR" sz="4200" dirty="0"/>
              <a:t> &lt;/</a:t>
            </a:r>
            <a:r>
              <a:rPr lang="pt-BR" sz="4200" dirty="0" err="1"/>
              <a:t>body</a:t>
            </a:r>
            <a:r>
              <a:rPr lang="pt-BR" sz="4200" dirty="0"/>
              <a:t>&gt; </a:t>
            </a:r>
          </a:p>
          <a:p>
            <a:pPr marL="0" indent="0">
              <a:buNone/>
            </a:pPr>
            <a:r>
              <a:rPr lang="pt-BR" sz="4200" dirty="0"/>
              <a:t>  &lt;/</a:t>
            </a:r>
            <a:r>
              <a:rPr lang="pt-BR" sz="4200" dirty="0" err="1"/>
              <a:t>html</a:t>
            </a:r>
            <a:r>
              <a:rPr lang="pt-BR" sz="4200" dirty="0"/>
              <a:t>&gt;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54721" y="-508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pt-BR"/>
              <a:t>Programação WEB I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895433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f9ea732-a098-4257-a054-af1a10a0bbf7" xsi:nil="true"/>
    <lcf76f155ced4ddcb4097134ff3c332f xmlns="e1b5fafe-7b14-443c-b645-cb12302d210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AA46FA0EB10374EAD13049DDADCE40A" ma:contentTypeVersion="11" ma:contentTypeDescription="Crie um novo documento." ma:contentTypeScope="" ma:versionID="16af94215095106a61f4823059c5d8b6">
  <xsd:schema xmlns:xsd="http://www.w3.org/2001/XMLSchema" xmlns:xs="http://www.w3.org/2001/XMLSchema" xmlns:p="http://schemas.microsoft.com/office/2006/metadata/properties" xmlns:ns2="e1b5fafe-7b14-443c-b645-cb12302d210a" xmlns:ns3="ff9ea732-a098-4257-a054-af1a10a0bbf7" targetNamespace="http://schemas.microsoft.com/office/2006/metadata/properties" ma:root="true" ma:fieldsID="d82166d0c1a7fb1a8777552efe7e1fc0" ns2:_="" ns3:_="">
    <xsd:import namespace="e1b5fafe-7b14-443c-b645-cb12302d210a"/>
    <xsd:import namespace="ff9ea732-a098-4257-a054-af1a10a0bb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fafe-7b14-443c-b645-cb12302d21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9ea732-a098-4257-a054-af1a10a0bbf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c47ee3c-408d-489e-b063-8d4a4101c981}" ma:internalName="TaxCatchAll" ma:showField="CatchAllData" ma:web="ff9ea732-a098-4257-a054-af1a10a0bb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27AB96-82E6-4566-99EA-AAD5BE75D2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6D7E85-E5C2-4536-9CA7-959C70AD81D8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b9da1cff-7651-417f-a12f-237760df7049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eeb660da-6eea-4acf-ba48-d77328c06556"/>
    <ds:schemaRef ds:uri="http://www.w3.org/XML/1998/namespace"/>
    <ds:schemaRef ds:uri="http://purl.org/dc/terms/"/>
    <ds:schemaRef ds:uri="ff9ea732-a098-4257-a054-af1a10a0bbf7"/>
    <ds:schemaRef ds:uri="e1b5fafe-7b14-443c-b645-cb12302d210a"/>
  </ds:schemaRefs>
</ds:datastoreItem>
</file>

<file path=customXml/itemProps3.xml><?xml version="1.0" encoding="utf-8"?>
<ds:datastoreItem xmlns:ds="http://schemas.openxmlformats.org/officeDocument/2006/customXml" ds:itemID="{044EBADE-7E8F-4555-B219-D1920EC1EE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b5fafe-7b14-443c-b645-cb12302d210a"/>
    <ds:schemaRef ds:uri="ff9ea732-a098-4257-a054-af1a10a0bb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197</TotalTime>
  <Words>998</Words>
  <Application>Microsoft Office PowerPoint</Application>
  <PresentationFormat>Widescreen</PresentationFormat>
  <Paragraphs>156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Arial Black</vt:lpstr>
      <vt:lpstr>Trebuchet MS</vt:lpstr>
      <vt:lpstr>Wingdings 3</vt:lpstr>
      <vt:lpstr>Facetado</vt:lpstr>
      <vt:lpstr>Programação para WEB I</vt:lpstr>
      <vt:lpstr>Programação WEB I</vt:lpstr>
      <vt:lpstr>Programação WEB I</vt:lpstr>
      <vt:lpstr>Programação WEB I</vt:lpstr>
      <vt:lpstr>Programação WEB I</vt:lpstr>
      <vt:lpstr>Programação WEB I</vt:lpstr>
      <vt:lpstr>Apresentação do PowerPoint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Programação WEB I</vt:lpstr>
      <vt:lpstr> </vt:lpstr>
      <vt:lpstr>Programação WEB I </vt:lpstr>
      <vt:lpstr> </vt:lpstr>
      <vt:lpstr>Programação WEB I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 – Programação Para Internet</dc:title>
  <dc:creator>CARLOS EDUARDO DE CARVALHO</dc:creator>
  <cp:lastModifiedBy>CARLOS EDUARDO DE CARVALHO</cp:lastModifiedBy>
  <cp:revision>55</cp:revision>
  <dcterms:created xsi:type="dcterms:W3CDTF">2013-08-05T12:51:43Z</dcterms:created>
  <dcterms:modified xsi:type="dcterms:W3CDTF">2025-02-11T12:26:17Z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0x0101005AA46FA0EB10374EAD13049DDADCE40A</vt:lpwstr>
  </property>
</Properties>
</file>