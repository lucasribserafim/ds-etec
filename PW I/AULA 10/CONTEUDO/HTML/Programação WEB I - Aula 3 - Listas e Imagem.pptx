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4"/>
    <p:sldMasterId id="2147483963" r:id="rId5"/>
  </p:sldMasterIdLst>
  <p:sldIdLst>
    <p:sldId id="256" r:id="rId6"/>
    <p:sldId id="275" r:id="rId7"/>
    <p:sldId id="276" r:id="rId8"/>
    <p:sldId id="272" r:id="rId9"/>
    <p:sldId id="273" r:id="rId10"/>
    <p:sldId id="274" r:id="rId11"/>
    <p:sldId id="260" r:id="rId12"/>
    <p:sldId id="262" r:id="rId13"/>
    <p:sldId id="259" r:id="rId14"/>
    <p:sldId id="269" r:id="rId15"/>
    <p:sldId id="264" r:id="rId16"/>
    <p:sldId id="265" r:id="rId17"/>
    <p:sldId id="26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B2C5F-FE1C-639B-1B6A-81FBB46D65CB}" v="8" dt="2024-08-06T17:32:53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87B2C5F-FE1C-639B-1B6A-81FBB46D65CB}"/>
    <pc:docChg chg="delSld">
      <pc:chgData name="" userId="" providerId="" clId="Web-{087B2C5F-FE1C-639B-1B6A-81FBB46D65CB}" dt="2024-08-06T17:31:59.188" v="0"/>
      <pc:docMkLst>
        <pc:docMk/>
      </pc:docMkLst>
      <pc:sldChg chg="del">
        <pc:chgData name="" userId="" providerId="" clId="Web-{087B2C5F-FE1C-639B-1B6A-81FBB46D65CB}" dt="2024-08-06T17:31:59.188" v="0"/>
        <pc:sldMkLst>
          <pc:docMk/>
          <pc:sldMk cId="1924906509" sldId="270"/>
        </pc:sldMkLst>
      </pc:sldChg>
    </pc:docChg>
  </pc:docChgLst>
  <pc:docChgLst>
    <pc:chgData name="CARLOS EDUARDO DE CARVALHO" userId="S::carlos.carvalho47@etec.sp.gov.br::de7fe866-06c6-46bb-afd3-12de8cbfcafc" providerId="AD" clId="Web-{087B2C5F-FE1C-639B-1B6A-81FBB46D65CB}"/>
    <pc:docChg chg="delSld modSld">
      <pc:chgData name="CARLOS EDUARDO DE CARVALHO" userId="S::carlos.carvalho47@etec.sp.gov.br::de7fe866-06c6-46bb-afd3-12de8cbfcafc" providerId="AD" clId="Web-{087B2C5F-FE1C-639B-1B6A-81FBB46D65CB}" dt="2024-08-06T17:32:53.004" v="6" actId="20577"/>
      <pc:docMkLst>
        <pc:docMk/>
      </pc:docMkLst>
      <pc:sldChg chg="del">
        <pc:chgData name="CARLOS EDUARDO DE CARVALHO" userId="S::carlos.carvalho47@etec.sp.gov.br::de7fe866-06c6-46bb-afd3-12de8cbfcafc" providerId="AD" clId="Web-{087B2C5F-FE1C-639B-1B6A-81FBB46D65CB}" dt="2024-08-06T17:32:03.985" v="0"/>
        <pc:sldMkLst>
          <pc:docMk/>
          <pc:sldMk cId="1124416527" sldId="271"/>
        </pc:sldMkLst>
      </pc:sldChg>
      <pc:sldChg chg="modSp">
        <pc:chgData name="CARLOS EDUARDO DE CARVALHO" userId="S::carlos.carvalho47@etec.sp.gov.br::de7fe866-06c6-46bb-afd3-12de8cbfcafc" providerId="AD" clId="Web-{087B2C5F-FE1C-639B-1B6A-81FBB46D65CB}" dt="2024-08-06T17:32:53.004" v="6" actId="20577"/>
        <pc:sldMkLst>
          <pc:docMk/>
          <pc:sldMk cId="3723988147" sldId="273"/>
        </pc:sldMkLst>
        <pc:spChg chg="mod">
          <ac:chgData name="CARLOS EDUARDO DE CARVALHO" userId="S::carlos.carvalho47@etec.sp.gov.br::de7fe866-06c6-46bb-afd3-12de8cbfcafc" providerId="AD" clId="Web-{087B2C5F-FE1C-639B-1B6A-81FBB46D65CB}" dt="2024-08-06T17:32:53.004" v="6" actId="20577"/>
          <ac:spMkLst>
            <pc:docMk/>
            <pc:sldMk cId="3723988147" sldId="273"/>
            <ac:spMk id="2" creationId="{00000000-0000-0000-0000-000000000000}"/>
          </ac:spMkLst>
        </pc:spChg>
      </pc:sldChg>
      <pc:sldChg chg="del">
        <pc:chgData name="CARLOS EDUARDO DE CARVALHO" userId="S::carlos.carvalho47@etec.sp.gov.br::de7fe866-06c6-46bb-afd3-12de8cbfcafc" providerId="AD" clId="Web-{087B2C5F-FE1C-639B-1B6A-81FBB46D65CB}" dt="2024-08-06T17:32:27.455" v="1"/>
        <pc:sldMkLst>
          <pc:docMk/>
          <pc:sldMk cId="3440297205" sldId="277"/>
        </pc:sldMkLst>
      </pc:sldChg>
      <pc:sldChg chg="del">
        <pc:chgData name="CARLOS EDUARDO DE CARVALHO" userId="S::carlos.carvalho47@etec.sp.gov.br::de7fe866-06c6-46bb-afd3-12de8cbfcafc" providerId="AD" clId="Web-{087B2C5F-FE1C-639B-1B6A-81FBB46D65CB}" dt="2024-08-06T17:32:35.550" v="2"/>
        <pc:sldMkLst>
          <pc:docMk/>
          <pc:sldMk cId="4037494765" sldId="278"/>
        </pc:sldMkLst>
      </pc:sldChg>
      <pc:sldChg chg="del">
        <pc:chgData name="CARLOS EDUARDO DE CARVALHO" userId="S::carlos.carvalho47@etec.sp.gov.br::de7fe866-06c6-46bb-afd3-12de8cbfcafc" providerId="AD" clId="Web-{087B2C5F-FE1C-639B-1B6A-81FBB46D65CB}" dt="2024-08-06T17:32:38.706" v="3"/>
        <pc:sldMkLst>
          <pc:docMk/>
          <pc:sldMk cId="822812761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80960" y="142852"/>
            <a:ext cx="11430080" cy="4857784"/>
          </a:xfrm>
          <a:prstGeom prst="roundRect">
            <a:avLst>
              <a:gd name="adj" fmla="val 2353"/>
            </a:avLst>
          </a:prstGeom>
          <a:gradFill>
            <a:gsLst>
              <a:gs pos="0">
                <a:schemeClr val="bg2"/>
              </a:gs>
              <a:gs pos="35000">
                <a:schemeClr val="bg2">
                  <a:lumMod val="90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8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2928935"/>
            <a:ext cx="10668000" cy="1470025"/>
          </a:xfrm>
        </p:spPr>
        <p:txBody>
          <a:bodyPr/>
          <a:lstStyle>
            <a:lvl1pPr algn="ctr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9600" y="5000636"/>
            <a:ext cx="11201440" cy="107157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94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/>
          <p:cNvSpPr/>
          <p:nvPr/>
        </p:nvSpPr>
        <p:spPr>
          <a:xfrm>
            <a:off x="609600" y="274638"/>
            <a:ext cx="109728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3467" y="274638"/>
            <a:ext cx="10248933" cy="914400"/>
          </a:xfrm>
        </p:spPr>
        <p:txBody>
          <a:bodyPr>
            <a:noAutofit/>
          </a:bodyPr>
          <a:lstStyle>
            <a:lvl1pPr marL="742950" indent="-742950" algn="l">
              <a:buFont typeface="+mj-lt"/>
              <a:buNone/>
              <a:defRPr lang="pt-BR" sz="28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  <p:cxnSp>
        <p:nvCxnSpPr>
          <p:cNvPr id="12" name="Straight Connector 16"/>
          <p:cNvCxnSpPr/>
          <p:nvPr/>
        </p:nvCxnSpPr>
        <p:spPr>
          <a:xfrm rot="5400000">
            <a:off x="875208" y="730780"/>
            <a:ext cx="9144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9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1" y="274638"/>
            <a:ext cx="685729" cy="914400"/>
          </a:xfrm>
        </p:spPr>
        <p:txBody>
          <a:bodyPr anchor="ctr"/>
          <a:lstStyle>
            <a:lvl1pPr>
              <a:buNone/>
              <a:defRPr lang="pt-BR" sz="5000" kern="1200" dirty="0" smtClean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671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35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4" name="Rectangle 5"/>
          <p:cNvSpPr/>
          <p:nvPr/>
        </p:nvSpPr>
        <p:spPr>
          <a:xfrm>
            <a:off x="512619" y="1524000"/>
            <a:ext cx="36576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6" name="Straight Connector 9"/>
          <p:cNvCxnSpPr/>
          <p:nvPr/>
        </p:nvCxnSpPr>
        <p:spPr>
          <a:xfrm rot="5400000">
            <a:off x="108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0"/>
          <p:cNvSpPr/>
          <p:nvPr/>
        </p:nvSpPr>
        <p:spPr>
          <a:xfrm>
            <a:off x="4318000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9" name="Straight Connector 12"/>
          <p:cNvCxnSpPr/>
          <p:nvPr/>
        </p:nvCxnSpPr>
        <p:spPr>
          <a:xfrm rot="5400000">
            <a:off x="4890559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/>
          <p:nvPr/>
        </p:nvSpPr>
        <p:spPr>
          <a:xfrm>
            <a:off x="8132619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42" name="Straight Connector 16"/>
          <p:cNvCxnSpPr/>
          <p:nvPr/>
        </p:nvCxnSpPr>
        <p:spPr>
          <a:xfrm rot="5400000">
            <a:off x="870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spaço Reservado para Texto 54"/>
          <p:cNvSpPr>
            <a:spLocks noGrp="1"/>
          </p:cNvSpPr>
          <p:nvPr>
            <p:ph type="body" sz="quarter" idx="14" hasCustomPrompt="1"/>
          </p:nvPr>
        </p:nvSpPr>
        <p:spPr>
          <a:xfrm>
            <a:off x="1407950" y="1533532"/>
            <a:ext cx="2762269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1</a:t>
            </a:r>
          </a:p>
        </p:txBody>
      </p:sp>
      <p:sp>
        <p:nvSpPr>
          <p:cNvPr id="56" name="Espaço Reservado para Texto 54"/>
          <p:cNvSpPr>
            <a:spLocks noGrp="1"/>
          </p:cNvSpPr>
          <p:nvPr>
            <p:ph type="body" sz="quarter" idx="15" hasCustomPrompt="1"/>
          </p:nvPr>
        </p:nvSpPr>
        <p:spPr>
          <a:xfrm>
            <a:off x="5234518" y="1524000"/>
            <a:ext cx="2671245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2</a:t>
            </a:r>
          </a:p>
        </p:txBody>
      </p:sp>
      <p:sp>
        <p:nvSpPr>
          <p:cNvPr id="57" name="Espaço Reservado para Texto 54"/>
          <p:cNvSpPr>
            <a:spLocks noGrp="1"/>
          </p:cNvSpPr>
          <p:nvPr>
            <p:ph type="body" sz="quarter" idx="16" hasCustomPrompt="1"/>
          </p:nvPr>
        </p:nvSpPr>
        <p:spPr>
          <a:xfrm>
            <a:off x="9049136" y="1524000"/>
            <a:ext cx="2666653" cy="904868"/>
          </a:xfrm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3</a:t>
            </a:r>
          </a:p>
        </p:txBody>
      </p:sp>
      <p:sp>
        <p:nvSpPr>
          <p:cNvPr id="59" name="Espaço Reservado para Texto 58"/>
          <p:cNvSpPr>
            <a:spLocks noGrp="1"/>
          </p:cNvSpPr>
          <p:nvPr>
            <p:ph type="body" sz="quarter" idx="17"/>
          </p:nvPr>
        </p:nvSpPr>
        <p:spPr>
          <a:xfrm>
            <a:off x="512619" y="2428868"/>
            <a:ext cx="3657600" cy="388800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0" name="Espaço Reservado para Texto 58"/>
          <p:cNvSpPr>
            <a:spLocks noGrp="1"/>
          </p:cNvSpPr>
          <p:nvPr>
            <p:ph type="body" sz="quarter" idx="18"/>
          </p:nvPr>
        </p:nvSpPr>
        <p:spPr>
          <a:xfrm>
            <a:off x="4318000" y="2428868"/>
            <a:ext cx="3587763" cy="392909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1" name="Espaço Reservado para Texto 58"/>
          <p:cNvSpPr>
            <a:spLocks noGrp="1"/>
          </p:cNvSpPr>
          <p:nvPr>
            <p:ph type="body" sz="quarter" idx="19"/>
          </p:nvPr>
        </p:nvSpPr>
        <p:spPr>
          <a:xfrm>
            <a:off x="8123435" y="2438400"/>
            <a:ext cx="3592355" cy="3835374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3" name="Espaço Reservado para Texto 62"/>
          <p:cNvSpPr>
            <a:spLocks noGrp="1"/>
          </p:cNvSpPr>
          <p:nvPr>
            <p:ph type="body" sz="quarter" idx="20" hasCustomPrompt="1"/>
          </p:nvPr>
        </p:nvSpPr>
        <p:spPr>
          <a:xfrm>
            <a:off x="512619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4" name="Espaço Reservado para Texto 62"/>
          <p:cNvSpPr>
            <a:spLocks noGrp="1"/>
          </p:cNvSpPr>
          <p:nvPr>
            <p:ph type="body" sz="quarter" idx="21" hasCustomPrompt="1"/>
          </p:nvPr>
        </p:nvSpPr>
        <p:spPr>
          <a:xfrm>
            <a:off x="4339187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5" name="Espaço Reservado para Texto 62"/>
          <p:cNvSpPr>
            <a:spLocks noGrp="1"/>
          </p:cNvSpPr>
          <p:nvPr>
            <p:ph type="body" sz="quarter" idx="22" hasCustomPrompt="1"/>
          </p:nvPr>
        </p:nvSpPr>
        <p:spPr>
          <a:xfrm>
            <a:off x="8123435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680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09083" y="2143116"/>
            <a:ext cx="5386917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Rectangle 5"/>
          <p:cNvSpPr/>
          <p:nvPr/>
        </p:nvSpPr>
        <p:spPr>
          <a:xfrm>
            <a:off x="709083" y="1417639"/>
            <a:ext cx="5386917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609568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1</a:t>
            </a:r>
          </a:p>
        </p:txBody>
      </p:sp>
      <p:cxnSp>
        <p:nvCxnSpPr>
          <p:cNvPr id="12" name="Straight Connector 9"/>
          <p:cNvCxnSpPr/>
          <p:nvPr/>
        </p:nvCxnSpPr>
        <p:spPr>
          <a:xfrm rot="5400000">
            <a:off x="1086876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083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Rectangle 5"/>
          <p:cNvSpPr/>
          <p:nvPr/>
        </p:nvSpPr>
        <p:spPr>
          <a:xfrm>
            <a:off x="6193368" y="1417639"/>
            <a:ext cx="5389033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6096000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2</a:t>
            </a:r>
          </a:p>
        </p:txBody>
      </p:sp>
      <p:cxnSp>
        <p:nvCxnSpPr>
          <p:cNvPr id="16" name="Straight Connector 9"/>
          <p:cNvCxnSpPr/>
          <p:nvPr/>
        </p:nvCxnSpPr>
        <p:spPr>
          <a:xfrm rot="5400000">
            <a:off x="6611415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2"/>
          <p:cNvSpPr>
            <a:spLocks noGrp="1"/>
          </p:cNvSpPr>
          <p:nvPr>
            <p:ph type="body" idx="13"/>
          </p:nvPr>
        </p:nvSpPr>
        <p:spPr>
          <a:xfrm>
            <a:off x="695325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5596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485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380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 anchor="ctr"/>
          <a:lstStyle>
            <a:lvl1pPr algn="l">
              <a:defRPr sz="2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88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05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69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46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83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991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8685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6911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442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64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561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752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329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611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985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4242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277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6198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3187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6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3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06/08/2024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99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Programação WEB I</a:t>
            </a:r>
            <a:endParaRPr lang="pt-BR" sz="4000" dirty="0">
              <a:latin typeface="Arial Black" panose="020B0A040201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3</a:t>
            </a:r>
          </a:p>
        </p:txBody>
      </p:sp>
    </p:spTree>
    <p:extLst>
      <p:ext uri="{BB962C8B-B14F-4D97-AF65-F5344CB8AC3E}">
        <p14:creationId xmlns:p14="http://schemas.microsoft.com/office/powerpoint/2010/main" val="318143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4572" y="1825625"/>
            <a:ext cx="9523828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b="1" dirty="0"/>
              <a:t>Linha Horizontal</a:t>
            </a:r>
          </a:p>
          <a:p>
            <a:pPr marL="0" indent="0">
              <a:buNone/>
            </a:pPr>
            <a:r>
              <a:rPr lang="pt-BR" sz="2400" b="1" dirty="0"/>
              <a:t>&lt;body&gt;</a:t>
            </a:r>
          </a:p>
          <a:p>
            <a:pPr marL="0" indent="0">
              <a:buNone/>
            </a:pPr>
            <a:r>
              <a:rPr lang="pt-BR" sz="2400" b="1" dirty="0"/>
              <a:t>Este é o texto superior. </a:t>
            </a:r>
          </a:p>
          <a:p>
            <a:pPr marL="0" indent="0">
              <a:buNone/>
            </a:pPr>
            <a:r>
              <a:rPr lang="pt-BR" sz="2400" b="1" dirty="0"/>
              <a:t>&lt;hr&gt; Este é o texto inferior.</a:t>
            </a:r>
          </a:p>
          <a:p>
            <a:pPr marL="0" indent="0">
              <a:buNone/>
            </a:pPr>
            <a:r>
              <a:rPr lang="pt-BR" sz="2400" b="1" dirty="0"/>
              <a:t> &lt;/body&gt; </a:t>
            </a:r>
          </a:p>
          <a:p>
            <a:pPr marL="0" indent="0">
              <a:buNone/>
            </a:pPr>
            <a:r>
              <a:rPr lang="pt-BR" sz="2400" b="1" dirty="0"/>
              <a:t>HR A tag HR desenha uma linha horizontal na tela.</a:t>
            </a:r>
          </a:p>
          <a:p>
            <a:pPr marL="0" indent="0">
              <a:buNone/>
            </a:pPr>
            <a:r>
              <a:rPr lang="pt-BR" sz="2400" b="1" dirty="0"/>
              <a:t> Os seguintes parâmetros podem ser usados: width – largura da linha (expressa em pixels ou porcentagem). size – altura da linha. color – cor da linha. </a:t>
            </a:r>
          </a:p>
        </p:txBody>
      </p:sp>
    </p:spTree>
    <p:extLst>
      <p:ext uri="{BB962C8B-B14F-4D97-AF65-F5344CB8AC3E}">
        <p14:creationId xmlns:p14="http://schemas.microsoft.com/office/powerpoint/2010/main" val="361431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3335" y="1825625"/>
            <a:ext cx="9775065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                                        Espaços em HTML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Inserir espaços entre textos e figuras HTML é utilizada o seguinte comando de </a:t>
            </a:r>
            <a:r>
              <a:rPr lang="pt-BR" sz="2400" b="1" dirty="0" err="1"/>
              <a:t>caracter</a:t>
            </a:r>
            <a:r>
              <a:rPr lang="pt-BR" sz="2400" b="1" dirty="0"/>
              <a:t>:</a:t>
            </a:r>
          </a:p>
          <a:p>
            <a:pPr marL="0" indent="0">
              <a:buNone/>
            </a:pPr>
            <a:r>
              <a:rPr lang="pt-BR" sz="2400" b="1" dirty="0"/>
              <a:t>&amp;</a:t>
            </a:r>
            <a:r>
              <a:rPr lang="pt-BR" sz="2400" b="1" dirty="0" err="1"/>
              <a:t>nbsp</a:t>
            </a:r>
            <a:r>
              <a:rPr lang="pt-BR" sz="2400" b="1" dirty="0"/>
              <a:t> ; 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                  Bandeira do Brasil 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sz="24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30" y="4439456"/>
            <a:ext cx="120298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2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650" y="1545464"/>
            <a:ext cx="9220200" cy="50871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200" b="1" dirty="0"/>
              <a:t>Cores</a:t>
            </a:r>
            <a:r>
              <a:rPr lang="pt-BR" b="1" dirty="0"/>
              <a:t> </a:t>
            </a:r>
          </a:p>
          <a:p>
            <a:pPr marL="0" indent="0">
              <a:buNone/>
            </a:pPr>
            <a:r>
              <a:rPr lang="pt-BR" sz="2800" b="1" dirty="0"/>
              <a:t>As cores, em HTML, são expressas nas formas de nome pré-existente e, principalmente como representações hexadecimais dos níveis de cores RGB. São 16 os nomes existentes de cores: aqua, black, blue, fuchsia, gray, green, lime, maroon, navy, olive, purple, red, silver, teal, white e yellow.  </a:t>
            </a:r>
          </a:p>
          <a:p>
            <a:pPr marL="0" indent="0">
              <a:buNone/>
            </a:pPr>
            <a:r>
              <a:rPr lang="pt-BR" sz="2800" b="1" dirty="0"/>
              <a:t>Para todas as outras cores use o padrão hexadecimal, que está na forma #RRGGBB. O primeiro caracter é um #, os dois seguintes são a representação hexa do tom de vermelho, os dois do meio o hexa do verde e os dois últimos o hexa do tom de azul. </a:t>
            </a:r>
          </a:p>
        </p:txBody>
      </p:sp>
    </p:spTree>
    <p:extLst>
      <p:ext uri="{BB962C8B-B14F-4D97-AF65-F5344CB8AC3E}">
        <p14:creationId xmlns:p14="http://schemas.microsoft.com/office/powerpoint/2010/main" val="262322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latin typeface="Arial Black"/>
              </a:rPr>
              <a:t>Programação</a:t>
            </a:r>
            <a:r>
              <a:rPr lang="pt-BR" dirty="0">
                <a:latin typeface="Arial Black"/>
              </a:rPr>
              <a:t>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5083" y="1593805"/>
            <a:ext cx="9360685" cy="46266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800" b="1" dirty="0"/>
              <a:t>Listas </a:t>
            </a:r>
          </a:p>
          <a:p>
            <a:pPr marL="0" indent="0">
              <a:buNone/>
            </a:pPr>
            <a:r>
              <a:rPr lang="pt-BR" sz="2800" b="1" dirty="0"/>
              <a:t>Em HTML é possível usar dois tipos de listagens: ordenadas e não- ordenadas. </a:t>
            </a:r>
          </a:p>
          <a:p>
            <a:r>
              <a:rPr lang="pt-BR" sz="2800" b="1" dirty="0"/>
              <a:t>OL Declara uma listagem ordenada (enumerada). Dever marcar o início e o fim da listagem e contar os itens listados dentro da sua marcação. </a:t>
            </a:r>
          </a:p>
          <a:p>
            <a:pPr marL="0" indent="0">
              <a:buNone/>
            </a:pPr>
            <a:r>
              <a:rPr lang="pt-BR" sz="2800" b="1" dirty="0"/>
              <a:t>Aceita os atributos: TYPE (A, a, 1, I), START, COMPACT. LI Declara um item de uma listagem.</a:t>
            </a:r>
          </a:p>
          <a:p>
            <a:pPr marL="0" indent="0">
              <a:buNone/>
            </a:pPr>
            <a:r>
              <a:rPr lang="pt-BR" sz="2800" b="1" dirty="0"/>
              <a:t>Deve marcar o início e o fim do item, apesar dos navegadores aceitarem apenas a marcação inicial.</a:t>
            </a:r>
          </a:p>
          <a:p>
            <a:pPr marL="0" indent="0">
              <a:buNone/>
            </a:pPr>
            <a:r>
              <a:rPr lang="pt-BR" sz="2800" b="1" dirty="0"/>
              <a:t> Aceita os atributos: TYPE, VALUE. </a:t>
            </a:r>
          </a:p>
        </p:txBody>
      </p:sp>
    </p:spTree>
    <p:extLst>
      <p:ext uri="{BB962C8B-B14F-4D97-AF65-F5344CB8AC3E}">
        <p14:creationId xmlns:p14="http://schemas.microsoft.com/office/powerpoint/2010/main" val="372398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4712" y="1580926"/>
            <a:ext cx="9220200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Exemplo 1 – Lista ordenada </a:t>
            </a:r>
          </a:p>
          <a:p>
            <a:pPr marL="0" indent="0">
              <a:buNone/>
            </a:pPr>
            <a:r>
              <a:rPr lang="it-IT" b="1" dirty="0"/>
              <a:t>&lt;ol&gt;</a:t>
            </a:r>
          </a:p>
          <a:p>
            <a:pPr marL="0" indent="0">
              <a:buNone/>
            </a:pPr>
            <a:r>
              <a:rPr lang="it-IT" b="1" dirty="0"/>
              <a:t> &lt;li&gt;Item 1&lt;/li&gt;</a:t>
            </a:r>
          </a:p>
          <a:p>
            <a:pPr marL="0" indent="0">
              <a:buNone/>
            </a:pPr>
            <a:r>
              <a:rPr lang="it-IT" b="1" dirty="0"/>
              <a:t> &lt;li&gt;Item 2&lt;/li&gt; </a:t>
            </a:r>
          </a:p>
          <a:p>
            <a:pPr marL="0" indent="0">
              <a:buNone/>
            </a:pPr>
            <a:r>
              <a:rPr lang="it-IT" b="1" dirty="0"/>
              <a:t>&lt;li&gt;Item 3&lt;/li&gt; </a:t>
            </a:r>
          </a:p>
          <a:p>
            <a:pPr marL="0" indent="0">
              <a:buNone/>
            </a:pPr>
            <a:r>
              <a:rPr lang="it-IT" b="1" dirty="0"/>
              <a:t>&lt;/ol&gt; 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4121239" y="2382592"/>
            <a:ext cx="2125015" cy="22538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14423" y="2730321"/>
            <a:ext cx="4018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1.Item 1</a:t>
            </a:r>
          </a:p>
          <a:p>
            <a:endParaRPr lang="pt-BR" dirty="0"/>
          </a:p>
          <a:p>
            <a:r>
              <a:rPr lang="pt-BR" dirty="0"/>
              <a:t> 2.Item 2</a:t>
            </a:r>
          </a:p>
          <a:p>
            <a:endParaRPr lang="pt-BR" dirty="0"/>
          </a:p>
          <a:p>
            <a:r>
              <a:rPr lang="pt-BR" dirty="0"/>
              <a:t> 3.Item 3</a:t>
            </a:r>
          </a:p>
        </p:txBody>
      </p:sp>
    </p:spTree>
    <p:extLst>
      <p:ext uri="{BB962C8B-B14F-4D97-AF65-F5344CB8AC3E}">
        <p14:creationId xmlns:p14="http://schemas.microsoft.com/office/powerpoint/2010/main" val="32469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7578" y="965915"/>
            <a:ext cx="11031828" cy="55636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Exemplo 2 – Lista ordenada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it-IT" dirty="0"/>
              <a:t>&lt;ol type="I"&gt;       </a:t>
            </a:r>
          </a:p>
          <a:p>
            <a:pPr marL="0" indent="0">
              <a:buNone/>
            </a:pPr>
            <a:r>
              <a:rPr lang="it-IT" dirty="0"/>
              <a:t> &lt;li&gt;Introdução ao HTML&lt;/li&gt;        </a:t>
            </a:r>
          </a:p>
          <a:p>
            <a:pPr marL="0" indent="0">
              <a:buNone/>
            </a:pPr>
            <a:r>
              <a:rPr lang="it-IT" dirty="0"/>
              <a:t>&lt;li&gt;Formatação&lt;/li&gt;      </a:t>
            </a:r>
          </a:p>
          <a:p>
            <a:pPr marL="0" indent="0">
              <a:buNone/>
            </a:pPr>
            <a:r>
              <a:rPr lang="it-IT" dirty="0"/>
              <a:t> &lt;ol type="A"&gt;             </a:t>
            </a:r>
          </a:p>
          <a:p>
            <a:pPr marL="0" indent="0">
              <a:buNone/>
            </a:pPr>
            <a:r>
              <a:rPr lang="it-IT" dirty="0"/>
              <a:t>&lt;li&gt;Textos             </a:t>
            </a:r>
          </a:p>
          <a:p>
            <a:pPr marL="0" indent="0">
              <a:buNone/>
            </a:pPr>
            <a:r>
              <a:rPr lang="it-IT" dirty="0"/>
              <a:t>&lt;ol type="a"&gt;                  </a:t>
            </a:r>
          </a:p>
          <a:p>
            <a:pPr marL="0" indent="0">
              <a:buNone/>
            </a:pPr>
            <a:r>
              <a:rPr lang="it-IT" dirty="0"/>
              <a:t> &lt;li&gt;B&lt;/li&gt;                   </a:t>
            </a:r>
          </a:p>
          <a:p>
            <a:pPr marL="0" indent="0">
              <a:buNone/>
            </a:pPr>
            <a:r>
              <a:rPr lang="it-IT" dirty="0"/>
              <a:t>&lt;li&gt;FONT&lt;/li&gt;            </a:t>
            </a:r>
          </a:p>
          <a:p>
            <a:pPr marL="0" indent="0">
              <a:buNone/>
            </a:pPr>
            <a:r>
              <a:rPr lang="it-IT" dirty="0"/>
              <a:t> &lt;/ol&gt;</a:t>
            </a:r>
          </a:p>
          <a:p>
            <a:pPr marL="0" indent="0">
              <a:buNone/>
            </a:pPr>
            <a:r>
              <a:rPr lang="it-IT" dirty="0"/>
              <a:t> &lt;/ol&gt;       </a:t>
            </a:r>
          </a:p>
          <a:p>
            <a:pPr marL="0" indent="0">
              <a:buNone/>
            </a:pPr>
            <a:r>
              <a:rPr lang="it-IT" dirty="0"/>
              <a:t> &lt;li&gt;Listagens&lt;/li&gt;  </a:t>
            </a:r>
          </a:p>
          <a:p>
            <a:pPr marL="0" indent="0">
              <a:buNone/>
            </a:pPr>
            <a:r>
              <a:rPr lang="it-IT" dirty="0"/>
              <a:t> &lt;ol type="A"&gt;          </a:t>
            </a:r>
          </a:p>
          <a:p>
            <a:pPr marL="0" indent="0">
              <a:buNone/>
            </a:pPr>
            <a:r>
              <a:rPr lang="it-IT" dirty="0"/>
              <a:t>   &lt;li&gt;OL            </a:t>
            </a:r>
          </a:p>
          <a:p>
            <a:pPr marL="0" indent="0">
              <a:buNone/>
            </a:pPr>
            <a:r>
              <a:rPr lang="it-IT" dirty="0"/>
              <a:t>          &lt;li&gt;UL       </a:t>
            </a:r>
          </a:p>
          <a:p>
            <a:pPr marL="0" indent="0">
              <a:buNone/>
            </a:pPr>
            <a:r>
              <a:rPr lang="it-IT" dirty="0"/>
              <a:t>        &lt;/ol&gt;</a:t>
            </a:r>
          </a:p>
          <a:p>
            <a:pPr marL="0" indent="0">
              <a:buNone/>
            </a:pPr>
            <a:r>
              <a:rPr lang="it-IT" dirty="0"/>
              <a:t>       &lt;/ol&gt;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992451" y="1532586"/>
            <a:ext cx="5383369" cy="4778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4159876" y="1867437"/>
            <a:ext cx="49454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I. Introdução ao HTML</a:t>
            </a:r>
          </a:p>
          <a:p>
            <a:r>
              <a:rPr lang="pt-BR" dirty="0"/>
              <a:t> II.Formatação </a:t>
            </a:r>
          </a:p>
          <a:p>
            <a:r>
              <a:rPr lang="pt-BR" dirty="0"/>
              <a:t>                       A.Textos</a:t>
            </a:r>
          </a:p>
          <a:p>
            <a:r>
              <a:rPr lang="pt-BR" dirty="0"/>
              <a:t>                       a. B</a:t>
            </a:r>
          </a:p>
          <a:p>
            <a:r>
              <a:rPr lang="pt-BR" dirty="0"/>
              <a:t>                       b.Font</a:t>
            </a:r>
          </a:p>
          <a:p>
            <a:r>
              <a:rPr lang="pt-BR" dirty="0"/>
              <a:t>III. Listagens</a:t>
            </a:r>
          </a:p>
          <a:p>
            <a:r>
              <a:rPr lang="pt-BR" dirty="0"/>
              <a:t>                        A.OL</a:t>
            </a:r>
          </a:p>
          <a:p>
            <a:r>
              <a:rPr lang="pt-BR" dirty="0"/>
              <a:t>                        B.UL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387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825625"/>
            <a:ext cx="8937721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Lista não ordenada</a:t>
            </a:r>
          </a:p>
          <a:p>
            <a:r>
              <a:rPr lang="pt-BR" dirty="0"/>
              <a:t>UL Declara uma listagem não-ordenada (com figuras) . </a:t>
            </a:r>
          </a:p>
          <a:p>
            <a:pPr marL="0" indent="0">
              <a:buNone/>
            </a:pPr>
            <a:r>
              <a:rPr lang="pt-BR" dirty="0"/>
              <a:t>Dever marcar o início e o fim da listagem e contar os itens listados dentro da sua marcação. </a:t>
            </a:r>
          </a:p>
          <a:p>
            <a:pPr marL="0" indent="0">
              <a:buNone/>
            </a:pPr>
            <a:r>
              <a:rPr lang="pt-BR" dirty="0"/>
              <a:t>Aceita os atributos: TYPE (SQUARE, CIRCLE, DISC), COMPACT.</a:t>
            </a:r>
          </a:p>
          <a:p>
            <a:r>
              <a:rPr lang="pt-BR" dirty="0"/>
              <a:t> LI Declara um item de uma listagem.</a:t>
            </a:r>
          </a:p>
          <a:p>
            <a:pPr marL="0" indent="0">
              <a:buNone/>
            </a:pPr>
            <a:r>
              <a:rPr lang="pt-BR" dirty="0"/>
              <a:t> Deve marcar o início e o fim do item, apesar dos navegadores aceitarem apenas a marcação inicial. Aceita o atributo: TYPE. </a:t>
            </a:r>
          </a:p>
        </p:txBody>
      </p:sp>
    </p:spTree>
    <p:extLst>
      <p:ext uri="{BB962C8B-B14F-4D97-AF65-F5344CB8AC3E}">
        <p14:creationId xmlns:p14="http://schemas.microsoft.com/office/powerpoint/2010/main" val="147080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669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Exemplo 1 – </a:t>
            </a:r>
          </a:p>
          <a:p>
            <a:pPr marL="0" indent="0">
              <a:buNone/>
            </a:pPr>
            <a:r>
              <a:rPr lang="it-IT" dirty="0"/>
              <a:t>Lista não – ordenada</a:t>
            </a:r>
          </a:p>
          <a:p>
            <a:pPr marL="0" indent="0">
              <a:buNone/>
            </a:pPr>
            <a:r>
              <a:rPr lang="it-IT" dirty="0"/>
              <a:t> &lt;ul&gt;</a:t>
            </a:r>
          </a:p>
          <a:p>
            <a:pPr marL="0" indent="0">
              <a:buNone/>
            </a:pPr>
            <a:r>
              <a:rPr lang="it-IT" dirty="0"/>
              <a:t> &lt;li&gt;Item 1&lt;/li&gt; </a:t>
            </a:r>
          </a:p>
          <a:p>
            <a:pPr marL="0" indent="0">
              <a:buNone/>
            </a:pPr>
            <a:r>
              <a:rPr lang="it-IT" dirty="0"/>
              <a:t>&lt;li&gt;Item 2&lt;/li&gt;</a:t>
            </a:r>
          </a:p>
          <a:p>
            <a:pPr marL="0" indent="0">
              <a:buNone/>
            </a:pPr>
            <a:r>
              <a:rPr lang="it-IT" dirty="0"/>
              <a:t> &lt;li&gt;Item 3&lt;/li&gt;</a:t>
            </a:r>
          </a:p>
          <a:p>
            <a:pPr marL="0" indent="0">
              <a:buNone/>
            </a:pPr>
            <a:r>
              <a:rPr lang="it-IT" dirty="0"/>
              <a:t> &lt;/ul&gt;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610100" y="2514600"/>
            <a:ext cx="2514600" cy="2667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775200" y="28448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 Item 1</a:t>
            </a:r>
          </a:p>
          <a:p>
            <a:r>
              <a:rPr lang="pt-BR" dirty="0"/>
              <a:t>. Item 2</a:t>
            </a:r>
          </a:p>
          <a:p>
            <a:r>
              <a:rPr lang="pt-BR" dirty="0"/>
              <a:t>. Item 3</a:t>
            </a:r>
          </a:p>
        </p:txBody>
      </p:sp>
    </p:spTree>
    <p:extLst>
      <p:ext uri="{BB962C8B-B14F-4D97-AF65-F5344CB8AC3E}">
        <p14:creationId xmlns:p14="http://schemas.microsoft.com/office/powerpoint/2010/main" val="187640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6"/>
            <a:ext cx="10515600" cy="51985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 Exemplo 2 – Lista não – ordenada</a:t>
            </a:r>
          </a:p>
          <a:p>
            <a:pPr marL="0" indent="0">
              <a:buNone/>
            </a:pPr>
            <a:r>
              <a:rPr lang="it-IT" dirty="0"/>
              <a:t>&lt;ul type="disc"&gt;    </a:t>
            </a:r>
          </a:p>
          <a:p>
            <a:pPr marL="0" indent="0">
              <a:buNone/>
            </a:pPr>
            <a:r>
              <a:rPr lang="it-IT" dirty="0"/>
              <a:t>&lt;li&gt;Introdução ao HTML&lt;/li&gt;</a:t>
            </a:r>
          </a:p>
          <a:p>
            <a:pPr marL="0" indent="0">
              <a:buNone/>
            </a:pPr>
            <a:r>
              <a:rPr lang="it-IT" dirty="0"/>
              <a:t>&lt;li&gt;Formatação&lt;/li&gt;</a:t>
            </a:r>
          </a:p>
          <a:p>
            <a:pPr marL="0" indent="0">
              <a:buNone/>
            </a:pPr>
            <a:r>
              <a:rPr lang="it-IT" dirty="0"/>
              <a:t> &lt;ul type="square"&gt;    </a:t>
            </a:r>
          </a:p>
          <a:p>
            <a:pPr marL="0" indent="0">
              <a:buNone/>
            </a:pPr>
            <a:r>
              <a:rPr lang="it-IT" dirty="0"/>
              <a:t>  &lt;li&gt;Textos    </a:t>
            </a:r>
          </a:p>
          <a:p>
            <a:pPr marL="0" indent="0">
              <a:buNone/>
            </a:pPr>
            <a:r>
              <a:rPr lang="it-IT" dirty="0"/>
              <a:t>  &lt;ul type="circle"&gt;          </a:t>
            </a:r>
          </a:p>
          <a:p>
            <a:pPr marL="0" indent="0">
              <a:buNone/>
            </a:pPr>
            <a:r>
              <a:rPr lang="it-IT" dirty="0"/>
              <a:t>&lt;li&gt;B&lt;/li&gt; </a:t>
            </a:r>
          </a:p>
          <a:p>
            <a:pPr marL="0" indent="0">
              <a:buNone/>
            </a:pPr>
            <a:r>
              <a:rPr lang="it-IT" dirty="0"/>
              <a:t> &lt;li&gt;FONT&lt;/li&gt;   </a:t>
            </a:r>
          </a:p>
          <a:p>
            <a:pPr marL="0" indent="0">
              <a:buNone/>
            </a:pPr>
            <a:r>
              <a:rPr lang="it-IT" dirty="0"/>
              <a:t> &lt;/ul&gt; </a:t>
            </a:r>
          </a:p>
          <a:p>
            <a:pPr marL="0" indent="0">
              <a:buNone/>
            </a:pPr>
            <a:r>
              <a:rPr lang="it-IT" dirty="0"/>
              <a:t> &lt;/ul&gt;   </a:t>
            </a:r>
          </a:p>
          <a:p>
            <a:pPr marL="0" indent="0">
              <a:buNone/>
            </a:pPr>
            <a:r>
              <a:rPr lang="it-IT" dirty="0"/>
              <a:t> &lt;li&gt;Listagens&lt;/li&gt; </a:t>
            </a:r>
          </a:p>
          <a:p>
            <a:pPr marL="0" indent="0">
              <a:buNone/>
            </a:pPr>
            <a:r>
              <a:rPr lang="it-IT" dirty="0"/>
              <a:t> &lt;ul type="square</a:t>
            </a:r>
          </a:p>
          <a:p>
            <a:pPr marL="0" indent="0">
              <a:buNone/>
            </a:pPr>
            <a:r>
              <a:rPr lang="it-IT" dirty="0"/>
              <a:t>&lt;li&gt;OL  </a:t>
            </a:r>
          </a:p>
          <a:p>
            <a:pPr marL="0" indent="0">
              <a:buNone/>
            </a:pPr>
            <a:r>
              <a:rPr lang="it-IT" dirty="0"/>
              <a:t>  &lt;li&gt;UL</a:t>
            </a:r>
          </a:p>
          <a:p>
            <a:pPr marL="0" indent="0">
              <a:buNone/>
            </a:pPr>
            <a:r>
              <a:rPr lang="it-IT" dirty="0"/>
              <a:t>  &lt;/ul&gt;</a:t>
            </a:r>
          </a:p>
          <a:p>
            <a:pPr marL="0" indent="0">
              <a:buNone/>
            </a:pPr>
            <a:r>
              <a:rPr lang="it-IT" dirty="0"/>
              <a:t> &lt;/ul&gt;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000500" y="2184400"/>
            <a:ext cx="3213100" cy="381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152900" y="2514600"/>
            <a:ext cx="284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Introdução ao HTML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Formatação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dirty="0"/>
              <a:t>Textos</a:t>
            </a:r>
          </a:p>
          <a:p>
            <a:pPr marL="285750" indent="-285750" algn="ctr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t-BR" dirty="0"/>
              <a:t>B </a:t>
            </a:r>
          </a:p>
          <a:p>
            <a:pPr marL="285750" indent="-285750" algn="ctr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t-BR" dirty="0"/>
              <a:t>FONT              </a:t>
            </a:r>
          </a:p>
          <a:p>
            <a:pPr algn="ctr">
              <a:buClr>
                <a:schemeClr val="tx1"/>
              </a:buClr>
            </a:pPr>
            <a:endParaRPr lang="pt-BR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Listagens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/>
              <a:t>    OL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/>
              <a:t>    UL</a:t>
            </a:r>
          </a:p>
        </p:txBody>
      </p:sp>
    </p:spTree>
    <p:extLst>
      <p:ext uri="{BB962C8B-B14F-4D97-AF65-F5344CB8AC3E}">
        <p14:creationId xmlns:p14="http://schemas.microsoft.com/office/powerpoint/2010/main" val="177025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29520"/>
            <a:ext cx="8073980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456207"/>
            <a:ext cx="10515600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Imagem </a:t>
            </a:r>
          </a:p>
          <a:p>
            <a:pPr marL="0" indent="0">
              <a:buNone/>
            </a:pPr>
            <a:r>
              <a:rPr lang="pt-BR" dirty="0"/>
              <a:t>IMG A referência à imagem é feita por meio da tag IMG. </a:t>
            </a:r>
          </a:p>
          <a:p>
            <a:pPr marL="0" indent="0">
              <a:buNone/>
            </a:pPr>
            <a:r>
              <a:rPr lang="pt-BR" dirty="0"/>
              <a:t>Esta tag aceita os seguintes parâmetros: </a:t>
            </a:r>
          </a:p>
          <a:p>
            <a:pPr marL="0" indent="0">
              <a:buNone/>
            </a:pPr>
            <a:r>
              <a:rPr lang="pt-BR" dirty="0"/>
              <a:t>SRC – Caminho da imagem - URL absoluta ou relativa (obrigatório). </a:t>
            </a:r>
          </a:p>
          <a:p>
            <a:pPr marL="0" indent="0">
              <a:buNone/>
            </a:pPr>
            <a:r>
              <a:rPr lang="pt-BR" dirty="0"/>
              <a:t>ALT – Mensagem a ser exibida sobre a imagem (tooltip).</a:t>
            </a:r>
          </a:p>
          <a:p>
            <a:pPr marL="0" indent="0">
              <a:buNone/>
            </a:pPr>
            <a:r>
              <a:rPr lang="pt-BR" dirty="0"/>
              <a:t> WIDTH – Largura da imagem, em pixels.</a:t>
            </a:r>
          </a:p>
          <a:p>
            <a:pPr marL="0" indent="0">
              <a:buNone/>
            </a:pPr>
            <a:r>
              <a:rPr lang="pt-BR" dirty="0"/>
              <a:t> HEIGHT – Altura da imagem, em pixels.</a:t>
            </a:r>
          </a:p>
          <a:p>
            <a:pPr marL="0" indent="0">
              <a:buNone/>
            </a:pPr>
            <a:r>
              <a:rPr lang="pt-BR" dirty="0"/>
              <a:t> BORDER – Define a largura da borda da imagem ( 0 = sem borda ).</a:t>
            </a:r>
          </a:p>
          <a:p>
            <a:pPr marL="0" indent="0">
              <a:buNone/>
            </a:pPr>
            <a:r>
              <a:rPr lang="pt-BR" dirty="0"/>
              <a:t> ALIGN – Alinhamento da imagem em relação ao texto (LEFT, RIGHT, TOP, BOTTOM, MIDDLE).</a:t>
            </a:r>
          </a:p>
        </p:txBody>
      </p:sp>
    </p:spTree>
    <p:extLst>
      <p:ext uri="{BB962C8B-B14F-4D97-AF65-F5344CB8AC3E}">
        <p14:creationId xmlns:p14="http://schemas.microsoft.com/office/powerpoint/2010/main" val="69746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048" y="352247"/>
            <a:ext cx="8151253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1377" y="1545464"/>
            <a:ext cx="9503536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Imagem - Exemplo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800" dirty="0"/>
              <a:t>&lt;img src="imagens/getjava.gif" width="88" height="31" alt="Get Java"&gt;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endParaRPr lang="pt-BR" sz="2800" u="sng" dirty="0"/>
          </a:p>
        </p:txBody>
      </p:sp>
      <p:pic>
        <p:nvPicPr>
          <p:cNvPr id="4" name="Picture 1178"/>
          <p:cNvPicPr/>
          <p:nvPr/>
        </p:nvPicPr>
        <p:blipFill>
          <a:blip r:embed="rId2"/>
          <a:stretch>
            <a:fillRect/>
          </a:stretch>
        </p:blipFill>
        <p:spPr>
          <a:xfrm>
            <a:off x="3676650" y="4443412"/>
            <a:ext cx="18669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53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03763"/>
            <a:ext cx="8228527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10615"/>
            <a:ext cx="8228527" cy="4966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</a:t>
            </a:r>
            <a:r>
              <a:rPr lang="pt-BR" u="sng" dirty="0"/>
              <a:t>Alinhamento das Imagens</a:t>
            </a:r>
          </a:p>
          <a:p>
            <a:pPr marL="0" indent="0">
              <a:buNone/>
            </a:pPr>
            <a:endParaRPr lang="pt-BR" u="sng" dirty="0"/>
          </a:p>
        </p:txBody>
      </p:sp>
      <p:pic>
        <p:nvPicPr>
          <p:cNvPr id="4" name="Picture 878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42868"/>
            <a:ext cx="7940040" cy="464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99642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B75604-B65A-40A5-8410-485AB860C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D32835-B7D1-40A7-9AB6-1732C5079009}">
  <ds:schemaRefs>
    <ds:schemaRef ds:uri="http://schemas.microsoft.com/office/2006/metadata/properties"/>
    <ds:schemaRef ds:uri="http://schemas.microsoft.com/office/infopath/2007/PartnerControls"/>
    <ds:schemaRef ds:uri="ff9ea732-a098-4257-a054-af1a10a0bbf7"/>
    <ds:schemaRef ds:uri="e1b5fafe-7b14-443c-b645-cb12302d210a"/>
  </ds:schemaRefs>
</ds:datastoreItem>
</file>

<file path=customXml/itemProps3.xml><?xml version="1.0" encoding="utf-8"?>
<ds:datastoreItem xmlns:ds="http://schemas.openxmlformats.org/officeDocument/2006/customXml" ds:itemID="{9548301A-0FB3-42A1-8104-D5C20C6AC7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TC030006182[[fn=Classic Theme 2007]]</Template>
  <TotalTime>260</TotalTime>
  <Words>1504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Classic</vt:lpstr>
      <vt:lpstr>Facetado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– Programação Para Internet</dc:title>
  <dc:creator>CARLOS EDUARDO DE CARVALHO</dc:creator>
  <cp:lastModifiedBy>Adryana</cp:lastModifiedBy>
  <cp:revision>64</cp:revision>
  <dcterms:created xsi:type="dcterms:W3CDTF">2013-07-29T11:29:38Z</dcterms:created>
  <dcterms:modified xsi:type="dcterms:W3CDTF">2024-08-06T17:32:53Z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0x0101005AA46FA0EB10374EAD13049DDADCE40A</vt:lpwstr>
  </property>
  <property fmtid="{D5CDD505-2E9C-101B-9397-08002B2CF9AE}" pid="3" name="MediaServiceImageTags">
    <vt:lpwstr/>
  </property>
</Properties>
</file>