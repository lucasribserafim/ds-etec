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5" r:id="rId10"/>
    <p:sldId id="266" r:id="rId11"/>
    <p:sldId id="267" r:id="rId12"/>
    <p:sldId id="269" r:id="rId13"/>
    <p:sldId id="262" r:id="rId14"/>
    <p:sldId id="268" r:id="rId15"/>
    <p:sldId id="264" r:id="rId16"/>
    <p:sldId id="263" r:id="rId17"/>
    <p:sldId id="270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76101-9C34-C38F-83EC-4560E297B171}" v="6" dt="2024-04-25T17:41:11.865"/>
    <p1510:client id="{E50DB01D-69D2-B4A9-C4A7-A45643E37893}" v="1" dt="2024-04-26T12:46:02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SSA LIMA CEDRO" userId="S::raissa.cedro@etec.sp.gov.br::b0d377d9-2fc1-4a10-91de-6467e3fa6303" providerId="AD" clId="Web-{C2D27CB6-66A3-6840-95E2-D319C0F50DDD}"/>
    <pc:docChg chg="modSld">
      <pc:chgData name="RAISSA LIMA CEDRO" userId="S::raissa.cedro@etec.sp.gov.br::b0d377d9-2fc1-4a10-91de-6467e3fa6303" providerId="AD" clId="Web-{C2D27CB6-66A3-6840-95E2-D319C0F50DDD}" dt="2024-04-09T18:03:05.435" v="20" actId="1076"/>
      <pc:docMkLst>
        <pc:docMk/>
      </pc:docMkLst>
      <pc:sldChg chg="modSp">
        <pc:chgData name="RAISSA LIMA CEDRO" userId="S::raissa.cedro@etec.sp.gov.br::b0d377d9-2fc1-4a10-91de-6467e3fa6303" providerId="AD" clId="Web-{C2D27CB6-66A3-6840-95E2-D319C0F50DDD}" dt="2024-04-09T18:03:05.435" v="20" actId="1076"/>
        <pc:sldMkLst>
          <pc:docMk/>
          <pc:sldMk cId="224361601" sldId="264"/>
        </pc:sldMkLst>
        <pc:spChg chg="mod">
          <ac:chgData name="RAISSA LIMA CEDRO" userId="S::raissa.cedro@etec.sp.gov.br::b0d377d9-2fc1-4a10-91de-6467e3fa6303" providerId="AD" clId="Web-{C2D27CB6-66A3-6840-95E2-D319C0F50DDD}" dt="2024-04-09T18:03:05.435" v="20" actId="1076"/>
          <ac:spMkLst>
            <pc:docMk/>
            <pc:sldMk cId="224361601" sldId="264"/>
            <ac:spMk id="3" creationId="{00000000-0000-0000-0000-000000000000}"/>
          </ac:spMkLst>
        </pc:spChg>
      </pc:sldChg>
    </pc:docChg>
  </pc:docChgLst>
  <pc:docChgLst>
    <pc:chgData name="JOAO PEDRO ARRUDA DE SOUZA" userId="S::joao.souza1082@etec.sp.gov.br::67d71fd8-c1fb-4fd4-9deb-89f425384dff" providerId="AD" clId="Web-{DCDC84A5-A96C-B4A0-3764-AE7BF01C4059}"/>
    <pc:docChg chg="modSld">
      <pc:chgData name="JOAO PEDRO ARRUDA DE SOUZA" userId="S::joao.souza1082@etec.sp.gov.br::67d71fd8-c1fb-4fd4-9deb-89f425384dff" providerId="AD" clId="Web-{DCDC84A5-A96C-B4A0-3764-AE7BF01C4059}" dt="2024-04-09T17:46:35.236" v="2" actId="20577"/>
      <pc:docMkLst>
        <pc:docMk/>
      </pc:docMkLst>
      <pc:sldChg chg="modSp">
        <pc:chgData name="JOAO PEDRO ARRUDA DE SOUZA" userId="S::joao.souza1082@etec.sp.gov.br::67d71fd8-c1fb-4fd4-9deb-89f425384dff" providerId="AD" clId="Web-{DCDC84A5-A96C-B4A0-3764-AE7BF01C4059}" dt="2024-04-09T17:46:35.236" v="2" actId="20577"/>
        <pc:sldMkLst>
          <pc:docMk/>
          <pc:sldMk cId="169660803" sldId="263"/>
        </pc:sldMkLst>
        <pc:spChg chg="mod">
          <ac:chgData name="JOAO PEDRO ARRUDA DE SOUZA" userId="S::joao.souza1082@etec.sp.gov.br::67d71fd8-c1fb-4fd4-9deb-89f425384dff" providerId="AD" clId="Web-{DCDC84A5-A96C-B4A0-3764-AE7BF01C4059}" dt="2024-04-09T17:46:35.236" v="2" actId="20577"/>
          <ac:spMkLst>
            <pc:docMk/>
            <pc:sldMk cId="169660803" sldId="263"/>
            <ac:spMk id="2" creationId="{00000000-0000-0000-0000-000000000000}"/>
          </ac:spMkLst>
        </pc:spChg>
      </pc:sldChg>
    </pc:docChg>
  </pc:docChgLst>
  <pc:docChgLst>
    <pc:chgData name="RAISSA LIMA CEDRO" userId="S::raissa.cedro@etec.sp.gov.br::b0d377d9-2fc1-4a10-91de-6467e3fa6303" providerId="AD" clId="Web-{6DF76101-9C34-C38F-83EC-4560E297B171}"/>
    <pc:docChg chg="modSld">
      <pc:chgData name="RAISSA LIMA CEDRO" userId="S::raissa.cedro@etec.sp.gov.br::b0d377d9-2fc1-4a10-91de-6467e3fa6303" providerId="AD" clId="Web-{6DF76101-9C34-C38F-83EC-4560E297B171}" dt="2024-04-25T17:41:11.865" v="5" actId="20577"/>
      <pc:docMkLst>
        <pc:docMk/>
      </pc:docMkLst>
      <pc:sldChg chg="modSp">
        <pc:chgData name="RAISSA LIMA CEDRO" userId="S::raissa.cedro@etec.sp.gov.br::b0d377d9-2fc1-4a10-91de-6467e3fa6303" providerId="AD" clId="Web-{6DF76101-9C34-C38F-83EC-4560E297B171}" dt="2024-04-25T17:41:11.865" v="5" actId="20577"/>
        <pc:sldMkLst>
          <pc:docMk/>
          <pc:sldMk cId="224361601" sldId="264"/>
        </pc:sldMkLst>
        <pc:spChg chg="mod">
          <ac:chgData name="RAISSA LIMA CEDRO" userId="S::raissa.cedro@etec.sp.gov.br::b0d377d9-2fc1-4a10-91de-6467e3fa6303" providerId="AD" clId="Web-{6DF76101-9C34-C38F-83EC-4560E297B171}" dt="2024-04-25T17:40:41.395" v="0" actId="1076"/>
          <ac:spMkLst>
            <pc:docMk/>
            <pc:sldMk cId="224361601" sldId="264"/>
            <ac:spMk id="2" creationId="{00000000-0000-0000-0000-000000000000}"/>
          </ac:spMkLst>
        </pc:spChg>
        <pc:spChg chg="mod">
          <ac:chgData name="RAISSA LIMA CEDRO" userId="S::raissa.cedro@etec.sp.gov.br::b0d377d9-2fc1-4a10-91de-6467e3fa6303" providerId="AD" clId="Web-{6DF76101-9C34-C38F-83EC-4560E297B171}" dt="2024-04-25T17:40:58.099" v="2" actId="1076"/>
          <ac:spMkLst>
            <pc:docMk/>
            <pc:sldMk cId="224361601" sldId="264"/>
            <ac:spMk id="3" creationId="{00000000-0000-0000-0000-000000000000}"/>
          </ac:spMkLst>
        </pc:spChg>
        <pc:spChg chg="mod">
          <ac:chgData name="RAISSA LIMA CEDRO" userId="S::raissa.cedro@etec.sp.gov.br::b0d377d9-2fc1-4a10-91de-6467e3fa6303" providerId="AD" clId="Web-{6DF76101-9C34-C38F-83EC-4560E297B171}" dt="2024-04-25T17:41:11.865" v="5" actId="20577"/>
          <ac:spMkLst>
            <pc:docMk/>
            <pc:sldMk cId="224361601" sldId="264"/>
            <ac:spMk id="4" creationId="{00000000-0000-0000-0000-000000000000}"/>
          </ac:spMkLst>
        </pc:spChg>
      </pc:sldChg>
    </pc:docChg>
  </pc:docChgLst>
  <pc:docChgLst>
    <pc:chgData name="JOAO VICTOR BAPTISTA DOS SANTOS" userId="S::joao.santos2183@etec.sp.gov.br::7f1723c3-e346-4cc5-8f70-c5665d530ae3" providerId="AD" clId="Web-{E50DB01D-69D2-B4A9-C4A7-A45643E37893}"/>
    <pc:docChg chg="addSld">
      <pc:chgData name="JOAO VICTOR BAPTISTA DOS SANTOS" userId="S::joao.santos2183@etec.sp.gov.br::7f1723c3-e346-4cc5-8f70-c5665d530ae3" providerId="AD" clId="Web-{E50DB01D-69D2-B4A9-C4A7-A45643E37893}" dt="2024-04-26T12:46:02.244" v="0"/>
      <pc:docMkLst>
        <pc:docMk/>
      </pc:docMkLst>
      <pc:sldChg chg="new">
        <pc:chgData name="JOAO VICTOR BAPTISTA DOS SANTOS" userId="S::joao.santos2183@etec.sp.gov.br::7f1723c3-e346-4cc5-8f70-c5665d530ae3" providerId="AD" clId="Web-{E50DB01D-69D2-B4A9-C4A7-A45643E37893}" dt="2024-04-26T12:46:02.244" v="0"/>
        <pc:sldMkLst>
          <pc:docMk/>
          <pc:sldMk cId="3890950527" sldId="270"/>
        </pc:sldMkLst>
      </pc:sldChg>
    </pc:docChg>
  </pc:docChgLst>
  <pc:docChgLst>
    <pc:chgData name="ELLEN NOGUEIRA DE OLIVEIRA" userId="S::ellen.oliveira79@etec.sp.gov.br::ff084ff0-67a5-4e23-9ed7-9f03b0a574b5" providerId="AD" clId="Web-{C7734EB1-E1D3-5ED7-367C-E16D62CA26C7}"/>
    <pc:docChg chg="modSld">
      <pc:chgData name="ELLEN NOGUEIRA DE OLIVEIRA" userId="S::ellen.oliveira79@etec.sp.gov.br::ff084ff0-67a5-4e23-9ed7-9f03b0a574b5" providerId="AD" clId="Web-{C7734EB1-E1D3-5ED7-367C-E16D62CA26C7}" dt="2024-04-09T17:29:07.049" v="1" actId="1076"/>
      <pc:docMkLst>
        <pc:docMk/>
      </pc:docMkLst>
      <pc:sldChg chg="modSp">
        <pc:chgData name="ELLEN NOGUEIRA DE OLIVEIRA" userId="S::ellen.oliveira79@etec.sp.gov.br::ff084ff0-67a5-4e23-9ed7-9f03b0a574b5" providerId="AD" clId="Web-{C7734EB1-E1D3-5ED7-367C-E16D62CA26C7}" dt="2024-04-09T17:29:07.049" v="1" actId="1076"/>
        <pc:sldMkLst>
          <pc:docMk/>
          <pc:sldMk cId="224361601" sldId="264"/>
        </pc:sldMkLst>
        <pc:spChg chg="mod">
          <ac:chgData name="ELLEN NOGUEIRA DE OLIVEIRA" userId="S::ellen.oliveira79@etec.sp.gov.br::ff084ff0-67a5-4e23-9ed7-9f03b0a574b5" providerId="AD" clId="Web-{C7734EB1-E1D3-5ED7-367C-E16D62CA26C7}" dt="2024-04-09T17:29:07.049" v="1" actId="1076"/>
          <ac:spMkLst>
            <pc:docMk/>
            <pc:sldMk cId="224361601" sldId="264"/>
            <ac:spMk id="4" creationId="{00000000-0000-0000-0000-000000000000}"/>
          </ac:spMkLst>
        </pc:spChg>
      </pc:sldChg>
    </pc:docChg>
  </pc:docChgLst>
  <pc:docChgLst>
    <pc:chgData name="CAROLINE SILVESTRE DE OLIVEIRA" userId="S::caroline.oliveira403@etec.sp.gov.br::af520dca-56ab-4269-823f-b40499bf074c" providerId="AD" clId="Web-{1E2E2F7B-D2EB-F1C2-9E39-E51F0F3BABD3}"/>
    <pc:docChg chg="modSld">
      <pc:chgData name="CAROLINE SILVESTRE DE OLIVEIRA" userId="S::caroline.oliveira403@etec.sp.gov.br::af520dca-56ab-4269-823f-b40499bf074c" providerId="AD" clId="Web-{1E2E2F7B-D2EB-F1C2-9E39-E51F0F3BABD3}" dt="2024-04-09T17:59:30.427" v="8" actId="20577"/>
      <pc:docMkLst>
        <pc:docMk/>
      </pc:docMkLst>
      <pc:sldChg chg="modSp">
        <pc:chgData name="CAROLINE SILVESTRE DE OLIVEIRA" userId="S::caroline.oliveira403@etec.sp.gov.br::af520dca-56ab-4269-823f-b40499bf074c" providerId="AD" clId="Web-{1E2E2F7B-D2EB-F1C2-9E39-E51F0F3BABD3}" dt="2024-04-09T17:59:30.427" v="8" actId="20577"/>
        <pc:sldMkLst>
          <pc:docMk/>
          <pc:sldMk cId="224361601" sldId="264"/>
        </pc:sldMkLst>
        <pc:spChg chg="mod">
          <ac:chgData name="CAROLINE SILVESTRE DE OLIVEIRA" userId="S::caroline.oliveira403@etec.sp.gov.br::af520dca-56ab-4269-823f-b40499bf074c" providerId="AD" clId="Web-{1E2E2F7B-D2EB-F1C2-9E39-E51F0F3BABD3}" dt="2024-04-09T17:59:30.427" v="8" actId="20577"/>
          <ac:spMkLst>
            <pc:docMk/>
            <pc:sldMk cId="224361601" sldId="264"/>
            <ac:spMk id="3" creationId="{00000000-0000-0000-0000-000000000000}"/>
          </ac:spMkLst>
        </pc:spChg>
      </pc:sldChg>
      <pc:sldChg chg="addSp delSp modSp">
        <pc:chgData name="CAROLINE SILVESTRE DE OLIVEIRA" userId="S::caroline.oliveira403@etec.sp.gov.br::af520dca-56ab-4269-823f-b40499bf074c" providerId="AD" clId="Web-{1E2E2F7B-D2EB-F1C2-9E39-E51F0F3BABD3}" dt="2024-04-09T17:49:31.252" v="2"/>
        <pc:sldMkLst>
          <pc:docMk/>
          <pc:sldMk cId="161384098" sldId="268"/>
        </pc:sldMkLst>
        <pc:spChg chg="add del mod">
          <ac:chgData name="CAROLINE SILVESTRE DE OLIVEIRA" userId="S::caroline.oliveira403@etec.sp.gov.br::af520dca-56ab-4269-823f-b40499bf074c" providerId="AD" clId="Web-{1E2E2F7B-D2EB-F1C2-9E39-E51F0F3BABD3}" dt="2024-04-09T17:49:31.252" v="2"/>
          <ac:spMkLst>
            <pc:docMk/>
            <pc:sldMk cId="161384098" sldId="268"/>
            <ac:spMk id="4" creationId="{00000000-0000-0000-0000-000000000000}"/>
          </ac:spMkLst>
        </pc:spChg>
        <pc:spChg chg="add del mod">
          <ac:chgData name="CAROLINE SILVESTRE DE OLIVEIRA" userId="S::caroline.oliveira403@etec.sp.gov.br::af520dca-56ab-4269-823f-b40499bf074c" providerId="AD" clId="Web-{1E2E2F7B-D2EB-F1C2-9E39-E51F0F3BABD3}" dt="2024-04-09T17:49:31.252" v="2"/>
          <ac:spMkLst>
            <pc:docMk/>
            <pc:sldMk cId="161384098" sldId="268"/>
            <ac:spMk id="5" creationId="{3DAE00D0-F387-925A-183B-B3368286365C}"/>
          </ac:spMkLst>
        </pc:spChg>
      </pc:sldChg>
    </pc:docChg>
  </pc:docChgLst>
  <pc:docChgLst>
    <pc:chgData name="DANIEL GALINDO MONTANO" userId="S::daniel.montano@etec.sp.gov.br::c7ff7eeb-d7b0-46d1-9076-35f5e12fa7b8" providerId="AD" clId="Web-{EAEF9BED-B20C-46E1-29ED-43C706674CED}"/>
    <pc:docChg chg="modSld">
      <pc:chgData name="DANIEL GALINDO MONTANO" userId="S::daniel.montano@etec.sp.gov.br::c7ff7eeb-d7b0-46d1-9076-35f5e12fa7b8" providerId="AD" clId="Web-{EAEF9BED-B20C-46E1-29ED-43C706674CED}" dt="2024-04-09T17:59:02.129" v="5" actId="14100"/>
      <pc:docMkLst>
        <pc:docMk/>
      </pc:docMkLst>
      <pc:sldChg chg="modSp">
        <pc:chgData name="DANIEL GALINDO MONTANO" userId="S::daniel.montano@etec.sp.gov.br::c7ff7eeb-d7b0-46d1-9076-35f5e12fa7b8" providerId="AD" clId="Web-{EAEF9BED-B20C-46E1-29ED-43C706674CED}" dt="2024-04-09T17:59:02.129" v="5" actId="14100"/>
        <pc:sldMkLst>
          <pc:docMk/>
          <pc:sldMk cId="169660803" sldId="263"/>
        </pc:sldMkLst>
        <pc:spChg chg="mod">
          <ac:chgData name="DANIEL GALINDO MONTANO" userId="S::daniel.montano@etec.sp.gov.br::c7ff7eeb-d7b0-46d1-9076-35f5e12fa7b8" providerId="AD" clId="Web-{EAEF9BED-B20C-46E1-29ED-43C706674CED}" dt="2024-04-09T17:59:02.129" v="5" actId="14100"/>
          <ac:spMkLst>
            <pc:docMk/>
            <pc:sldMk cId="169660803" sldId="26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893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318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2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10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22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91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97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2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8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09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00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F2C69-42AF-4F84-A5E4-8CAD91C40312}" type="datetimeFigureOut">
              <a:rPr lang="pt-BR" smtClean="0"/>
              <a:t>26/04/2024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3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CSS​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pt-BR" err="1"/>
              <a:t>Cascading</a:t>
            </a:r>
            <a:r>
              <a:rPr lang="pt-BR"/>
              <a:t> </a:t>
            </a:r>
            <a:r>
              <a:rPr lang="pt-BR" err="1"/>
              <a:t>Style</a:t>
            </a:r>
            <a:r>
              <a:rPr lang="pt-BR"/>
              <a:t> </a:t>
            </a:r>
            <a:r>
              <a:rPr lang="pt-BR" err="1"/>
              <a:t>Sheetes</a:t>
            </a:r>
            <a:r>
              <a:rPr lang="pt-BR"/>
              <a:t> </a:t>
            </a:r>
            <a:r>
              <a:rPr lang="en-US"/>
              <a:t>​</a:t>
            </a:r>
          </a:p>
          <a:p>
            <a:pPr fontAlgn="base"/>
            <a:r>
              <a:rPr lang="pt-BR"/>
              <a:t>(Folhas de Estilo em Cascata)</a:t>
            </a:r>
            <a:endParaRPr lang="en-US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85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fontAlgn="base">
              <a:buNone/>
            </a:pPr>
            <a:r>
              <a:rPr lang="pt-BR">
                <a:solidFill>
                  <a:srgbClr val="FF0000"/>
                </a:solidFill>
              </a:rPr>
              <a:t>Divisões (DIV)</a:t>
            </a:r>
            <a:r>
              <a:rPr lang="en-US">
                <a:solidFill>
                  <a:srgbClr val="FF0000"/>
                </a:solidFill>
              </a:rPr>
              <a:t>​</a:t>
            </a:r>
          </a:p>
          <a:p>
            <a:pPr marL="0" indent="0" fontAlgn="base">
              <a:buNone/>
            </a:pPr>
            <a:endParaRPr lang="pt-BR"/>
          </a:p>
          <a:p>
            <a:pPr fontAlgn="base"/>
            <a:r>
              <a:rPr lang="pt-BR"/>
              <a:t>A </a:t>
            </a:r>
            <a:r>
              <a:rPr lang="pt-BR" err="1"/>
              <a:t>tag</a:t>
            </a:r>
            <a:r>
              <a:rPr lang="pt-BR"/>
              <a:t> &lt;</a:t>
            </a:r>
            <a:r>
              <a:rPr lang="pt-BR" err="1"/>
              <a:t>div</a:t>
            </a:r>
            <a:r>
              <a:rPr lang="pt-BR"/>
              <a:t>&gt; é um elemento HTML que serve como um contêiner genérico, podendo receber diferentes tipos de conteúdos (texto, imagens etc.)</a:t>
            </a:r>
            <a:r>
              <a:rPr lang="en-US"/>
              <a:t>​</a:t>
            </a:r>
          </a:p>
          <a:p>
            <a:pPr marL="0" indent="0" fontAlgn="base">
              <a:buNone/>
            </a:pPr>
            <a:r>
              <a:rPr lang="pt-BR"/>
              <a:t>​</a:t>
            </a:r>
          </a:p>
          <a:p>
            <a:pPr fontAlgn="base"/>
            <a:r>
              <a:rPr lang="pt-BR"/>
              <a:t>A &lt;</a:t>
            </a:r>
            <a:r>
              <a:rPr lang="pt-BR" err="1"/>
              <a:t>div</a:t>
            </a:r>
            <a:r>
              <a:rPr lang="pt-BR"/>
              <a:t>&gt; é um elemento bastante utilizado para a construção de layouts de páginas web e pode facilmente ser estilizado com o uso do CSS.</a:t>
            </a:r>
            <a:r>
              <a:rPr lang="en-US"/>
              <a:t>​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70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8896"/>
            <a:ext cx="10515600" cy="5439103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pt-BR">
                <a:solidFill>
                  <a:srgbClr val="FF0000"/>
                </a:solidFill>
              </a:rPr>
              <a:t>TAG &lt;DIV&gt;&lt;/DIV&gt;</a:t>
            </a:r>
            <a:r>
              <a:rPr lang="en-US">
                <a:solidFill>
                  <a:srgbClr val="FF0000"/>
                </a:solidFill>
              </a:rPr>
              <a:t>​</a:t>
            </a:r>
          </a:p>
          <a:p>
            <a:pPr marL="0" indent="0" algn="ctr" fontAlgn="base">
              <a:buNone/>
            </a:pPr>
            <a:endParaRPr lang="en-US">
              <a:solidFill>
                <a:srgbClr val="FF0000"/>
              </a:solidFill>
            </a:endParaRPr>
          </a:p>
          <a:p>
            <a:pPr fontAlgn="base"/>
            <a:r>
              <a:rPr lang="pt-BR"/>
              <a:t>A </a:t>
            </a:r>
            <a:r>
              <a:rPr lang="pt-BR" err="1"/>
              <a:t>tag</a:t>
            </a:r>
            <a:r>
              <a:rPr lang="pt-BR"/>
              <a:t> &lt;</a:t>
            </a:r>
            <a:r>
              <a:rPr lang="pt-BR" err="1"/>
              <a:t>div</a:t>
            </a:r>
            <a:r>
              <a:rPr lang="pt-BR"/>
              <a:t>&gt; é utilizada para agrupar e delimitar conteúdos e para isso esses conteúdos devem ser declarados entre a </a:t>
            </a:r>
            <a:r>
              <a:rPr lang="pt-BR" err="1"/>
              <a:t>tag</a:t>
            </a:r>
            <a:r>
              <a:rPr lang="pt-BR"/>
              <a:t> de início e a </a:t>
            </a:r>
            <a:r>
              <a:rPr lang="pt-BR" err="1"/>
              <a:t>tag</a:t>
            </a:r>
            <a:r>
              <a:rPr lang="pt-BR"/>
              <a:t> de fechamento (&lt;</a:t>
            </a:r>
            <a:r>
              <a:rPr lang="pt-BR" err="1"/>
              <a:t>div</a:t>
            </a:r>
            <a:r>
              <a:rPr lang="pt-BR"/>
              <a:t>&gt;&lt;/</a:t>
            </a:r>
            <a:r>
              <a:rPr lang="pt-BR" err="1"/>
              <a:t>div</a:t>
            </a:r>
            <a:r>
              <a:rPr lang="pt-BR"/>
              <a:t>&gt;).</a:t>
            </a:r>
            <a:r>
              <a:rPr lang="en-US"/>
              <a:t>​</a:t>
            </a:r>
          </a:p>
          <a:p>
            <a:pPr fontAlgn="base"/>
            <a:endParaRPr lang="pt-BR"/>
          </a:p>
          <a:p>
            <a:pPr fontAlgn="base"/>
            <a:r>
              <a:rPr lang="pt-BR"/>
              <a:t>A </a:t>
            </a:r>
            <a:r>
              <a:rPr lang="pt-BR" err="1"/>
              <a:t>tag</a:t>
            </a:r>
            <a:r>
              <a:rPr lang="pt-BR"/>
              <a:t> &lt;</a:t>
            </a:r>
            <a:r>
              <a:rPr lang="pt-BR" err="1"/>
              <a:t>div</a:t>
            </a:r>
            <a:r>
              <a:rPr lang="pt-BR"/>
              <a:t>&gt; agrupa todo conteúdo que é adicionado a ela, mas não possui um estilo visual por padrão.</a:t>
            </a:r>
            <a:r>
              <a:rPr lang="en-US"/>
              <a:t>​</a:t>
            </a:r>
          </a:p>
          <a:p>
            <a:pPr marL="0" indent="0" fontAlgn="base">
              <a:buNone/>
            </a:pPr>
            <a:endParaRPr lang="pt-BR"/>
          </a:p>
          <a:p>
            <a:pPr fontAlgn="base"/>
            <a:r>
              <a:rPr lang="pt-BR"/>
              <a:t>Entretanto, é possível utilizar o CSS para tornar a &lt;</a:t>
            </a:r>
            <a:r>
              <a:rPr lang="pt-BR" err="1"/>
              <a:t>div</a:t>
            </a:r>
            <a:r>
              <a:rPr lang="pt-BR"/>
              <a:t>&gt; visível, além de aplicar novos estilos tais como: cores de fundo, cor de fonte, estilo de fonte e posicionamento dos elementos internos da &lt;</a:t>
            </a:r>
            <a:r>
              <a:rPr lang="pt-BR" err="1"/>
              <a:t>div</a:t>
            </a:r>
            <a:r>
              <a:rPr lang="pt-BR"/>
              <a:t>&gt;</a:t>
            </a:r>
            <a:r>
              <a:rPr lang="en-US"/>
              <a:t>​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27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8896"/>
            <a:ext cx="10515600" cy="54391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pt-BR" err="1">
                <a:solidFill>
                  <a:srgbClr val="FF0000"/>
                </a:solidFill>
              </a:rPr>
              <a:t>Border</a:t>
            </a:r>
            <a:r>
              <a:rPr lang="pt-BR">
                <a:solidFill>
                  <a:srgbClr val="FF0000"/>
                </a:solidFill>
              </a:rPr>
              <a:t> Box</a:t>
            </a:r>
            <a:endParaRPr lang="en-US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/>
              <a:t>Em CSS, o termo (</a:t>
            </a:r>
            <a:r>
              <a:rPr lang="pt-BR" err="1"/>
              <a:t>border</a:t>
            </a:r>
            <a:r>
              <a:rPr lang="pt-BR"/>
              <a:t> box) “modelo de caixa” é usado quando se fala em design e layout.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O modelo de caixa CSS é essencialmente uma caixa que envolve cada elemento HTML. Consiste em: conteúdo, preenchimento, bordas e margens. A imagem abaixo ilustra o modelo de caixa: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09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8896"/>
            <a:ext cx="10515600" cy="54391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pt-BR" err="1">
                <a:solidFill>
                  <a:srgbClr val="FF0000"/>
                </a:solidFill>
              </a:rPr>
              <a:t>Border</a:t>
            </a:r>
            <a:r>
              <a:rPr lang="pt-BR">
                <a:solidFill>
                  <a:srgbClr val="FF0000"/>
                </a:solidFill>
              </a:rPr>
              <a:t> Box</a:t>
            </a:r>
            <a:endParaRPr lang="en-US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66" y="2586734"/>
            <a:ext cx="5076496" cy="404381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02" y="2675064"/>
            <a:ext cx="4401207" cy="418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7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pt-BR" err="1">
                <a:solidFill>
                  <a:srgbClr val="FF0000"/>
                </a:solidFill>
              </a:rPr>
              <a:t>Border</a:t>
            </a:r>
            <a:r>
              <a:rPr lang="pt-BR">
                <a:solidFill>
                  <a:srgbClr val="FF0000"/>
                </a:solidFill>
              </a:rPr>
              <a:t> Box</a:t>
            </a:r>
            <a:endParaRPr lang="en-US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/>
              <a:t>Explicação das diferentes partes:</a:t>
            </a:r>
          </a:p>
          <a:p>
            <a:r>
              <a:rPr lang="pt-BR" b="1"/>
              <a:t>Conteúdo</a:t>
            </a:r>
            <a:r>
              <a:rPr lang="pt-BR"/>
              <a:t> - O conteúdo da caixa, onde aparecem textos e imagens.</a:t>
            </a:r>
          </a:p>
          <a:p>
            <a:r>
              <a:rPr lang="pt-BR" b="1"/>
              <a:t>Preenchimento</a:t>
            </a:r>
            <a:r>
              <a:rPr lang="pt-BR"/>
              <a:t> – Limpa uma área ao redor do conteúdo. O preenchimento é transparente</a:t>
            </a:r>
          </a:p>
          <a:p>
            <a:r>
              <a:rPr lang="pt-BR" b="1"/>
              <a:t>Borda</a:t>
            </a:r>
            <a:r>
              <a:rPr lang="pt-BR"/>
              <a:t> - Uma borda que circunda o preenchimento e o conteúdo.</a:t>
            </a:r>
          </a:p>
          <a:p>
            <a:r>
              <a:rPr lang="pt-BR" b="1"/>
              <a:t>Margem</a:t>
            </a:r>
            <a:r>
              <a:rPr lang="pt-BR"/>
              <a:t> - Limpa uma área fora da fronteira. A margem é transparente.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err="1">
                <a:solidFill>
                  <a:srgbClr val="FF0000"/>
                </a:solidFill>
              </a:rPr>
              <a:t>obs:O</a:t>
            </a:r>
            <a:r>
              <a:rPr lang="pt-BR">
                <a:solidFill>
                  <a:srgbClr val="FF0000"/>
                </a:solidFill>
              </a:rPr>
              <a:t> modelo de caixa nos permite adicionar uma borda ao redor dos elementos e definir o espaço entre os elementos. 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11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en-US" err="1">
                <a:solidFill>
                  <a:srgbClr val="FF0000"/>
                </a:solidFill>
              </a:rPr>
              <a:t>Propriedade</a:t>
            </a:r>
            <a:r>
              <a:rPr lang="en-US">
                <a:solidFill>
                  <a:srgbClr val="FF0000"/>
                </a:solidFill>
              </a:rPr>
              <a:t>? </a:t>
            </a:r>
            <a:r>
              <a:rPr lang="en-US" err="1">
                <a:solidFill>
                  <a:srgbClr val="FF0000"/>
                </a:solidFill>
              </a:rPr>
              <a:t>box-sizing:border-box</a:t>
            </a:r>
            <a:r>
              <a:rPr lang="en-US">
                <a:solidFill>
                  <a:srgbClr val="FF0000"/>
                </a:solidFill>
              </a:rPr>
              <a:t>;</a:t>
            </a:r>
          </a:p>
          <a:p>
            <a:pPr marL="0" indent="0" algn="ctr" fontAlgn="base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/>
              <a:t>Por padrão, quando atribuímos valores de </a:t>
            </a:r>
            <a:r>
              <a:rPr lang="pt-BR" err="1"/>
              <a:t>border</a:t>
            </a:r>
            <a:r>
              <a:rPr lang="pt-BR"/>
              <a:t> e </a:t>
            </a:r>
            <a:r>
              <a:rPr lang="pt-BR" err="1"/>
              <a:t>padding</a:t>
            </a:r>
            <a:r>
              <a:rPr lang="pt-BR"/>
              <a:t> a um elemento, eles são somados à largura e altura, fazendo com que as dimensões totais superem os valores inicialmente esperados.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Utilizando a propriedade box-</a:t>
            </a:r>
            <a:r>
              <a:rPr lang="pt-BR" err="1"/>
              <a:t>sizing</a:t>
            </a:r>
            <a:r>
              <a:rPr lang="pt-BR"/>
              <a:t> do CSS3, podemos fazer com que os valores de </a:t>
            </a:r>
            <a:r>
              <a:rPr lang="pt-BR" err="1"/>
              <a:t>border</a:t>
            </a:r>
            <a:r>
              <a:rPr lang="pt-BR"/>
              <a:t> e </a:t>
            </a:r>
            <a:r>
              <a:rPr lang="pt-BR" err="1"/>
              <a:t>padding</a:t>
            </a:r>
            <a:r>
              <a:rPr lang="pt-BR"/>
              <a:t> sejam incorporados às dimensões originais do elemento, mantendo-o dentro dos limites informados em </a:t>
            </a:r>
            <a:r>
              <a:rPr lang="pt-BR" err="1"/>
              <a:t>width</a:t>
            </a:r>
            <a:r>
              <a:rPr lang="pt-BR"/>
              <a:t> e </a:t>
            </a:r>
            <a:r>
              <a:rPr lang="pt-BR" err="1"/>
              <a:t>height</a:t>
            </a:r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56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en-US" err="1">
                <a:solidFill>
                  <a:srgbClr val="FF0000"/>
                </a:solidFill>
              </a:rPr>
              <a:t>Propriedade</a:t>
            </a:r>
            <a:r>
              <a:rPr lang="en-US">
                <a:solidFill>
                  <a:srgbClr val="FF0000"/>
                </a:solidFill>
              </a:rPr>
              <a:t>? </a:t>
            </a:r>
            <a:r>
              <a:rPr lang="en-US" err="1">
                <a:solidFill>
                  <a:srgbClr val="FF0000"/>
                </a:solidFill>
              </a:rPr>
              <a:t>box-sizing:border-box</a:t>
            </a:r>
            <a:r>
              <a:rPr lang="en-US">
                <a:solidFill>
                  <a:srgbClr val="FF0000"/>
                </a:solidFill>
              </a:rPr>
              <a:t>;</a:t>
            </a:r>
          </a:p>
          <a:p>
            <a:pPr marL="0" indent="0" algn="ctr" fontAlgn="base">
              <a:buNone/>
            </a:pPr>
            <a:r>
              <a:rPr lang="pt-BR">
                <a:solidFill>
                  <a:srgbClr val="FF0000"/>
                </a:solidFill>
              </a:rPr>
              <a:t>Exemplo Sintaxe: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div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   width:200px;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   height:200px;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   border:2px </a:t>
            </a:r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solid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black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   padding:10px;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    box-</a:t>
            </a:r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sizing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border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-box;</a:t>
            </a:r>
          </a:p>
          <a:p>
            <a:pPr marL="0" indent="0" fontAlgn="base">
              <a:buNone/>
            </a:pP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49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en-US" err="1">
                <a:solidFill>
                  <a:srgbClr val="FF0000"/>
                </a:solidFill>
              </a:rPr>
              <a:t>Propriedade</a:t>
            </a:r>
            <a:r>
              <a:rPr lang="en-US">
                <a:solidFill>
                  <a:srgbClr val="FF0000"/>
                </a:solidFill>
              </a:rPr>
              <a:t>? </a:t>
            </a:r>
            <a:r>
              <a:rPr lang="en-US" err="1">
                <a:solidFill>
                  <a:srgbClr val="FF0000"/>
                </a:solidFill>
              </a:rPr>
              <a:t>box-sizing:border-box</a:t>
            </a:r>
            <a:r>
              <a:rPr lang="en-US">
                <a:solidFill>
                  <a:srgbClr val="FF0000"/>
                </a:solidFill>
              </a:rPr>
              <a:t>;</a:t>
            </a:r>
          </a:p>
          <a:p>
            <a:pPr marL="0" indent="0" fontAlgn="base">
              <a:buNone/>
            </a:pPr>
            <a:r>
              <a:rPr lang="pt-BR">
                <a:solidFill>
                  <a:srgbClr val="FFC000"/>
                </a:solidFill>
              </a:rPr>
              <a:t>Valores:</a:t>
            </a:r>
          </a:p>
          <a:p>
            <a:pPr fontAlgn="base"/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content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-box: o padrão. Os valores de largura e altura aplicam-se apenas ao conteúdo do elemento. O preenchimento e a borda são adicionados na parte externa da caixa.</a:t>
            </a:r>
          </a:p>
          <a:p>
            <a:pPr fontAlgn="base"/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padding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-box: os valores de largura e altura se aplicam ao conteúdo do elemento e ao seu preenchimento. A borda é adicionada na parte externa da caixa. Atualmente, apenas o Firefox suporta o </a:t>
            </a:r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padding-boxvalor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fontAlgn="base"/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border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-box: os valores de largura e altura se aplicam ao conteúdo, preenchimento e borda.</a:t>
            </a:r>
          </a:p>
          <a:p>
            <a:pPr fontAlgn="base"/>
            <a:r>
              <a:rPr lang="pt-BR" err="1">
                <a:solidFill>
                  <a:schemeClr val="tx1">
                    <a:lumMod val="65000"/>
                    <a:lumOff val="35000"/>
                  </a:schemeClr>
                </a:solidFill>
              </a:rPr>
              <a:t>inherit</a:t>
            </a:r>
            <a:r>
              <a:rPr lang="pt-BR">
                <a:solidFill>
                  <a:schemeClr val="tx1">
                    <a:lumMod val="65000"/>
                    <a:lumOff val="35000"/>
                  </a:schemeClr>
                </a:solidFill>
              </a:rPr>
              <a:t>: herda o dimensionamento da caixa do elemento pai.</a:t>
            </a:r>
          </a:p>
        </p:txBody>
      </p:sp>
    </p:spTree>
    <p:extLst>
      <p:ext uri="{BB962C8B-B14F-4D97-AF65-F5344CB8AC3E}">
        <p14:creationId xmlns:p14="http://schemas.microsoft.com/office/powerpoint/2010/main" val="3746110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1772" y="1027906"/>
            <a:ext cx="10515600" cy="54391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/>
          </a:p>
          <a:p>
            <a:pPr marL="0" indent="0" algn="ctr" fontAlgn="base">
              <a:buNone/>
            </a:pPr>
            <a:r>
              <a:rPr lang="pt-BR" err="1">
                <a:solidFill>
                  <a:srgbClr val="FF0000"/>
                </a:solidFill>
              </a:rPr>
              <a:t>Border</a:t>
            </a:r>
            <a:r>
              <a:rPr lang="pt-BR">
                <a:solidFill>
                  <a:srgbClr val="FF0000"/>
                </a:solidFill>
              </a:rPr>
              <a:t> Box-</a:t>
            </a:r>
            <a:r>
              <a:rPr lang="pt-BR" err="1">
                <a:solidFill>
                  <a:srgbClr val="FF0000"/>
                </a:solidFill>
              </a:rPr>
              <a:t>Sizing</a:t>
            </a:r>
            <a:endParaRPr lang="en-US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2429148"/>
            <a:ext cx="5886450" cy="393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1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64627" y="1473527"/>
            <a:ext cx="10515600" cy="5384473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pt-BR" sz="3400" b="1">
                <a:solidFill>
                  <a:srgbClr val="FF0000"/>
                </a:solidFill>
              </a:rPr>
              <a:t>Exemplo1: index.html</a:t>
            </a:r>
          </a:p>
          <a:p>
            <a:pPr marL="0" indent="0">
              <a:buNone/>
            </a:pPr>
            <a:r>
              <a:rPr lang="pt-BR"/>
              <a:t>&lt;!DOCTYPE </a:t>
            </a:r>
            <a:r>
              <a:rPr lang="pt-BR" i="1" err="1"/>
              <a:t>html</a:t>
            </a:r>
            <a:r>
              <a:rPr lang="pt-BR"/>
              <a:t>&gt;</a:t>
            </a:r>
          </a:p>
          <a:p>
            <a:pPr marL="0" indent="0">
              <a:buNone/>
            </a:pPr>
            <a:r>
              <a:rPr lang="pt-BR"/>
              <a:t> &lt;</a:t>
            </a:r>
            <a:r>
              <a:rPr lang="pt-BR" err="1"/>
              <a:t>html</a:t>
            </a:r>
            <a:r>
              <a:rPr lang="pt-BR"/>
              <a:t> </a:t>
            </a:r>
            <a:r>
              <a:rPr lang="pt-BR" i="1" err="1"/>
              <a:t>lang</a:t>
            </a:r>
            <a:r>
              <a:rPr lang="pt-BR"/>
              <a:t>="</a:t>
            </a:r>
            <a:r>
              <a:rPr lang="pt-BR" err="1"/>
              <a:t>en</a:t>
            </a:r>
            <a:r>
              <a:rPr lang="pt-BR"/>
              <a:t>"&gt;</a:t>
            </a:r>
          </a:p>
          <a:p>
            <a:pPr marL="0" indent="0">
              <a:buNone/>
            </a:pPr>
            <a:r>
              <a:rPr lang="pt-BR"/>
              <a:t>&lt;</a:t>
            </a:r>
            <a:r>
              <a:rPr lang="pt-BR" err="1"/>
              <a:t>head</a:t>
            </a:r>
            <a:r>
              <a:rPr lang="pt-BR"/>
              <a:t>&gt;</a:t>
            </a:r>
          </a:p>
          <a:p>
            <a:pPr marL="0" indent="0">
              <a:buNone/>
            </a:pPr>
            <a:r>
              <a:rPr lang="pt-BR"/>
              <a:t>&lt;meta </a:t>
            </a:r>
            <a:r>
              <a:rPr lang="pt-BR" i="1" err="1"/>
              <a:t>charset</a:t>
            </a:r>
            <a:r>
              <a:rPr lang="pt-BR"/>
              <a:t>="UTF-8"&gt;</a:t>
            </a:r>
          </a:p>
          <a:p>
            <a:pPr marL="0" indent="0">
              <a:buNone/>
            </a:pPr>
            <a:r>
              <a:rPr lang="pt-BR"/>
              <a:t>&lt;meta </a:t>
            </a:r>
            <a:r>
              <a:rPr lang="pt-BR" i="1" err="1"/>
              <a:t>name</a:t>
            </a:r>
            <a:r>
              <a:rPr lang="pt-BR"/>
              <a:t>="</a:t>
            </a:r>
            <a:r>
              <a:rPr lang="pt-BR" err="1"/>
              <a:t>viewport</a:t>
            </a:r>
            <a:r>
              <a:rPr lang="pt-BR"/>
              <a:t>" </a:t>
            </a:r>
            <a:r>
              <a:rPr lang="pt-BR" i="1" err="1"/>
              <a:t>content</a:t>
            </a:r>
            <a:r>
              <a:rPr lang="pt-BR"/>
              <a:t>="</a:t>
            </a:r>
            <a:r>
              <a:rPr lang="pt-BR" err="1"/>
              <a:t>width</a:t>
            </a:r>
            <a:r>
              <a:rPr lang="pt-BR"/>
              <a:t>=</a:t>
            </a:r>
            <a:r>
              <a:rPr lang="pt-BR" err="1"/>
              <a:t>device-width</a:t>
            </a:r>
            <a:r>
              <a:rPr lang="pt-BR"/>
              <a:t>, </a:t>
            </a:r>
            <a:r>
              <a:rPr lang="pt-BR" err="1"/>
              <a:t>initial-scale</a:t>
            </a:r>
            <a:r>
              <a:rPr lang="pt-BR"/>
              <a:t>=1.0"&gt;</a:t>
            </a:r>
          </a:p>
          <a:p>
            <a:pPr marL="0" indent="0">
              <a:buNone/>
            </a:pPr>
            <a:r>
              <a:rPr lang="pt-BR"/>
              <a:t>&lt;</a:t>
            </a:r>
            <a:r>
              <a:rPr lang="pt-BR" err="1"/>
              <a:t>title</a:t>
            </a:r>
            <a:r>
              <a:rPr lang="pt-BR"/>
              <a:t>&gt;Exemplo Box </a:t>
            </a:r>
            <a:r>
              <a:rPr lang="pt-BR" err="1"/>
              <a:t>Model</a:t>
            </a:r>
            <a:r>
              <a:rPr lang="pt-BR"/>
              <a:t>&lt;/</a:t>
            </a:r>
            <a:r>
              <a:rPr lang="pt-BR" err="1"/>
              <a:t>title</a:t>
            </a:r>
            <a:r>
              <a:rPr lang="pt-BR"/>
              <a:t>&gt;</a:t>
            </a:r>
          </a:p>
          <a:p>
            <a:pPr marL="0" indent="0">
              <a:buNone/>
            </a:pPr>
            <a:r>
              <a:rPr lang="pt-BR"/>
              <a:t>&lt;/</a:t>
            </a:r>
            <a:r>
              <a:rPr lang="pt-BR" err="1"/>
              <a:t>head</a:t>
            </a:r>
            <a:r>
              <a:rPr lang="pt-BR"/>
              <a:t>&gt;</a:t>
            </a:r>
          </a:p>
          <a:p>
            <a:pPr marL="0" indent="0">
              <a:buNone/>
            </a:pPr>
            <a:r>
              <a:rPr lang="pt-BR"/>
              <a:t>&lt;</a:t>
            </a:r>
            <a:r>
              <a:rPr lang="pt-BR" err="1"/>
              <a:t>body</a:t>
            </a:r>
            <a:r>
              <a:rPr lang="pt-BR"/>
              <a:t>&gt;</a:t>
            </a:r>
          </a:p>
          <a:p>
            <a:pPr marL="0" indent="0">
              <a:buNone/>
            </a:pPr>
            <a:br>
              <a:rPr lang="pt-BR"/>
            </a:br>
            <a:r>
              <a:rPr lang="pt-BR"/>
              <a:t>    &lt;h2&gt;</a:t>
            </a:r>
            <a:r>
              <a:rPr lang="pt-BR" err="1"/>
              <a:t>Demonstrating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Box </a:t>
            </a:r>
            <a:r>
              <a:rPr lang="pt-BR" err="1"/>
              <a:t>Model</a:t>
            </a:r>
            <a:r>
              <a:rPr lang="pt-BR"/>
              <a:t>&lt;/h2&gt;</a:t>
            </a:r>
          </a:p>
          <a:p>
            <a:pPr marL="0" indent="0">
              <a:buNone/>
            </a:pPr>
            <a:br>
              <a:rPr lang="pt-BR"/>
            </a:br>
            <a:r>
              <a:rPr lang="pt-BR"/>
              <a:t>    &lt;p&gt;The CSS box </a:t>
            </a:r>
            <a:r>
              <a:rPr lang="pt-BR" err="1"/>
              <a:t>model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essentially</a:t>
            </a:r>
            <a:r>
              <a:rPr lang="pt-BR"/>
              <a:t> a box </a:t>
            </a:r>
            <a:r>
              <a:rPr lang="pt-BR" err="1"/>
              <a:t>that</a:t>
            </a:r>
            <a:r>
              <a:rPr lang="pt-BR"/>
              <a:t> </a:t>
            </a:r>
            <a:r>
              <a:rPr lang="pt-BR" err="1"/>
              <a:t>wraps</a:t>
            </a:r>
            <a:r>
              <a:rPr lang="pt-BR"/>
              <a:t> </a:t>
            </a:r>
            <a:r>
              <a:rPr lang="pt-BR" err="1"/>
              <a:t>around</a:t>
            </a:r>
            <a:r>
              <a:rPr lang="pt-BR"/>
              <a:t> </a:t>
            </a:r>
            <a:r>
              <a:rPr lang="pt-BR" err="1"/>
              <a:t>every</a:t>
            </a:r>
            <a:r>
              <a:rPr lang="pt-BR"/>
              <a:t> HTML </a:t>
            </a:r>
            <a:r>
              <a:rPr lang="pt-BR" err="1"/>
              <a:t>element</a:t>
            </a:r>
            <a:r>
              <a:rPr lang="pt-BR"/>
              <a:t>. It </a:t>
            </a:r>
            <a:r>
              <a:rPr lang="pt-BR" err="1"/>
              <a:t>consists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: </a:t>
            </a:r>
            <a:r>
              <a:rPr lang="pt-BR" err="1"/>
              <a:t>borders</a:t>
            </a:r>
            <a:r>
              <a:rPr lang="pt-BR"/>
              <a:t>, </a:t>
            </a:r>
            <a:r>
              <a:rPr lang="pt-BR" err="1"/>
              <a:t>padding</a:t>
            </a:r>
            <a:r>
              <a:rPr lang="pt-BR"/>
              <a:t>, </a:t>
            </a:r>
            <a:r>
              <a:rPr lang="pt-BR" err="1"/>
              <a:t>margins</a:t>
            </a:r>
            <a:r>
              <a:rPr lang="pt-BR"/>
              <a:t>, </a:t>
            </a:r>
            <a:r>
              <a:rPr lang="pt-BR" err="1"/>
              <a:t>and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actual</a:t>
            </a:r>
            <a:r>
              <a:rPr lang="pt-BR"/>
              <a:t> </a:t>
            </a:r>
            <a:r>
              <a:rPr lang="pt-BR" err="1"/>
              <a:t>content</a:t>
            </a:r>
            <a:r>
              <a:rPr lang="pt-BR"/>
              <a:t>.&lt;/p&gt;</a:t>
            </a:r>
          </a:p>
          <a:p>
            <a:pPr marL="0" indent="0">
              <a:buNone/>
            </a:pPr>
            <a:r>
              <a:rPr lang="pt-BR"/>
              <a:t>    </a:t>
            </a:r>
          </a:p>
          <a:p>
            <a:pPr marL="0" indent="0">
              <a:buNone/>
            </a:pPr>
            <a:r>
              <a:rPr lang="pt-BR"/>
              <a:t>    &lt;</a:t>
            </a:r>
            <a:r>
              <a:rPr lang="pt-BR" err="1"/>
              <a:t>div</a:t>
            </a:r>
            <a:r>
              <a:rPr lang="pt-BR"/>
              <a:t>&gt;</a:t>
            </a:r>
            <a:r>
              <a:rPr lang="pt-BR" err="1"/>
              <a:t>This</a:t>
            </a:r>
            <a:r>
              <a:rPr lang="pt-BR"/>
              <a:t>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is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content</a:t>
            </a:r>
            <a:r>
              <a:rPr lang="pt-BR"/>
              <a:t> </a:t>
            </a: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box. </a:t>
            </a:r>
            <a:r>
              <a:rPr lang="pt-BR" err="1"/>
              <a:t>We</a:t>
            </a:r>
            <a:r>
              <a:rPr lang="pt-BR"/>
              <a:t> </a:t>
            </a:r>
            <a:r>
              <a:rPr lang="pt-BR" err="1"/>
              <a:t>have</a:t>
            </a:r>
            <a:r>
              <a:rPr lang="pt-BR"/>
              <a:t> </a:t>
            </a:r>
            <a:r>
              <a:rPr lang="pt-BR" err="1"/>
              <a:t>added</a:t>
            </a:r>
            <a:r>
              <a:rPr lang="pt-BR"/>
              <a:t> a 50px </a:t>
            </a:r>
            <a:r>
              <a:rPr lang="pt-BR" err="1"/>
              <a:t>padding</a:t>
            </a:r>
            <a:r>
              <a:rPr lang="pt-BR"/>
              <a:t>, 20px </a:t>
            </a:r>
            <a:r>
              <a:rPr lang="pt-BR" err="1"/>
              <a:t>margin</a:t>
            </a:r>
            <a:r>
              <a:rPr lang="pt-BR"/>
              <a:t> </a:t>
            </a:r>
            <a:r>
              <a:rPr lang="pt-BR" err="1"/>
              <a:t>and</a:t>
            </a:r>
            <a:r>
              <a:rPr lang="pt-BR"/>
              <a:t> a 15px </a:t>
            </a:r>
            <a:r>
              <a:rPr lang="pt-BR" err="1"/>
              <a:t>green</a:t>
            </a:r>
            <a:r>
              <a:rPr lang="pt-BR"/>
              <a:t> </a:t>
            </a:r>
            <a:r>
              <a:rPr lang="pt-BR" err="1"/>
              <a:t>border</a:t>
            </a:r>
            <a:r>
              <a:rPr lang="pt-BR"/>
              <a:t>. Ut </a:t>
            </a:r>
            <a:r>
              <a:rPr lang="pt-BR" err="1"/>
              <a:t>enim</a:t>
            </a:r>
            <a:r>
              <a:rPr lang="pt-BR"/>
              <a:t> ad </a:t>
            </a:r>
            <a:r>
              <a:rPr lang="pt-BR" err="1"/>
              <a:t>minim</a:t>
            </a:r>
            <a:r>
              <a:rPr lang="pt-BR"/>
              <a:t> </a:t>
            </a:r>
            <a:r>
              <a:rPr lang="pt-BR" err="1"/>
              <a:t>veniam</a:t>
            </a:r>
            <a:r>
              <a:rPr lang="pt-BR"/>
              <a:t>, quis </a:t>
            </a:r>
            <a:r>
              <a:rPr lang="pt-BR" err="1"/>
              <a:t>nostrud</a:t>
            </a:r>
            <a:r>
              <a:rPr lang="pt-BR"/>
              <a:t> </a:t>
            </a:r>
            <a:r>
              <a:rPr lang="pt-BR" err="1"/>
              <a:t>exercitation</a:t>
            </a:r>
            <a:r>
              <a:rPr lang="pt-BR"/>
              <a:t> </a:t>
            </a:r>
            <a:r>
              <a:rPr lang="pt-BR" err="1"/>
              <a:t>ullamco</a:t>
            </a:r>
            <a:r>
              <a:rPr lang="pt-BR"/>
              <a:t> </a:t>
            </a:r>
            <a:r>
              <a:rPr lang="pt-BR" err="1"/>
              <a:t>laboris</a:t>
            </a:r>
            <a:r>
              <a:rPr lang="pt-BR"/>
              <a:t> </a:t>
            </a:r>
            <a:r>
              <a:rPr lang="pt-BR" err="1"/>
              <a:t>nisi</a:t>
            </a:r>
            <a:r>
              <a:rPr lang="pt-BR"/>
              <a:t> ut </a:t>
            </a:r>
            <a:r>
              <a:rPr lang="pt-BR" err="1"/>
              <a:t>aliquip</a:t>
            </a:r>
            <a:r>
              <a:rPr lang="pt-BR"/>
              <a:t> </a:t>
            </a:r>
            <a:r>
              <a:rPr lang="pt-BR" err="1"/>
              <a:t>ex</a:t>
            </a:r>
            <a:r>
              <a:rPr lang="pt-BR"/>
              <a:t> </a:t>
            </a:r>
            <a:r>
              <a:rPr lang="pt-BR" err="1"/>
              <a:t>ea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</a:t>
            </a:r>
            <a:r>
              <a:rPr lang="pt-BR" err="1"/>
              <a:t>consequat</a:t>
            </a:r>
            <a:r>
              <a:rPr lang="pt-BR"/>
              <a:t>. </a:t>
            </a:r>
            <a:r>
              <a:rPr lang="pt-BR" err="1"/>
              <a:t>Duis</a:t>
            </a:r>
            <a:r>
              <a:rPr lang="pt-BR"/>
              <a:t> </a:t>
            </a:r>
            <a:r>
              <a:rPr lang="pt-BR" err="1"/>
              <a:t>aute</a:t>
            </a:r>
            <a:r>
              <a:rPr lang="pt-BR"/>
              <a:t> </a:t>
            </a:r>
            <a:r>
              <a:rPr lang="pt-BR" err="1"/>
              <a:t>irure</a:t>
            </a:r>
            <a:r>
              <a:rPr lang="pt-BR"/>
              <a:t> </a:t>
            </a:r>
            <a:r>
              <a:rPr lang="pt-BR" err="1"/>
              <a:t>dolor</a:t>
            </a:r>
            <a:r>
              <a:rPr lang="pt-BR"/>
              <a:t> in </a:t>
            </a:r>
            <a:r>
              <a:rPr lang="pt-BR" err="1"/>
              <a:t>reprehenderit</a:t>
            </a:r>
            <a:r>
              <a:rPr lang="pt-BR"/>
              <a:t> in </a:t>
            </a:r>
            <a:r>
              <a:rPr lang="pt-BR" err="1"/>
              <a:t>voluptate</a:t>
            </a:r>
            <a:r>
              <a:rPr lang="pt-BR"/>
              <a:t> </a:t>
            </a:r>
            <a:r>
              <a:rPr lang="pt-BR" err="1"/>
              <a:t>velit</a:t>
            </a:r>
            <a:r>
              <a:rPr lang="pt-BR"/>
              <a:t> esse </a:t>
            </a:r>
            <a:r>
              <a:rPr lang="pt-BR" err="1"/>
              <a:t>cillum</a:t>
            </a:r>
            <a:r>
              <a:rPr lang="pt-BR"/>
              <a:t> </a:t>
            </a:r>
            <a:r>
              <a:rPr lang="pt-BR" err="1"/>
              <a:t>dolore</a:t>
            </a:r>
            <a:r>
              <a:rPr lang="pt-BR"/>
              <a:t> eu </a:t>
            </a:r>
            <a:r>
              <a:rPr lang="pt-BR" err="1"/>
              <a:t>fugiat</a:t>
            </a:r>
            <a:r>
              <a:rPr lang="pt-BR"/>
              <a:t> </a:t>
            </a:r>
            <a:r>
              <a:rPr lang="pt-BR" err="1"/>
              <a:t>nulla</a:t>
            </a:r>
            <a:r>
              <a:rPr lang="pt-BR"/>
              <a:t> </a:t>
            </a:r>
            <a:r>
              <a:rPr lang="pt-BR" err="1"/>
              <a:t>pariatur</a:t>
            </a:r>
            <a:r>
              <a:rPr lang="pt-BR"/>
              <a:t>. </a:t>
            </a:r>
            <a:r>
              <a:rPr lang="pt-BR" err="1"/>
              <a:t>Excepteur</a:t>
            </a:r>
            <a:r>
              <a:rPr lang="pt-BR"/>
              <a:t> </a:t>
            </a:r>
            <a:r>
              <a:rPr lang="pt-BR" err="1"/>
              <a:t>sint</a:t>
            </a:r>
            <a:r>
              <a:rPr lang="pt-BR"/>
              <a:t> </a:t>
            </a:r>
            <a:r>
              <a:rPr lang="pt-BR" err="1"/>
              <a:t>occaecat</a:t>
            </a:r>
            <a:r>
              <a:rPr lang="pt-BR"/>
              <a:t> </a:t>
            </a:r>
            <a:r>
              <a:rPr lang="pt-BR" err="1"/>
              <a:t>cupidatat</a:t>
            </a:r>
            <a:r>
              <a:rPr lang="pt-BR"/>
              <a:t> non </a:t>
            </a:r>
            <a:r>
              <a:rPr lang="pt-BR" err="1"/>
              <a:t>proident</a:t>
            </a:r>
            <a:r>
              <a:rPr lang="pt-BR"/>
              <a:t>, sunt in culpa </a:t>
            </a:r>
            <a:r>
              <a:rPr lang="pt-BR" err="1"/>
              <a:t>qui</a:t>
            </a:r>
            <a:r>
              <a:rPr lang="pt-BR"/>
              <a:t> </a:t>
            </a:r>
            <a:r>
              <a:rPr lang="pt-BR" err="1"/>
              <a:t>officia</a:t>
            </a:r>
            <a:r>
              <a:rPr lang="pt-BR"/>
              <a:t> </a:t>
            </a:r>
            <a:r>
              <a:rPr lang="pt-BR" err="1"/>
              <a:t>deserunt</a:t>
            </a:r>
            <a:r>
              <a:rPr lang="pt-BR"/>
              <a:t> </a:t>
            </a:r>
            <a:r>
              <a:rPr lang="pt-BR" err="1"/>
              <a:t>mollit</a:t>
            </a:r>
            <a:r>
              <a:rPr lang="pt-BR"/>
              <a:t> </a:t>
            </a:r>
            <a:r>
              <a:rPr lang="pt-BR" err="1"/>
              <a:t>anim</a:t>
            </a:r>
            <a:r>
              <a:rPr lang="pt-BR"/>
              <a:t> id est </a:t>
            </a:r>
            <a:r>
              <a:rPr lang="pt-BR" err="1"/>
              <a:t>laborum</a:t>
            </a:r>
            <a:r>
              <a:rPr lang="pt-BR"/>
              <a:t>.&lt;/</a:t>
            </a:r>
            <a:r>
              <a:rPr lang="pt-BR" err="1"/>
              <a:t>div</a:t>
            </a:r>
            <a:r>
              <a:rPr lang="pt-BR"/>
              <a:t>&gt;</a:t>
            </a:r>
          </a:p>
          <a:p>
            <a:pPr marL="0" indent="0">
              <a:buNone/>
            </a:pPr>
            <a:br>
              <a:rPr lang="pt-BR"/>
            </a:br>
            <a:r>
              <a:rPr lang="pt-BR"/>
              <a:t>&lt;/</a:t>
            </a:r>
            <a:r>
              <a:rPr lang="pt-BR" err="1"/>
              <a:t>body</a:t>
            </a:r>
            <a:r>
              <a:rPr lang="pt-BR"/>
              <a:t>&gt;</a:t>
            </a:r>
          </a:p>
          <a:p>
            <a:pPr marL="0" indent="0">
              <a:buNone/>
            </a:pPr>
            <a:r>
              <a:rPr lang="pt-BR"/>
              <a:t>&lt;/</a:t>
            </a:r>
            <a:r>
              <a:rPr lang="pt-BR" err="1"/>
              <a:t>html</a:t>
            </a:r>
            <a:r>
              <a:rPr lang="pt-BR"/>
              <a:t>&gt;</a:t>
            </a:r>
          </a:p>
          <a:p>
            <a:pPr marL="0" indent="0">
              <a:buNone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50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CSS​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185732" y="1032369"/>
            <a:ext cx="10515600" cy="53844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400" b="1">
                <a:solidFill>
                  <a:srgbClr val="FF0000"/>
                </a:solidFill>
              </a:rPr>
              <a:t>Exemplo1: estilo.css</a:t>
            </a:r>
          </a:p>
          <a:p>
            <a:pPr marL="0" indent="0">
              <a:buNone/>
            </a:pPr>
            <a:r>
              <a:rPr lang="pt-BR" err="1"/>
              <a:t>div</a:t>
            </a:r>
            <a:r>
              <a:rPr lang="pt-BR"/>
              <a:t> {</a:t>
            </a:r>
          </a:p>
          <a:p>
            <a:pPr marL="0" indent="0">
              <a:buNone/>
            </a:pPr>
            <a:r>
              <a:rPr lang="pt-BR"/>
              <a:t>  background-color: </a:t>
            </a:r>
            <a:r>
              <a:rPr lang="pt-BR" err="1"/>
              <a:t>lightgrey</a:t>
            </a:r>
            <a:r>
              <a:rPr lang="pt-BR"/>
              <a:t>;</a:t>
            </a:r>
          </a:p>
          <a:p>
            <a:pPr marL="0" indent="0">
              <a:buNone/>
            </a:pPr>
            <a:r>
              <a:rPr lang="pt-BR"/>
              <a:t>  </a:t>
            </a:r>
            <a:r>
              <a:rPr lang="pt-BR" err="1"/>
              <a:t>width</a:t>
            </a:r>
            <a:r>
              <a:rPr lang="pt-BR"/>
              <a:t>: 300px;</a:t>
            </a:r>
          </a:p>
          <a:p>
            <a:pPr marL="0" indent="0">
              <a:buNone/>
            </a:pPr>
            <a:r>
              <a:rPr lang="pt-BR"/>
              <a:t>  </a:t>
            </a:r>
            <a:r>
              <a:rPr lang="pt-BR" err="1"/>
              <a:t>border</a:t>
            </a:r>
            <a:r>
              <a:rPr lang="pt-BR"/>
              <a:t>: 15px </a:t>
            </a:r>
            <a:r>
              <a:rPr lang="pt-BR" err="1"/>
              <a:t>solid</a:t>
            </a:r>
            <a:r>
              <a:rPr lang="pt-BR"/>
              <a:t> </a:t>
            </a:r>
            <a:r>
              <a:rPr lang="pt-BR" err="1"/>
              <a:t>green</a:t>
            </a:r>
            <a:r>
              <a:rPr lang="pt-BR"/>
              <a:t>;</a:t>
            </a:r>
          </a:p>
          <a:p>
            <a:pPr marL="0" indent="0">
              <a:buNone/>
            </a:pPr>
            <a:r>
              <a:rPr lang="pt-BR"/>
              <a:t>  </a:t>
            </a:r>
            <a:r>
              <a:rPr lang="pt-BR" err="1"/>
              <a:t>padding</a:t>
            </a:r>
            <a:r>
              <a:rPr lang="pt-BR"/>
              <a:t>: 50px;</a:t>
            </a:r>
          </a:p>
          <a:p>
            <a:pPr marL="0" indent="0">
              <a:buNone/>
            </a:pPr>
            <a:r>
              <a:rPr lang="pt-BR"/>
              <a:t>  </a:t>
            </a:r>
            <a:r>
              <a:rPr lang="pt-BR" err="1"/>
              <a:t>margin</a:t>
            </a:r>
            <a:r>
              <a:rPr lang="pt-BR"/>
              <a:t>: 20px;</a:t>
            </a:r>
          </a:p>
          <a:p>
            <a:pPr marL="0" indent="0">
              <a:buNone/>
            </a:pPr>
            <a:r>
              <a:rPr lang="pt-B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38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2332" y="675942"/>
            <a:ext cx="10515600" cy="896116"/>
          </a:xfrm>
        </p:spPr>
        <p:txBody>
          <a:bodyPr/>
          <a:lstStyle/>
          <a:p>
            <a:pPr algn="ctr"/>
            <a:r>
              <a:rPr lang="pt-BR"/>
              <a:t>CSS​ - </a:t>
            </a:r>
            <a:r>
              <a:rPr lang="pt-BR" err="1"/>
              <a:t>Div</a:t>
            </a:r>
            <a:r>
              <a:rPr lang="pt-BR"/>
              <a:t> No Centro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995232" y="260893"/>
            <a:ext cx="10515600" cy="5549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pt-BR" sz="3400" b="1" dirty="0">
                <a:solidFill>
                  <a:srgbClr val="FF0000"/>
                </a:solidFill>
              </a:rPr>
              <a:t>Exemplo2: index2.html</a:t>
            </a:r>
            <a:endParaRPr lang="pt-BR" sz="3400"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998621" y="1131714"/>
            <a:ext cx="9312166" cy="53553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/>
              <a:t>&lt;!DOCTYPE </a:t>
            </a:r>
            <a:r>
              <a:rPr lang="pt-BR" err="1"/>
              <a:t>html</a:t>
            </a:r>
            <a:r>
              <a:rPr lang="pt-BR"/>
              <a:t>&gt; </a:t>
            </a:r>
          </a:p>
          <a:p>
            <a:r>
              <a:rPr lang="pt-BR"/>
              <a:t>&lt;</a:t>
            </a:r>
            <a:r>
              <a:rPr lang="pt-BR" err="1"/>
              <a:t>html</a:t>
            </a:r>
            <a:r>
              <a:rPr lang="pt-BR"/>
              <a:t> </a:t>
            </a:r>
            <a:r>
              <a:rPr lang="pt-BR" err="1"/>
              <a:t>lang</a:t>
            </a:r>
            <a:r>
              <a:rPr lang="pt-BR"/>
              <a:t>="</a:t>
            </a:r>
            <a:r>
              <a:rPr lang="pt-BR" err="1"/>
              <a:t>en</a:t>
            </a:r>
            <a:r>
              <a:rPr lang="pt-BR"/>
              <a:t>"&gt;</a:t>
            </a:r>
          </a:p>
          <a:p>
            <a:r>
              <a:rPr lang="pt-BR"/>
              <a:t>&lt;</a:t>
            </a:r>
            <a:r>
              <a:rPr lang="pt-BR" err="1"/>
              <a:t>head</a:t>
            </a:r>
            <a:r>
              <a:rPr lang="pt-BR"/>
              <a:t>&gt;</a:t>
            </a:r>
          </a:p>
          <a:p>
            <a:r>
              <a:rPr lang="pt-BR"/>
              <a:t>    &lt;meta </a:t>
            </a:r>
            <a:r>
              <a:rPr lang="pt-BR" err="1"/>
              <a:t>charset</a:t>
            </a:r>
            <a:r>
              <a:rPr lang="pt-BR"/>
              <a:t>="UTF-8"&gt;</a:t>
            </a:r>
          </a:p>
          <a:p>
            <a:r>
              <a:rPr lang="pt-BR"/>
              <a:t>    &lt;meta </a:t>
            </a:r>
            <a:r>
              <a:rPr lang="pt-BR" err="1"/>
              <a:t>name</a:t>
            </a:r>
            <a:r>
              <a:rPr lang="pt-BR"/>
              <a:t>="</a:t>
            </a:r>
            <a:r>
              <a:rPr lang="pt-BR" err="1"/>
              <a:t>viewport</a:t>
            </a:r>
            <a:r>
              <a:rPr lang="pt-BR"/>
              <a:t>" </a:t>
            </a:r>
            <a:r>
              <a:rPr lang="pt-BR" err="1"/>
              <a:t>content</a:t>
            </a:r>
            <a:r>
              <a:rPr lang="pt-BR"/>
              <a:t>="</a:t>
            </a:r>
            <a:r>
              <a:rPr lang="pt-BR" err="1"/>
              <a:t>width</a:t>
            </a:r>
            <a:r>
              <a:rPr lang="pt-BR"/>
              <a:t>=device-</a:t>
            </a:r>
            <a:r>
              <a:rPr lang="pt-BR" err="1"/>
              <a:t>width</a:t>
            </a:r>
            <a:r>
              <a:rPr lang="pt-BR"/>
              <a:t>, </a:t>
            </a:r>
            <a:r>
              <a:rPr lang="pt-BR" err="1"/>
              <a:t>initial-scale</a:t>
            </a:r>
            <a:r>
              <a:rPr lang="pt-BR"/>
              <a:t>=1.0"&gt;</a:t>
            </a:r>
          </a:p>
          <a:p>
            <a:endParaRPr lang="pt-BR"/>
          </a:p>
          <a:p>
            <a:r>
              <a:rPr lang="pt-BR"/>
              <a:t>    &lt;link </a:t>
            </a:r>
            <a:r>
              <a:rPr lang="pt-BR" err="1"/>
              <a:t>rel</a:t>
            </a:r>
            <a:r>
              <a:rPr lang="pt-BR"/>
              <a:t>="</a:t>
            </a:r>
            <a:r>
              <a:rPr lang="pt-BR" err="1"/>
              <a:t>stylesheet</a:t>
            </a:r>
            <a:r>
              <a:rPr lang="pt-BR"/>
              <a:t>"   </a:t>
            </a:r>
            <a:r>
              <a:rPr lang="pt-BR" err="1"/>
              <a:t>href</a:t>
            </a:r>
            <a:r>
              <a:rPr lang="pt-BR"/>
              <a:t>="</a:t>
            </a:r>
            <a:r>
              <a:rPr lang="pt-BR" err="1"/>
              <a:t>css</a:t>
            </a:r>
            <a:r>
              <a:rPr lang="pt-BR"/>
              <a:t>/estilo2.css"&gt;</a:t>
            </a:r>
          </a:p>
          <a:p>
            <a:endParaRPr lang="pt-BR"/>
          </a:p>
          <a:p>
            <a:r>
              <a:rPr lang="pt-BR"/>
              <a:t>    &lt;</a:t>
            </a:r>
            <a:r>
              <a:rPr lang="pt-BR" err="1"/>
              <a:t>title</a:t>
            </a:r>
            <a:r>
              <a:rPr lang="pt-BR"/>
              <a:t>&gt;Exemplo 2 </a:t>
            </a:r>
            <a:r>
              <a:rPr lang="pt-BR" err="1"/>
              <a:t>Divs</a:t>
            </a:r>
            <a:r>
              <a:rPr lang="pt-BR"/>
              <a:t>&lt;/</a:t>
            </a:r>
            <a:r>
              <a:rPr lang="pt-BR" err="1"/>
              <a:t>title</a:t>
            </a:r>
            <a:r>
              <a:rPr lang="pt-BR"/>
              <a:t>&gt;</a:t>
            </a:r>
          </a:p>
          <a:p>
            <a:r>
              <a:rPr lang="pt-BR"/>
              <a:t>&lt;/</a:t>
            </a:r>
            <a:r>
              <a:rPr lang="pt-BR" err="1"/>
              <a:t>head</a:t>
            </a:r>
            <a:r>
              <a:rPr lang="pt-BR"/>
              <a:t>&gt;</a:t>
            </a:r>
          </a:p>
          <a:p>
            <a:r>
              <a:rPr lang="pt-BR"/>
              <a:t>&lt;body&gt;</a:t>
            </a:r>
          </a:p>
          <a:p>
            <a:endParaRPr lang="pt-BR"/>
          </a:p>
          <a:p>
            <a:r>
              <a:rPr lang="pt-BR">
                <a:cs typeface="Calibri" panose="020F0502020204030204"/>
              </a:rPr>
              <a:t>    &lt;</a:t>
            </a:r>
            <a:r>
              <a:rPr lang="pt-BR" err="1">
                <a:cs typeface="Calibri"/>
              </a:rPr>
              <a:t>div</a:t>
            </a:r>
            <a:r>
              <a:rPr lang="pt-BR">
                <a:cs typeface="Calibri"/>
              </a:rPr>
              <a:t> id="container"&gt;    </a:t>
            </a:r>
            <a:endParaRPr lang="pt-BR"/>
          </a:p>
          <a:p>
            <a:r>
              <a:rPr lang="pt-BR">
                <a:cs typeface="Calibri"/>
              </a:rPr>
              <a:t>                &lt;</a:t>
            </a:r>
            <a:r>
              <a:rPr lang="pt-BR" err="1">
                <a:cs typeface="Calibri"/>
              </a:rPr>
              <a:t>div</a:t>
            </a:r>
            <a:r>
              <a:rPr lang="pt-BR">
                <a:cs typeface="Calibri"/>
              </a:rPr>
              <a:t> </a:t>
            </a:r>
            <a:r>
              <a:rPr lang="pt-BR" err="1">
                <a:cs typeface="Calibri"/>
              </a:rPr>
              <a:t>class</a:t>
            </a:r>
            <a:r>
              <a:rPr lang="pt-BR">
                <a:cs typeface="Calibri"/>
              </a:rPr>
              <a:t>="</a:t>
            </a:r>
            <a:r>
              <a:rPr lang="pt-BR" err="1">
                <a:cs typeface="Calibri"/>
              </a:rPr>
              <a:t>conteudo</a:t>
            </a:r>
            <a:r>
              <a:rPr lang="pt-BR">
                <a:cs typeface="Calibri"/>
              </a:rPr>
              <a:t>"&gt;</a:t>
            </a:r>
            <a:endParaRPr lang="pt-BR"/>
          </a:p>
          <a:p>
            <a:r>
              <a:rPr lang="pt-BR">
                <a:cs typeface="Calibri"/>
              </a:rPr>
              <a:t>                    &lt;h1&gt;Texto&lt;/h1&gt;</a:t>
            </a:r>
            <a:endParaRPr lang="pt-BR"/>
          </a:p>
          <a:p>
            <a:r>
              <a:rPr lang="pt-BR">
                <a:cs typeface="Calibri"/>
              </a:rPr>
              <a:t>                &lt;/</a:t>
            </a:r>
            <a:r>
              <a:rPr lang="pt-BR" err="1">
                <a:cs typeface="Calibri"/>
              </a:rPr>
              <a:t>div</a:t>
            </a:r>
            <a:r>
              <a:rPr lang="pt-BR">
                <a:cs typeface="Calibri"/>
              </a:rPr>
              <a:t>&gt;   </a:t>
            </a:r>
            <a:endParaRPr lang="pt-BR"/>
          </a:p>
          <a:p>
            <a:r>
              <a:rPr lang="pt-BR">
                <a:cs typeface="Calibri"/>
              </a:rPr>
              <a:t>            &lt;/</a:t>
            </a:r>
            <a:r>
              <a:rPr lang="pt-BR" err="1">
                <a:cs typeface="Calibri"/>
              </a:rPr>
              <a:t>div</a:t>
            </a:r>
            <a:r>
              <a:rPr lang="pt-BR">
                <a:cs typeface="Calibri"/>
              </a:rPr>
              <a:t>&gt;</a:t>
            </a:r>
            <a:endParaRPr lang="pt-BR"/>
          </a:p>
          <a:p>
            <a:r>
              <a:rPr lang="pt-BR"/>
              <a:t>&lt;/body&gt;</a:t>
            </a:r>
          </a:p>
          <a:p>
            <a:r>
              <a:rPr lang="pt-BR"/>
              <a:t>&lt;/</a:t>
            </a:r>
            <a:r>
              <a:rPr lang="pt-BR" err="1"/>
              <a:t>html</a:t>
            </a:r>
            <a:r>
              <a:rPr lang="pt-BR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436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3303" y="147145"/>
            <a:ext cx="10515600" cy="1178418"/>
          </a:xfrm>
        </p:spPr>
        <p:txBody>
          <a:bodyPr>
            <a:normAutofit/>
          </a:bodyPr>
          <a:lstStyle/>
          <a:p>
            <a:pPr algn="ctr"/>
            <a:r>
              <a:rPr lang="pt-BR"/>
              <a:t>CSS​ - </a:t>
            </a:r>
            <a:r>
              <a:rPr lang="pt-BR" err="1"/>
              <a:t>Div</a:t>
            </a:r>
            <a:r>
              <a:rPr lang="pt-BR"/>
              <a:t> no centro</a:t>
            </a:r>
            <a:br>
              <a:rPr lang="pt-BR"/>
            </a:br>
            <a:r>
              <a:rPr lang="pt-BR" sz="3100" b="1">
                <a:solidFill>
                  <a:srgbClr val="FF0000"/>
                </a:solidFill>
              </a:rPr>
              <a:t>         Exemplo2:estilo2.css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28342" y="1080226"/>
            <a:ext cx="11242941" cy="5711044"/>
          </a:xfrm>
        </p:spPr>
        <p:txBody>
          <a:bodyPr vert="horz" lIns="91440" tIns="45720" rIns="91440" bIns="45720" numCol="3" rtlCol="0" anchor="t">
            <a:normAutofit fontScale="77500" lnSpcReduction="20000"/>
          </a:bodyPr>
          <a:lstStyle/>
          <a:p>
            <a:pPr marL="0" indent="0" algn="ctr">
              <a:buNone/>
            </a:pPr>
            <a:endParaRPr lang="pt-BR" sz="34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/>
              <a:t>*{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margin</a:t>
            </a:r>
            <a:r>
              <a:rPr lang="pt-BR"/>
              <a:t>: 0px;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padding</a:t>
            </a:r>
            <a:r>
              <a:rPr lang="pt-BR"/>
              <a:t>: 0px;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border</a:t>
            </a:r>
            <a:r>
              <a:rPr lang="pt-BR"/>
              <a:t>: 0px;                              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}</a:t>
            </a:r>
          </a:p>
          <a:p>
            <a:pPr marL="0" indent="0">
              <a:buNone/>
            </a:pPr>
            <a:r>
              <a:rPr lang="pt-BR"/>
              <a:t>body{                                               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background-color: black;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}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r>
              <a:rPr lang="pt-BR" i="1"/>
              <a:t>#container</a:t>
            </a:r>
            <a:r>
              <a:rPr lang="pt-BR"/>
              <a:t>{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background-color: #ccc;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</a:t>
            </a:r>
            <a:r>
              <a:rPr lang="pt-BR" err="1"/>
              <a:t>width</a:t>
            </a:r>
            <a:r>
              <a:rPr lang="pt-BR"/>
              <a:t>: 100%;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</a:t>
            </a:r>
            <a:r>
              <a:rPr lang="pt-BR" err="1"/>
              <a:t>height</a:t>
            </a:r>
            <a:r>
              <a:rPr lang="pt-BR"/>
              <a:t>: 100vh;  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display: </a:t>
            </a:r>
            <a:r>
              <a:rPr lang="pt-BR" err="1"/>
              <a:t>flex</a:t>
            </a:r>
            <a:r>
              <a:rPr lang="pt-BR"/>
              <a:t>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</a:t>
            </a:r>
            <a:r>
              <a:rPr lang="pt-BR" err="1"/>
              <a:t>flex-direction</a:t>
            </a:r>
            <a:r>
              <a:rPr lang="pt-BR"/>
              <a:t>: </a:t>
            </a:r>
            <a:r>
              <a:rPr lang="pt-BR" err="1"/>
              <a:t>row</a:t>
            </a:r>
            <a:r>
              <a:rPr lang="pt-BR"/>
              <a:t>;</a:t>
            </a:r>
            <a:br>
              <a:rPr lang="pt-BR"/>
            </a:br>
            <a:r>
              <a:rPr lang="pt-BR"/>
              <a:t> </a:t>
            </a:r>
            <a:r>
              <a:rPr lang="pt-BR" err="1"/>
              <a:t>align-items:center</a:t>
            </a:r>
            <a:r>
              <a:rPr lang="pt-BR"/>
              <a:t>; 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 err="1"/>
              <a:t>justify-content:center</a:t>
            </a:r>
            <a:r>
              <a:rPr lang="pt-BR"/>
              <a:t>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br>
              <a:rPr lang="pt-BR"/>
            </a:br>
            <a:r>
              <a:rPr lang="pt-BR"/>
              <a:t>}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br>
              <a:rPr lang="pt-BR"/>
            </a:br>
            <a:endParaRPr lang="pt-BR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endParaRPr lang="pt-BR" i="1"/>
          </a:p>
          <a:p>
            <a:pPr marL="0" indent="0">
              <a:buNone/>
            </a:pPr>
            <a:r>
              <a:rPr lang="pt-BR" i="1"/>
              <a:t>.</a:t>
            </a:r>
            <a:r>
              <a:rPr lang="pt-BR" i="1" err="1"/>
              <a:t>conteudo</a:t>
            </a:r>
            <a:r>
              <a:rPr lang="pt-BR"/>
              <a:t>{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width</a:t>
            </a:r>
            <a:r>
              <a:rPr lang="pt-BR"/>
              <a:t>: 50%;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height</a:t>
            </a:r>
            <a:r>
              <a:rPr lang="pt-BR"/>
              <a:t>: 50%;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background-color:  </a:t>
            </a:r>
            <a:r>
              <a:rPr lang="pt-BR" err="1"/>
              <a:t>blueviolet</a:t>
            </a:r>
            <a:r>
              <a:rPr lang="pt-BR"/>
              <a:t>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border</a:t>
            </a:r>
            <a:r>
              <a:rPr lang="pt-BR"/>
              <a:t>: 1px </a:t>
            </a:r>
            <a:r>
              <a:rPr lang="pt-BR" err="1"/>
              <a:t>solid</a:t>
            </a:r>
            <a:r>
              <a:rPr lang="pt-BR"/>
              <a:t> black;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display: </a:t>
            </a:r>
            <a:r>
              <a:rPr lang="pt-BR" err="1"/>
              <a:t>flex</a:t>
            </a:r>
            <a:r>
              <a:rPr lang="pt-BR"/>
              <a:t>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align-items</a:t>
            </a:r>
            <a:r>
              <a:rPr lang="pt-BR"/>
              <a:t>: center;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   </a:t>
            </a:r>
            <a:r>
              <a:rPr lang="pt-BR" err="1"/>
              <a:t>justify-content</a:t>
            </a:r>
            <a:r>
              <a:rPr lang="pt-BR"/>
              <a:t>: center;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BR"/>
              <a:t> box-</a:t>
            </a:r>
            <a:r>
              <a:rPr lang="pt-BR" err="1"/>
              <a:t>sizing</a:t>
            </a:r>
            <a:r>
              <a:rPr lang="pt-BR"/>
              <a:t>: </a:t>
            </a:r>
            <a:r>
              <a:rPr lang="pt-BR" err="1"/>
              <a:t>border</a:t>
            </a:r>
            <a:r>
              <a:rPr lang="pt-BR"/>
              <a:t>-box;</a:t>
            </a:r>
            <a:endParaRPr lang="pt-BR">
              <a:ea typeface="Calibri"/>
              <a:cs typeface="Calibri"/>
            </a:endParaRPr>
          </a:p>
          <a:p>
            <a:pPr marL="0" indent="0">
              <a:buNone/>
            </a:pPr>
            <a:br>
              <a:rPr lang="pt-BR"/>
            </a:br>
            <a:r>
              <a:rPr lang="pt-BR"/>
              <a:t>}</a:t>
            </a:r>
            <a:endParaRPr lang="pt-BR">
              <a:ea typeface="Calibri"/>
              <a:cs typeface="Calibri"/>
            </a:endParaRPr>
          </a:p>
          <a:p>
            <a:pPr marL="0" indent="0" algn="ctr">
              <a:buNone/>
            </a:pPr>
            <a:endParaRPr lang="pt-BR" sz="3400" b="1">
              <a:solidFill>
                <a:srgbClr val="FF0000"/>
              </a:solidFill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3888827" y="1620181"/>
            <a:ext cx="31531" cy="5171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7814441" y="1665258"/>
            <a:ext cx="21021" cy="505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60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AA505-D0BD-B0F4-57BB-945AE84C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A6102-85F1-1D54-DC34-3F553DD17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9505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6B6820-4416-4A22-B8D2-DE3FFE0517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773D25-B392-4606-BD11-6ABDC2E76FDE}">
  <ds:schemaRefs>
    <ds:schemaRef ds:uri="e1b5fafe-7b14-443c-b645-cb12302d210a"/>
    <ds:schemaRef ds:uri="ff9ea732-a098-4257-a054-af1a10a0b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 - Div No Centro</vt:lpstr>
      <vt:lpstr>CSS​ - Div no centro          Exemplo2:estilo2.css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CSS​</dc:title>
  <dc:creator>userlocal</dc:creator>
  <cp:revision>7</cp:revision>
  <dcterms:created xsi:type="dcterms:W3CDTF">2024-04-09T13:13:23Z</dcterms:created>
  <dcterms:modified xsi:type="dcterms:W3CDTF">2024-04-26T12:46:02Z</dcterms:modified>
</cp:coreProperties>
</file>