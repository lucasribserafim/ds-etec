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9" r:id="rId11"/>
    <p:sldId id="262" r:id="rId12"/>
    <p:sldId id="268" r:id="rId13"/>
    <p:sldId id="264" r:id="rId14"/>
    <p:sldId id="263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2893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318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2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10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22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91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297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2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81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09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00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F2C69-42AF-4F84-A5E4-8CAD91C40312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2C8FA-9AA4-4011-9C19-D66C68BFC2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3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CSS​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base"/>
            <a:r>
              <a:rPr lang="pt-BR" dirty="0" err="1"/>
              <a:t>Cascading</a:t>
            </a:r>
            <a:r>
              <a:rPr lang="pt-BR" dirty="0"/>
              <a:t> </a:t>
            </a:r>
            <a:r>
              <a:rPr lang="pt-BR" dirty="0" err="1"/>
              <a:t>Style</a:t>
            </a:r>
            <a:r>
              <a:rPr lang="pt-BR" dirty="0"/>
              <a:t> </a:t>
            </a:r>
            <a:r>
              <a:rPr lang="pt-BR" dirty="0" err="1"/>
              <a:t>Sheetes</a:t>
            </a:r>
            <a:r>
              <a:rPr lang="pt-BR" dirty="0"/>
              <a:t> </a:t>
            </a:r>
            <a:r>
              <a:rPr lang="en-US" dirty="0"/>
              <a:t>​</a:t>
            </a:r>
          </a:p>
          <a:p>
            <a:pPr fontAlgn="base"/>
            <a:r>
              <a:rPr lang="pt-BR" dirty="0"/>
              <a:t>(Folhas de Estilo em Cascata)</a:t>
            </a:r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385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fontAlgn="base">
              <a:buNone/>
            </a:pPr>
            <a:r>
              <a:rPr lang="pt-BR" dirty="0">
                <a:solidFill>
                  <a:srgbClr val="FF0000"/>
                </a:solidFill>
              </a:rPr>
              <a:t>Divisões (DIV)</a:t>
            </a:r>
            <a:r>
              <a:rPr lang="en-US" dirty="0">
                <a:solidFill>
                  <a:srgbClr val="FF0000"/>
                </a:solidFill>
              </a:rPr>
              <a:t>​</a:t>
            </a:r>
          </a:p>
          <a:p>
            <a:pPr marL="0" indent="0" fontAlgn="base">
              <a:buNone/>
            </a:pPr>
            <a:endParaRPr lang="pt-BR" dirty="0"/>
          </a:p>
          <a:p>
            <a:pPr fontAlgn="base"/>
            <a:r>
              <a:rPr lang="pt-BR" dirty="0"/>
              <a:t>A </a:t>
            </a:r>
            <a:r>
              <a:rPr lang="pt-BR" dirty="0" err="1"/>
              <a:t>tag</a:t>
            </a:r>
            <a:r>
              <a:rPr lang="pt-BR" dirty="0"/>
              <a:t> &lt;</a:t>
            </a:r>
            <a:r>
              <a:rPr lang="pt-BR" dirty="0" err="1"/>
              <a:t>div</a:t>
            </a:r>
            <a:r>
              <a:rPr lang="pt-BR" dirty="0"/>
              <a:t>&gt; é um elemento HTML que serve como um contêiner genérico, podendo receber diferentes tipos de conteúdos (texto, imagens etc.)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pt-BR" dirty="0"/>
              <a:t>​</a:t>
            </a:r>
          </a:p>
          <a:p>
            <a:pPr fontAlgn="base"/>
            <a:r>
              <a:rPr lang="pt-BR" dirty="0"/>
              <a:t>A &lt;</a:t>
            </a:r>
            <a:r>
              <a:rPr lang="pt-BR" dirty="0" err="1"/>
              <a:t>div</a:t>
            </a:r>
            <a:r>
              <a:rPr lang="pt-BR" dirty="0"/>
              <a:t>&gt; é um elemento bastante utilizado para a construção de layouts de páginas web e pode facilmente ser estilizado com o uso do CSS.</a:t>
            </a:r>
            <a:r>
              <a:rPr lang="en-US" dirty="0"/>
              <a:t>​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70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18896"/>
            <a:ext cx="10515600" cy="5439103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pt-BR" dirty="0">
                <a:solidFill>
                  <a:srgbClr val="FF0000"/>
                </a:solidFill>
              </a:rPr>
              <a:t>TAG &lt;DIV&gt;&lt;/DIV&gt;</a:t>
            </a:r>
            <a:r>
              <a:rPr lang="en-US" dirty="0" smtClean="0">
                <a:solidFill>
                  <a:srgbClr val="FF0000"/>
                </a:solidFill>
              </a:rPr>
              <a:t>​</a:t>
            </a:r>
          </a:p>
          <a:p>
            <a:pPr marL="0" indent="0" algn="ctr" fontAlgn="base">
              <a:buNone/>
            </a:pP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pt-BR" dirty="0"/>
              <a:t>A </a:t>
            </a:r>
            <a:r>
              <a:rPr lang="pt-BR" dirty="0" err="1"/>
              <a:t>tag</a:t>
            </a:r>
            <a:r>
              <a:rPr lang="pt-BR" dirty="0"/>
              <a:t> &lt;</a:t>
            </a:r>
            <a:r>
              <a:rPr lang="pt-BR" dirty="0" err="1"/>
              <a:t>div</a:t>
            </a:r>
            <a:r>
              <a:rPr lang="pt-BR" dirty="0"/>
              <a:t>&gt; é utilizada para agrupar e delimitar conteúdos e para isso esses conteúdos devem ser declarados entre a </a:t>
            </a:r>
            <a:r>
              <a:rPr lang="pt-BR" dirty="0" err="1"/>
              <a:t>tag</a:t>
            </a:r>
            <a:r>
              <a:rPr lang="pt-BR" dirty="0"/>
              <a:t> de início e a </a:t>
            </a:r>
            <a:r>
              <a:rPr lang="pt-BR" dirty="0" err="1"/>
              <a:t>tag</a:t>
            </a:r>
            <a:r>
              <a:rPr lang="pt-BR" dirty="0"/>
              <a:t> de fechamento (&lt;</a:t>
            </a:r>
            <a:r>
              <a:rPr lang="pt-BR" dirty="0" err="1"/>
              <a:t>div</a:t>
            </a:r>
            <a:r>
              <a:rPr lang="pt-BR" dirty="0"/>
              <a:t>&gt;&lt;/</a:t>
            </a:r>
            <a:r>
              <a:rPr lang="pt-BR" dirty="0" err="1"/>
              <a:t>div</a:t>
            </a:r>
            <a:r>
              <a:rPr lang="pt-BR" dirty="0"/>
              <a:t>&gt;).</a:t>
            </a:r>
            <a:r>
              <a:rPr lang="en-US" dirty="0"/>
              <a:t>​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 </a:t>
            </a:r>
            <a:r>
              <a:rPr lang="pt-BR" dirty="0" err="1"/>
              <a:t>tag</a:t>
            </a:r>
            <a:r>
              <a:rPr lang="pt-BR" dirty="0"/>
              <a:t> &lt;</a:t>
            </a:r>
            <a:r>
              <a:rPr lang="pt-BR" dirty="0" err="1"/>
              <a:t>div</a:t>
            </a:r>
            <a:r>
              <a:rPr lang="pt-BR" dirty="0"/>
              <a:t>&gt; agrupa todo conteúdo que é adicionado a ela, mas não possui um estilo visual por padrão.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pt-BR" dirty="0"/>
          </a:p>
          <a:p>
            <a:pPr fontAlgn="base"/>
            <a:r>
              <a:rPr lang="pt-BR" dirty="0"/>
              <a:t>Entretanto, é possível utilizar o CSS para tornar a &lt;</a:t>
            </a:r>
            <a:r>
              <a:rPr lang="pt-BR" dirty="0" err="1"/>
              <a:t>div</a:t>
            </a:r>
            <a:r>
              <a:rPr lang="pt-BR" dirty="0"/>
              <a:t>&gt; visível, além de aplicar novos estilos tais como: cores de fundo, cor de fonte, estilo de fonte e posicionamento dos elementos internos da &lt;</a:t>
            </a:r>
            <a:r>
              <a:rPr lang="pt-BR" dirty="0" err="1"/>
              <a:t>div</a:t>
            </a:r>
            <a:r>
              <a:rPr lang="pt-BR" dirty="0"/>
              <a:t>&gt;</a:t>
            </a:r>
            <a:r>
              <a:rPr lang="en-US" dirty="0"/>
              <a:t>​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127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18896"/>
            <a:ext cx="10515600" cy="54391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pt-BR" dirty="0" err="1" smtClean="0">
                <a:solidFill>
                  <a:srgbClr val="FF0000"/>
                </a:solidFill>
              </a:rPr>
              <a:t>Border</a:t>
            </a:r>
            <a:r>
              <a:rPr lang="pt-BR" dirty="0" smtClean="0">
                <a:solidFill>
                  <a:srgbClr val="FF0000"/>
                </a:solidFill>
              </a:rPr>
              <a:t> Box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/>
              <a:t>Em CSS, o termo </a:t>
            </a:r>
            <a:r>
              <a:rPr lang="pt-BR" dirty="0" smtClean="0"/>
              <a:t>(</a:t>
            </a:r>
            <a:r>
              <a:rPr lang="pt-BR" dirty="0" err="1" smtClean="0"/>
              <a:t>border</a:t>
            </a:r>
            <a:r>
              <a:rPr lang="pt-BR" dirty="0" smtClean="0"/>
              <a:t> box) “modelo </a:t>
            </a:r>
            <a:r>
              <a:rPr lang="pt-BR" dirty="0"/>
              <a:t>de caixa” é usado quando se fala em design e layout.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 </a:t>
            </a:r>
            <a:r>
              <a:rPr lang="pt-BR" dirty="0"/>
              <a:t>modelo de caixa CSS é essencialmente uma caixa que envolve cada elemento HTML. Consiste em: conteúdo, preenchimento, bordas e margens. A imagem abaixo ilustra o modelo de caixa: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309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18896"/>
            <a:ext cx="10515600" cy="54391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pt-BR" dirty="0" err="1" smtClean="0">
                <a:solidFill>
                  <a:srgbClr val="FF0000"/>
                </a:solidFill>
              </a:rPr>
              <a:t>Border</a:t>
            </a:r>
            <a:r>
              <a:rPr lang="pt-BR" dirty="0" smtClean="0">
                <a:solidFill>
                  <a:srgbClr val="FF0000"/>
                </a:solidFill>
              </a:rPr>
              <a:t> Box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66" y="2586734"/>
            <a:ext cx="5076496" cy="404381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02" y="2675064"/>
            <a:ext cx="4401207" cy="418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7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pt-BR" dirty="0" err="1" smtClean="0">
                <a:solidFill>
                  <a:srgbClr val="FF0000"/>
                </a:solidFill>
              </a:rPr>
              <a:t>Border</a:t>
            </a:r>
            <a:r>
              <a:rPr lang="pt-BR" dirty="0" smtClean="0">
                <a:solidFill>
                  <a:srgbClr val="FF0000"/>
                </a:solidFill>
              </a:rPr>
              <a:t> Box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/>
              <a:t>Explicação das diferentes partes:</a:t>
            </a:r>
          </a:p>
          <a:p>
            <a:r>
              <a:rPr lang="pt-BR" b="1" dirty="0"/>
              <a:t>Conteúdo</a:t>
            </a:r>
            <a:r>
              <a:rPr lang="pt-BR" dirty="0"/>
              <a:t> - O conteúdo da caixa, onde aparecem textos e </a:t>
            </a:r>
            <a:r>
              <a:rPr lang="pt-BR" dirty="0" smtClean="0"/>
              <a:t>imagens.</a:t>
            </a:r>
            <a:endParaRPr lang="pt-BR" dirty="0"/>
          </a:p>
          <a:p>
            <a:r>
              <a:rPr lang="pt-BR" b="1" dirty="0"/>
              <a:t>Preenchimento</a:t>
            </a:r>
            <a:r>
              <a:rPr lang="pt-BR" dirty="0"/>
              <a:t> – Limpa uma área ao redor do conteúdo. O preenchimento é transparente</a:t>
            </a:r>
          </a:p>
          <a:p>
            <a:r>
              <a:rPr lang="pt-BR" b="1" dirty="0"/>
              <a:t>Borda</a:t>
            </a:r>
            <a:r>
              <a:rPr lang="pt-BR" dirty="0"/>
              <a:t> - Uma borda que circunda o preenchimento e o </a:t>
            </a:r>
            <a:r>
              <a:rPr lang="pt-BR" dirty="0" smtClean="0"/>
              <a:t>conteúdo.</a:t>
            </a:r>
            <a:endParaRPr lang="pt-BR" dirty="0"/>
          </a:p>
          <a:p>
            <a:r>
              <a:rPr lang="pt-BR" b="1" dirty="0"/>
              <a:t>Margem</a:t>
            </a:r>
            <a:r>
              <a:rPr lang="pt-BR" dirty="0"/>
              <a:t> - Limpa uma área fora da fronteira. A margem é </a:t>
            </a:r>
            <a:r>
              <a:rPr lang="pt-BR" dirty="0" smtClean="0"/>
              <a:t>transparente.</a:t>
            </a: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err="1" smtClean="0">
                <a:solidFill>
                  <a:srgbClr val="FF0000"/>
                </a:solidFill>
              </a:rPr>
              <a:t>obs:O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modelo de caixa nos permite adicionar uma borda ao redor dos elementos e definir o espaço entre os elementos. 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911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Propriedade</a:t>
            </a:r>
            <a:r>
              <a:rPr lang="en-US" dirty="0" smtClean="0">
                <a:solidFill>
                  <a:srgbClr val="FF0000"/>
                </a:solidFill>
              </a:rPr>
              <a:t>? </a:t>
            </a:r>
            <a:r>
              <a:rPr lang="en-US" dirty="0" err="1" smtClean="0">
                <a:solidFill>
                  <a:srgbClr val="FF0000"/>
                </a:solidFill>
              </a:rPr>
              <a:t>box-sizing:border-box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 algn="ctr" fontAlgn="base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/>
              <a:t>Por padrão, quando atribuímos valores de </a:t>
            </a:r>
            <a:r>
              <a:rPr lang="pt-BR" dirty="0" err="1"/>
              <a:t>border</a:t>
            </a:r>
            <a:r>
              <a:rPr lang="pt-BR" dirty="0"/>
              <a:t> e </a:t>
            </a:r>
            <a:r>
              <a:rPr lang="pt-BR" dirty="0" err="1"/>
              <a:t>padding</a:t>
            </a:r>
            <a:r>
              <a:rPr lang="pt-BR" dirty="0"/>
              <a:t> a um elemento, eles são somados à largura e altura, fazendo com que as dimensões totais superem os valores inicialmente esperados.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Utilizando </a:t>
            </a:r>
            <a:r>
              <a:rPr lang="pt-BR" dirty="0"/>
              <a:t>a propriedade box-</a:t>
            </a:r>
            <a:r>
              <a:rPr lang="pt-BR" dirty="0" err="1"/>
              <a:t>sizing</a:t>
            </a:r>
            <a:r>
              <a:rPr lang="pt-BR" dirty="0"/>
              <a:t> do CSS3, podemos fazer com que os valores de </a:t>
            </a:r>
            <a:r>
              <a:rPr lang="pt-BR" dirty="0" err="1"/>
              <a:t>border</a:t>
            </a:r>
            <a:r>
              <a:rPr lang="pt-BR" dirty="0"/>
              <a:t> e </a:t>
            </a:r>
            <a:r>
              <a:rPr lang="pt-BR" dirty="0" err="1"/>
              <a:t>padding</a:t>
            </a:r>
            <a:r>
              <a:rPr lang="pt-BR" dirty="0"/>
              <a:t> sejam incorporados às dimensões originais do elemento, mantendo-o dentro dos limites informados em </a:t>
            </a:r>
            <a:r>
              <a:rPr lang="pt-BR" dirty="0" err="1"/>
              <a:t>width</a:t>
            </a:r>
            <a:r>
              <a:rPr lang="pt-BR" dirty="0"/>
              <a:t> e </a:t>
            </a:r>
            <a:r>
              <a:rPr lang="pt-BR" dirty="0" err="1"/>
              <a:t>height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56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Propriedade</a:t>
            </a:r>
            <a:r>
              <a:rPr lang="en-US" dirty="0" smtClean="0">
                <a:solidFill>
                  <a:srgbClr val="FF0000"/>
                </a:solidFill>
              </a:rPr>
              <a:t>? </a:t>
            </a:r>
            <a:r>
              <a:rPr lang="en-US" dirty="0" err="1" smtClean="0">
                <a:solidFill>
                  <a:srgbClr val="FF0000"/>
                </a:solidFill>
              </a:rPr>
              <a:t>box-sizing:border-box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 algn="ctr" fontAlgn="base">
              <a:buNone/>
            </a:pPr>
            <a:r>
              <a:rPr lang="pt-BR" dirty="0" smtClean="0">
                <a:solidFill>
                  <a:srgbClr val="FF0000"/>
                </a:solidFill>
              </a:rPr>
              <a:t>Exemplo Sintaxe:</a:t>
            </a:r>
          </a:p>
          <a:p>
            <a:pPr marL="0" indent="0" fontAlgn="base">
              <a:buNone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div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{</a:t>
            </a:r>
          </a:p>
          <a:p>
            <a:pPr marL="0" indent="0" fontAlgn="base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width:200px;</a:t>
            </a:r>
          </a:p>
          <a:p>
            <a:pPr marL="0" indent="0" fontAlgn="base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height:200px;</a:t>
            </a:r>
          </a:p>
          <a:p>
            <a:pPr marL="0" indent="0" fontAlgn="base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border:2px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solid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black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  <a:p>
            <a:pPr marL="0" indent="0" fontAlgn="base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padding:10px;</a:t>
            </a:r>
          </a:p>
          <a:p>
            <a:pPr marL="0" indent="0" fontAlgn="base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box-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sizing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border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-box;</a:t>
            </a:r>
          </a:p>
          <a:p>
            <a:pPr marL="0" indent="0" fontAlgn="base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9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7559" y="872358"/>
            <a:ext cx="10786241" cy="578069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Propriedade</a:t>
            </a:r>
            <a:r>
              <a:rPr lang="en-US" dirty="0" smtClean="0">
                <a:solidFill>
                  <a:srgbClr val="FF0000"/>
                </a:solidFill>
              </a:rPr>
              <a:t>? </a:t>
            </a:r>
            <a:r>
              <a:rPr lang="en-US" dirty="0" err="1" smtClean="0">
                <a:solidFill>
                  <a:srgbClr val="FF0000"/>
                </a:solidFill>
              </a:rPr>
              <a:t>box-sizing:border-box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 fontAlgn="base">
              <a:buNone/>
            </a:pPr>
            <a:r>
              <a:rPr lang="pt-BR" dirty="0" smtClean="0">
                <a:solidFill>
                  <a:srgbClr val="FFC000"/>
                </a:solidFill>
              </a:rPr>
              <a:t>Valores:</a:t>
            </a:r>
          </a:p>
          <a:p>
            <a:pPr fontAlgn="base"/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content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-box: o padrão. Os valores de largura e altura aplicam-se apenas ao conteúdo do elemento. O preenchimento e a borda são adicionados na parte externa da caixa.</a:t>
            </a:r>
          </a:p>
          <a:p>
            <a:pPr fontAlgn="base"/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padding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-box: os valores de largura e altura se aplicam ao conteúdo do elemento e ao seu preenchimento. A borda é adicionada na parte externa da caixa. Atualmente, apenas o Firefox suporta o </a:t>
            </a:r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padding-boxvalor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fontAlgn="base"/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border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-box: os valores de largura e altura se aplicam ao conteúdo, preenchimento e borda.</a:t>
            </a:r>
          </a:p>
          <a:p>
            <a:pPr fontAlgn="base"/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inherit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: herda o dimensionamento da caixa do elemento pai.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110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1772" y="1027906"/>
            <a:ext cx="10515600" cy="54391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pt-BR" dirty="0"/>
          </a:p>
          <a:p>
            <a:pPr marL="0" indent="0" algn="ctr" fontAlgn="base">
              <a:buNone/>
            </a:pPr>
            <a:r>
              <a:rPr lang="pt-BR" dirty="0" err="1" smtClean="0">
                <a:solidFill>
                  <a:srgbClr val="FF0000"/>
                </a:solidFill>
              </a:rPr>
              <a:t>Border</a:t>
            </a:r>
            <a:r>
              <a:rPr lang="pt-BR" dirty="0" smtClean="0">
                <a:solidFill>
                  <a:srgbClr val="FF0000"/>
                </a:solidFill>
              </a:rPr>
              <a:t> Box-</a:t>
            </a:r>
            <a:r>
              <a:rPr lang="pt-BR" dirty="0" err="1" smtClean="0">
                <a:solidFill>
                  <a:srgbClr val="FF0000"/>
                </a:solidFill>
              </a:rPr>
              <a:t>Sizing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ctr" fontAlgn="base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5" y="2429148"/>
            <a:ext cx="5886450" cy="393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1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764627" y="1473527"/>
            <a:ext cx="10515600" cy="5384473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pt-BR" sz="3400" b="1" dirty="0" smtClean="0">
                <a:solidFill>
                  <a:srgbClr val="FF0000"/>
                </a:solidFill>
              </a:rPr>
              <a:t>Exemplo1: index.html</a:t>
            </a:r>
          </a:p>
          <a:p>
            <a:pPr marL="0" indent="0">
              <a:buNone/>
            </a:pPr>
            <a:r>
              <a:rPr lang="pt-BR" dirty="0" smtClean="0"/>
              <a:t>&lt;!</a:t>
            </a:r>
            <a:r>
              <a:rPr lang="pt-BR" dirty="0"/>
              <a:t>DOCTYPE </a:t>
            </a:r>
            <a:r>
              <a:rPr lang="pt-BR" i="1" dirty="0" err="1"/>
              <a:t>html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 smtClean="0"/>
              <a:t> &lt;</a:t>
            </a:r>
            <a:r>
              <a:rPr lang="pt-BR" dirty="0" err="1"/>
              <a:t>html</a:t>
            </a:r>
            <a:r>
              <a:rPr lang="pt-BR" dirty="0"/>
              <a:t> </a:t>
            </a:r>
            <a:r>
              <a:rPr lang="pt-BR" i="1" dirty="0" err="1"/>
              <a:t>lang</a:t>
            </a:r>
            <a:r>
              <a:rPr lang="pt-BR" dirty="0"/>
              <a:t>="</a:t>
            </a:r>
            <a:r>
              <a:rPr lang="pt-BR" dirty="0" err="1"/>
              <a:t>en</a:t>
            </a:r>
            <a:r>
              <a:rPr lang="pt-BR" dirty="0"/>
              <a:t>"&gt;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 smtClean="0"/>
              <a:t>&lt;</a:t>
            </a:r>
            <a:r>
              <a:rPr lang="pt-BR" dirty="0"/>
              <a:t>meta </a:t>
            </a:r>
            <a:r>
              <a:rPr lang="pt-BR" i="1" dirty="0" err="1"/>
              <a:t>charset</a:t>
            </a:r>
            <a:r>
              <a:rPr lang="pt-BR" dirty="0"/>
              <a:t>="UTF-8"&gt;</a:t>
            </a:r>
          </a:p>
          <a:p>
            <a:pPr marL="0" indent="0">
              <a:buNone/>
            </a:pPr>
            <a:r>
              <a:rPr lang="pt-BR" dirty="0" smtClean="0"/>
              <a:t>&lt;</a:t>
            </a:r>
            <a:r>
              <a:rPr lang="pt-BR" dirty="0"/>
              <a:t>meta </a:t>
            </a:r>
            <a:r>
              <a:rPr lang="pt-BR" i="1" dirty="0" err="1"/>
              <a:t>name</a:t>
            </a:r>
            <a:r>
              <a:rPr lang="pt-BR" dirty="0"/>
              <a:t>="</a:t>
            </a:r>
            <a:r>
              <a:rPr lang="pt-BR" dirty="0" err="1"/>
              <a:t>viewport</a:t>
            </a:r>
            <a:r>
              <a:rPr lang="pt-BR" dirty="0"/>
              <a:t>" </a:t>
            </a:r>
            <a:r>
              <a:rPr lang="pt-BR" i="1" dirty="0" err="1"/>
              <a:t>content</a:t>
            </a:r>
            <a:r>
              <a:rPr lang="pt-BR" dirty="0"/>
              <a:t>="</a:t>
            </a:r>
            <a:r>
              <a:rPr lang="pt-BR" dirty="0" err="1"/>
              <a:t>width</a:t>
            </a:r>
            <a:r>
              <a:rPr lang="pt-BR" dirty="0"/>
              <a:t>=</a:t>
            </a:r>
            <a:r>
              <a:rPr lang="pt-BR" dirty="0" err="1"/>
              <a:t>device-width</a:t>
            </a:r>
            <a:r>
              <a:rPr lang="pt-BR" dirty="0"/>
              <a:t>, </a:t>
            </a:r>
            <a:r>
              <a:rPr lang="pt-BR" dirty="0" err="1"/>
              <a:t>initial-scale</a:t>
            </a:r>
            <a:r>
              <a:rPr lang="pt-BR" dirty="0"/>
              <a:t>=1.0</a:t>
            </a:r>
            <a:r>
              <a:rPr lang="pt-BR" dirty="0" smtClean="0"/>
              <a:t>"&gt;</a:t>
            </a:r>
          </a:p>
          <a:p>
            <a:pPr marL="0" indent="0">
              <a:buNone/>
            </a:pPr>
            <a:r>
              <a:rPr lang="pt-BR" dirty="0" smtClean="0"/>
              <a:t>&lt;</a:t>
            </a:r>
            <a:r>
              <a:rPr lang="pt-BR" dirty="0" err="1"/>
              <a:t>title</a:t>
            </a:r>
            <a:r>
              <a:rPr lang="pt-BR" dirty="0"/>
              <a:t>&gt;Exemplo Box </a:t>
            </a:r>
            <a:r>
              <a:rPr lang="pt-BR" dirty="0" err="1"/>
              <a:t>Model</a:t>
            </a:r>
            <a:r>
              <a:rPr lang="pt-BR" dirty="0"/>
              <a:t>&lt;/</a:t>
            </a:r>
            <a:r>
              <a:rPr lang="pt-BR" dirty="0" err="1"/>
              <a:t>title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body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/>
              <a:t>    &lt;h2&gt;</a:t>
            </a:r>
            <a:r>
              <a:rPr lang="pt-BR" dirty="0" err="1"/>
              <a:t>Demonstrating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Box </a:t>
            </a:r>
            <a:r>
              <a:rPr lang="pt-BR" dirty="0" err="1"/>
              <a:t>Model</a:t>
            </a:r>
            <a:r>
              <a:rPr lang="pt-BR" dirty="0"/>
              <a:t>&lt;/h2&gt;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/>
              <a:t>    &lt;p&gt;The CSS box </a:t>
            </a:r>
            <a:r>
              <a:rPr lang="pt-BR" dirty="0" err="1"/>
              <a:t>model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essentially</a:t>
            </a:r>
            <a:r>
              <a:rPr lang="pt-BR" dirty="0"/>
              <a:t> a box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wraps</a:t>
            </a:r>
            <a:r>
              <a:rPr lang="pt-BR" dirty="0"/>
              <a:t> </a:t>
            </a:r>
            <a:r>
              <a:rPr lang="pt-BR" dirty="0" err="1"/>
              <a:t>around</a:t>
            </a:r>
            <a:r>
              <a:rPr lang="pt-BR" dirty="0"/>
              <a:t> </a:t>
            </a:r>
            <a:r>
              <a:rPr lang="pt-BR" dirty="0" err="1"/>
              <a:t>every</a:t>
            </a:r>
            <a:r>
              <a:rPr lang="pt-BR" dirty="0"/>
              <a:t> HTML </a:t>
            </a:r>
            <a:r>
              <a:rPr lang="pt-BR" dirty="0" err="1"/>
              <a:t>element</a:t>
            </a:r>
            <a:r>
              <a:rPr lang="pt-BR" dirty="0"/>
              <a:t>. It </a:t>
            </a:r>
            <a:r>
              <a:rPr lang="pt-BR" dirty="0" err="1"/>
              <a:t>consists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: </a:t>
            </a:r>
            <a:r>
              <a:rPr lang="pt-BR" dirty="0" err="1"/>
              <a:t>borders</a:t>
            </a:r>
            <a:r>
              <a:rPr lang="pt-BR" dirty="0"/>
              <a:t>, </a:t>
            </a:r>
            <a:r>
              <a:rPr lang="pt-BR" dirty="0" err="1"/>
              <a:t>padding</a:t>
            </a:r>
            <a:r>
              <a:rPr lang="pt-BR" dirty="0"/>
              <a:t>, </a:t>
            </a:r>
            <a:r>
              <a:rPr lang="pt-BR" dirty="0" err="1"/>
              <a:t>margins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actual</a:t>
            </a:r>
            <a:r>
              <a:rPr lang="pt-BR" dirty="0"/>
              <a:t> </a:t>
            </a:r>
            <a:r>
              <a:rPr lang="pt-BR" dirty="0" err="1"/>
              <a:t>content</a:t>
            </a:r>
            <a:r>
              <a:rPr lang="pt-BR" dirty="0"/>
              <a:t>.&lt;/p&gt;</a:t>
            </a:r>
          </a:p>
          <a:p>
            <a:pPr marL="0" indent="0">
              <a:buNone/>
            </a:pPr>
            <a:r>
              <a:rPr lang="pt-BR" dirty="0"/>
              <a:t>    </a:t>
            </a:r>
          </a:p>
          <a:p>
            <a:pPr marL="0" indent="0">
              <a:buNone/>
            </a:pPr>
            <a:r>
              <a:rPr lang="pt-BR" dirty="0"/>
              <a:t>    &lt;</a:t>
            </a:r>
            <a:r>
              <a:rPr lang="pt-BR" dirty="0" err="1"/>
              <a:t>div</a:t>
            </a:r>
            <a:r>
              <a:rPr lang="pt-BR" dirty="0"/>
              <a:t>&gt;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content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box. </a:t>
            </a:r>
            <a:r>
              <a:rPr lang="pt-BR" dirty="0" err="1"/>
              <a:t>We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</a:t>
            </a:r>
            <a:r>
              <a:rPr lang="pt-BR" dirty="0" err="1"/>
              <a:t>added</a:t>
            </a:r>
            <a:r>
              <a:rPr lang="pt-BR" dirty="0"/>
              <a:t> a 50px </a:t>
            </a:r>
            <a:r>
              <a:rPr lang="pt-BR" dirty="0" err="1"/>
              <a:t>padding</a:t>
            </a:r>
            <a:r>
              <a:rPr lang="pt-BR" dirty="0"/>
              <a:t>, 20px </a:t>
            </a:r>
            <a:r>
              <a:rPr lang="pt-BR" dirty="0" err="1"/>
              <a:t>margin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a 15px </a:t>
            </a:r>
            <a:r>
              <a:rPr lang="pt-BR" dirty="0" err="1"/>
              <a:t>green</a:t>
            </a:r>
            <a:r>
              <a:rPr lang="pt-BR" dirty="0"/>
              <a:t> </a:t>
            </a:r>
            <a:r>
              <a:rPr lang="pt-BR" dirty="0" err="1"/>
              <a:t>border</a:t>
            </a:r>
            <a:r>
              <a:rPr lang="pt-BR" dirty="0"/>
              <a:t>. Ut </a:t>
            </a:r>
            <a:r>
              <a:rPr lang="pt-BR" dirty="0" err="1"/>
              <a:t>enim</a:t>
            </a:r>
            <a:r>
              <a:rPr lang="pt-BR" dirty="0"/>
              <a:t> ad </a:t>
            </a:r>
            <a:r>
              <a:rPr lang="pt-BR" dirty="0" err="1"/>
              <a:t>minim</a:t>
            </a:r>
            <a:r>
              <a:rPr lang="pt-BR" dirty="0"/>
              <a:t> </a:t>
            </a:r>
            <a:r>
              <a:rPr lang="pt-BR" dirty="0" err="1"/>
              <a:t>veniam</a:t>
            </a:r>
            <a:r>
              <a:rPr lang="pt-BR" dirty="0"/>
              <a:t>, quis </a:t>
            </a:r>
            <a:r>
              <a:rPr lang="pt-BR" dirty="0" err="1"/>
              <a:t>nostrud</a:t>
            </a:r>
            <a:r>
              <a:rPr lang="pt-BR" dirty="0"/>
              <a:t> </a:t>
            </a:r>
            <a:r>
              <a:rPr lang="pt-BR" dirty="0" err="1"/>
              <a:t>exercitation</a:t>
            </a:r>
            <a:r>
              <a:rPr lang="pt-BR" dirty="0"/>
              <a:t> </a:t>
            </a:r>
            <a:r>
              <a:rPr lang="pt-BR" dirty="0" err="1"/>
              <a:t>ullamco</a:t>
            </a:r>
            <a:r>
              <a:rPr lang="pt-BR" dirty="0"/>
              <a:t> </a:t>
            </a:r>
            <a:r>
              <a:rPr lang="pt-BR" dirty="0" err="1"/>
              <a:t>laboris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ut </a:t>
            </a:r>
            <a:r>
              <a:rPr lang="pt-BR" dirty="0" err="1"/>
              <a:t>aliquip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ea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</a:t>
            </a:r>
            <a:r>
              <a:rPr lang="pt-BR" dirty="0" err="1"/>
              <a:t>consequat</a:t>
            </a:r>
            <a:r>
              <a:rPr lang="pt-BR" dirty="0"/>
              <a:t>. </a:t>
            </a:r>
            <a:r>
              <a:rPr lang="pt-BR" dirty="0" err="1"/>
              <a:t>Duis</a:t>
            </a:r>
            <a:r>
              <a:rPr lang="pt-BR" dirty="0"/>
              <a:t> </a:t>
            </a:r>
            <a:r>
              <a:rPr lang="pt-BR" dirty="0" err="1"/>
              <a:t>aute</a:t>
            </a:r>
            <a:r>
              <a:rPr lang="pt-BR" dirty="0"/>
              <a:t> </a:t>
            </a:r>
            <a:r>
              <a:rPr lang="pt-BR" dirty="0" err="1"/>
              <a:t>irure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 in </a:t>
            </a:r>
            <a:r>
              <a:rPr lang="pt-BR" dirty="0" err="1"/>
              <a:t>reprehenderit</a:t>
            </a:r>
            <a:r>
              <a:rPr lang="pt-BR" dirty="0"/>
              <a:t> in </a:t>
            </a:r>
            <a:r>
              <a:rPr lang="pt-BR" dirty="0" err="1"/>
              <a:t>voluptate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esse </a:t>
            </a:r>
            <a:r>
              <a:rPr lang="pt-BR" dirty="0" err="1"/>
              <a:t>cillum</a:t>
            </a:r>
            <a:r>
              <a:rPr lang="pt-BR" dirty="0"/>
              <a:t> </a:t>
            </a:r>
            <a:r>
              <a:rPr lang="pt-BR" dirty="0" err="1"/>
              <a:t>dolore</a:t>
            </a:r>
            <a:r>
              <a:rPr lang="pt-BR" dirty="0"/>
              <a:t> eu </a:t>
            </a:r>
            <a:r>
              <a:rPr lang="pt-BR" dirty="0" err="1"/>
              <a:t>fugiat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</a:t>
            </a:r>
            <a:r>
              <a:rPr lang="pt-BR" dirty="0" err="1"/>
              <a:t>pariatur</a:t>
            </a:r>
            <a:r>
              <a:rPr lang="pt-BR" dirty="0"/>
              <a:t>. </a:t>
            </a:r>
            <a:r>
              <a:rPr lang="pt-BR" dirty="0" err="1"/>
              <a:t>Excepteur</a:t>
            </a:r>
            <a:r>
              <a:rPr lang="pt-BR" dirty="0"/>
              <a:t> </a:t>
            </a:r>
            <a:r>
              <a:rPr lang="pt-BR" dirty="0" err="1"/>
              <a:t>sint</a:t>
            </a:r>
            <a:r>
              <a:rPr lang="pt-BR" dirty="0"/>
              <a:t> </a:t>
            </a:r>
            <a:r>
              <a:rPr lang="pt-BR" dirty="0" err="1"/>
              <a:t>occaecat</a:t>
            </a:r>
            <a:r>
              <a:rPr lang="pt-BR" dirty="0"/>
              <a:t> </a:t>
            </a:r>
            <a:r>
              <a:rPr lang="pt-BR" dirty="0" err="1"/>
              <a:t>cupidatat</a:t>
            </a:r>
            <a:r>
              <a:rPr lang="pt-BR" dirty="0"/>
              <a:t> non </a:t>
            </a:r>
            <a:r>
              <a:rPr lang="pt-BR" dirty="0" err="1"/>
              <a:t>proident</a:t>
            </a:r>
            <a:r>
              <a:rPr lang="pt-BR" dirty="0"/>
              <a:t>, sunt in culpa </a:t>
            </a:r>
            <a:r>
              <a:rPr lang="pt-BR" dirty="0" err="1"/>
              <a:t>qui</a:t>
            </a:r>
            <a:r>
              <a:rPr lang="pt-BR" dirty="0"/>
              <a:t> </a:t>
            </a:r>
            <a:r>
              <a:rPr lang="pt-BR" dirty="0" err="1"/>
              <a:t>officia</a:t>
            </a:r>
            <a:r>
              <a:rPr lang="pt-BR" dirty="0"/>
              <a:t> </a:t>
            </a:r>
            <a:r>
              <a:rPr lang="pt-BR" dirty="0" err="1"/>
              <a:t>deserunt</a:t>
            </a:r>
            <a:r>
              <a:rPr lang="pt-BR" dirty="0"/>
              <a:t> </a:t>
            </a:r>
            <a:r>
              <a:rPr lang="pt-BR" dirty="0" err="1"/>
              <a:t>mollit</a:t>
            </a:r>
            <a:r>
              <a:rPr lang="pt-BR" dirty="0"/>
              <a:t> </a:t>
            </a:r>
            <a:r>
              <a:rPr lang="pt-BR" dirty="0" err="1"/>
              <a:t>anim</a:t>
            </a:r>
            <a:r>
              <a:rPr lang="pt-BR" dirty="0"/>
              <a:t> id est </a:t>
            </a:r>
            <a:r>
              <a:rPr lang="pt-BR" dirty="0" err="1"/>
              <a:t>laborum</a:t>
            </a:r>
            <a:r>
              <a:rPr lang="pt-BR" dirty="0"/>
              <a:t>.&lt;/</a:t>
            </a:r>
            <a:r>
              <a:rPr lang="pt-BR" dirty="0" err="1"/>
              <a:t>div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/>
              <a:t>&lt;/</a:t>
            </a:r>
            <a:r>
              <a:rPr lang="pt-BR" dirty="0" err="1"/>
              <a:t>body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650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CSS​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764627" y="1473527"/>
            <a:ext cx="10515600" cy="53844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400" b="1" dirty="0" smtClean="0">
                <a:solidFill>
                  <a:srgbClr val="FF0000"/>
                </a:solidFill>
              </a:rPr>
              <a:t>Exemplo1: estilo.css</a:t>
            </a:r>
          </a:p>
          <a:p>
            <a:pPr marL="0" indent="0">
              <a:buNone/>
            </a:pPr>
            <a:r>
              <a:rPr lang="pt-BR" dirty="0" err="1" smtClean="0"/>
              <a:t>div</a:t>
            </a:r>
            <a:r>
              <a:rPr lang="pt-BR" dirty="0" smtClean="0"/>
              <a:t> {</a:t>
            </a:r>
          </a:p>
          <a:p>
            <a:pPr marL="0" indent="0">
              <a:buNone/>
            </a:pPr>
            <a:r>
              <a:rPr lang="pt-BR" dirty="0" smtClean="0"/>
              <a:t>  background-color: </a:t>
            </a:r>
            <a:r>
              <a:rPr lang="pt-BR" dirty="0" err="1" smtClean="0"/>
              <a:t>lightgrey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width</a:t>
            </a:r>
            <a:r>
              <a:rPr lang="pt-BR" dirty="0" smtClean="0"/>
              <a:t>: 300px;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border</a:t>
            </a:r>
            <a:r>
              <a:rPr lang="pt-BR" dirty="0" smtClean="0"/>
              <a:t>: 15px </a:t>
            </a:r>
            <a:r>
              <a:rPr lang="pt-BR" dirty="0" err="1" smtClean="0"/>
              <a:t>solid</a:t>
            </a:r>
            <a:r>
              <a:rPr lang="pt-BR" dirty="0" smtClean="0"/>
              <a:t> </a:t>
            </a:r>
            <a:r>
              <a:rPr lang="pt-BR" dirty="0" err="1" smtClean="0"/>
              <a:t>green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padding</a:t>
            </a:r>
            <a:r>
              <a:rPr lang="pt-BR" dirty="0" smtClean="0"/>
              <a:t>: 50px;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margin</a:t>
            </a:r>
            <a:r>
              <a:rPr lang="pt-BR" dirty="0" smtClean="0"/>
              <a:t>: 20px;</a:t>
            </a:r>
          </a:p>
          <a:p>
            <a:pPr marL="0" indent="0">
              <a:buNone/>
            </a:pPr>
            <a:r>
              <a:rPr lang="pt-BR" dirty="0" smtClean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384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</p:spPr>
        <p:txBody>
          <a:bodyPr/>
          <a:lstStyle/>
          <a:p>
            <a:pPr algn="ctr"/>
            <a:r>
              <a:rPr lang="pt-BR" dirty="0"/>
              <a:t>CSS</a:t>
            </a:r>
            <a:r>
              <a:rPr lang="pt-BR" dirty="0" smtClean="0"/>
              <a:t>​ - </a:t>
            </a:r>
            <a:r>
              <a:rPr lang="pt-BR" dirty="0" err="1" smtClean="0"/>
              <a:t>Div</a:t>
            </a:r>
            <a:r>
              <a:rPr lang="pt-BR" dirty="0" smtClean="0"/>
              <a:t> No Centro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764627" y="1093077"/>
            <a:ext cx="10515600" cy="55494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400" b="1" dirty="0" smtClean="0">
                <a:solidFill>
                  <a:srgbClr val="FF0000"/>
                </a:solidFill>
              </a:rPr>
              <a:t>Exemplo2: index2.html</a:t>
            </a:r>
          </a:p>
        </p:txBody>
      </p:sp>
      <p:sp>
        <p:nvSpPr>
          <p:cNvPr id="3" name="Retângulo 2"/>
          <p:cNvSpPr/>
          <p:nvPr/>
        </p:nvSpPr>
        <p:spPr>
          <a:xfrm>
            <a:off x="838200" y="1502688"/>
            <a:ext cx="931216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&lt;!DOCTYPE 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html</a:t>
            </a:r>
            <a:r>
              <a:rPr lang="pt-BR" dirty="0" smtClean="0"/>
              <a:t> </a:t>
            </a:r>
            <a:r>
              <a:rPr lang="pt-BR" dirty="0" err="1" smtClean="0"/>
              <a:t>lang</a:t>
            </a:r>
            <a:r>
              <a:rPr lang="pt-BR" dirty="0" smtClean="0"/>
              <a:t>="</a:t>
            </a:r>
            <a:r>
              <a:rPr lang="pt-BR" dirty="0" err="1" smtClean="0"/>
              <a:t>en</a:t>
            </a:r>
            <a:r>
              <a:rPr lang="pt-BR" dirty="0" smtClean="0"/>
              <a:t>"&gt;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    &lt;meta </a:t>
            </a:r>
            <a:r>
              <a:rPr lang="pt-BR" dirty="0" err="1" smtClean="0"/>
              <a:t>charset</a:t>
            </a:r>
            <a:r>
              <a:rPr lang="pt-BR" dirty="0" smtClean="0"/>
              <a:t>="UTF-8"&gt;</a:t>
            </a:r>
          </a:p>
          <a:p>
            <a:r>
              <a:rPr lang="pt-BR" dirty="0" smtClean="0"/>
              <a:t>    &lt;meta </a:t>
            </a:r>
            <a:r>
              <a:rPr lang="pt-BR" dirty="0" err="1" smtClean="0"/>
              <a:t>name</a:t>
            </a:r>
            <a:r>
              <a:rPr lang="pt-BR" dirty="0" smtClean="0"/>
              <a:t>="</a:t>
            </a:r>
            <a:r>
              <a:rPr lang="pt-BR" dirty="0" err="1" smtClean="0"/>
              <a:t>viewport</a:t>
            </a:r>
            <a:r>
              <a:rPr lang="pt-BR" dirty="0" smtClean="0"/>
              <a:t>" </a:t>
            </a:r>
            <a:r>
              <a:rPr lang="pt-BR" dirty="0" err="1" smtClean="0"/>
              <a:t>content</a:t>
            </a:r>
            <a:r>
              <a:rPr lang="pt-BR" dirty="0" smtClean="0"/>
              <a:t>="</a:t>
            </a:r>
            <a:r>
              <a:rPr lang="pt-BR" dirty="0" err="1" smtClean="0"/>
              <a:t>width</a:t>
            </a:r>
            <a:r>
              <a:rPr lang="pt-BR" dirty="0" smtClean="0"/>
              <a:t>=</a:t>
            </a:r>
            <a:r>
              <a:rPr lang="pt-BR" dirty="0" err="1" smtClean="0"/>
              <a:t>device-width</a:t>
            </a:r>
            <a:r>
              <a:rPr lang="pt-BR" dirty="0" smtClean="0"/>
              <a:t>, </a:t>
            </a:r>
            <a:r>
              <a:rPr lang="pt-BR" dirty="0" err="1" smtClean="0"/>
              <a:t>initial-scale</a:t>
            </a:r>
            <a:r>
              <a:rPr lang="pt-BR" dirty="0" smtClean="0"/>
              <a:t>=1.0"&gt;</a:t>
            </a:r>
          </a:p>
          <a:p>
            <a:endParaRPr lang="pt-BR" dirty="0" smtClean="0"/>
          </a:p>
          <a:p>
            <a:r>
              <a:rPr lang="pt-BR" dirty="0" smtClean="0"/>
              <a:t>    &lt;link </a:t>
            </a:r>
            <a:r>
              <a:rPr lang="pt-BR" dirty="0" err="1" smtClean="0"/>
              <a:t>rel</a:t>
            </a:r>
            <a:r>
              <a:rPr lang="pt-BR" dirty="0" smtClean="0"/>
              <a:t>="</a:t>
            </a:r>
            <a:r>
              <a:rPr lang="pt-BR" dirty="0" err="1" smtClean="0"/>
              <a:t>stylesheet</a:t>
            </a:r>
            <a:r>
              <a:rPr lang="pt-BR" dirty="0" smtClean="0"/>
              <a:t>"   </a:t>
            </a:r>
            <a:r>
              <a:rPr lang="pt-BR" dirty="0" err="1" smtClean="0"/>
              <a:t>href</a:t>
            </a:r>
            <a:r>
              <a:rPr lang="pt-BR" dirty="0" smtClean="0"/>
              <a:t>="</a:t>
            </a:r>
            <a:r>
              <a:rPr lang="pt-BR" dirty="0" err="1" smtClean="0"/>
              <a:t>css</a:t>
            </a:r>
            <a:r>
              <a:rPr lang="pt-BR" dirty="0" smtClean="0"/>
              <a:t>/estilo2.css"&gt;</a:t>
            </a:r>
          </a:p>
          <a:p>
            <a:endParaRPr lang="pt-BR" dirty="0" smtClean="0"/>
          </a:p>
          <a:p>
            <a:r>
              <a:rPr lang="pt-BR" dirty="0" smtClean="0"/>
              <a:t>    &lt;</a:t>
            </a:r>
            <a:r>
              <a:rPr lang="pt-BR" dirty="0" err="1" smtClean="0"/>
              <a:t>title</a:t>
            </a:r>
            <a:r>
              <a:rPr lang="pt-BR" dirty="0" smtClean="0"/>
              <a:t>&gt;Exemplo 2 </a:t>
            </a:r>
            <a:r>
              <a:rPr lang="pt-BR" dirty="0" err="1" smtClean="0"/>
              <a:t>Divs</a:t>
            </a:r>
            <a:r>
              <a:rPr lang="pt-BR" dirty="0" smtClean="0"/>
              <a:t>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&lt;/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</a:p>
          <a:p>
            <a:endParaRPr lang="pt-BR" dirty="0" smtClean="0"/>
          </a:p>
          <a:p>
            <a:r>
              <a:rPr lang="pt-BR" dirty="0" smtClean="0"/>
              <a:t>    &lt;</a:t>
            </a:r>
            <a:r>
              <a:rPr lang="pt-BR" dirty="0" err="1" smtClean="0"/>
              <a:t>div</a:t>
            </a:r>
            <a:r>
              <a:rPr lang="pt-BR" dirty="0" smtClean="0"/>
              <a:t> id="container"&gt;    </a:t>
            </a:r>
          </a:p>
          <a:p>
            <a:r>
              <a:rPr lang="pt-BR" dirty="0" smtClean="0"/>
              <a:t>                &lt;</a:t>
            </a:r>
            <a:r>
              <a:rPr lang="pt-BR" dirty="0" err="1" smtClean="0"/>
              <a:t>div</a:t>
            </a:r>
            <a:r>
              <a:rPr lang="pt-BR" dirty="0" smtClean="0"/>
              <a:t> </a:t>
            </a:r>
            <a:r>
              <a:rPr lang="pt-BR" dirty="0" err="1" smtClean="0"/>
              <a:t>class</a:t>
            </a:r>
            <a:r>
              <a:rPr lang="pt-BR" dirty="0" smtClean="0"/>
              <a:t>="</a:t>
            </a:r>
            <a:r>
              <a:rPr lang="pt-BR" dirty="0" err="1" smtClean="0"/>
              <a:t>conteudo</a:t>
            </a:r>
            <a:r>
              <a:rPr lang="pt-BR" dirty="0" smtClean="0"/>
              <a:t>"&gt;</a:t>
            </a:r>
          </a:p>
          <a:p>
            <a:r>
              <a:rPr lang="pt-BR" dirty="0" smtClean="0"/>
              <a:t>                    &lt;h1&gt;Texto&lt;/h1&gt;</a:t>
            </a:r>
          </a:p>
          <a:p>
            <a:r>
              <a:rPr lang="pt-BR" dirty="0" smtClean="0"/>
              <a:t>                &lt;/</a:t>
            </a:r>
            <a:r>
              <a:rPr lang="pt-BR" dirty="0" err="1" smtClean="0"/>
              <a:t>div</a:t>
            </a:r>
            <a:r>
              <a:rPr lang="pt-BR" dirty="0" smtClean="0"/>
              <a:t>&gt;   </a:t>
            </a:r>
          </a:p>
          <a:p>
            <a:r>
              <a:rPr lang="pt-BR" dirty="0" smtClean="0"/>
              <a:t>            &lt;/</a:t>
            </a:r>
            <a:r>
              <a:rPr lang="pt-BR" dirty="0" err="1" smtClean="0"/>
              <a:t>div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&lt;/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</a:p>
          <a:p>
            <a:r>
              <a:rPr lang="pt-BR" dirty="0" smtClean="0"/>
              <a:t>&lt;/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36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3303" y="147145"/>
            <a:ext cx="10515600" cy="117841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CSS</a:t>
            </a:r>
            <a:r>
              <a:rPr lang="pt-BR" dirty="0" smtClean="0"/>
              <a:t>​ - </a:t>
            </a:r>
            <a:r>
              <a:rPr lang="pt-BR" dirty="0" err="1" smtClean="0"/>
              <a:t>Div</a:t>
            </a:r>
            <a:r>
              <a:rPr lang="pt-BR" dirty="0" smtClean="0"/>
              <a:t> no centro</a:t>
            </a:r>
            <a:br>
              <a:rPr lang="pt-BR" dirty="0" smtClean="0"/>
            </a:br>
            <a:r>
              <a:rPr lang="pt-BR" sz="3100" b="1" dirty="0" smtClean="0">
                <a:solidFill>
                  <a:srgbClr val="FF0000"/>
                </a:solidFill>
              </a:rPr>
              <a:t>Exemplo2:estilo2.css</a:t>
            </a:r>
            <a:endParaRPr lang="pt-BR" sz="3100" b="1" dirty="0">
              <a:solidFill>
                <a:srgbClr val="FF0000"/>
              </a:solidFill>
            </a:endParaRP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764627" y="1406797"/>
            <a:ext cx="11206656" cy="5384473"/>
          </a:xfrm>
        </p:spPr>
        <p:txBody>
          <a:bodyPr numCol="3">
            <a:normAutofit fontScale="77500" lnSpcReduction="20000"/>
          </a:bodyPr>
          <a:lstStyle/>
          <a:p>
            <a:pPr marL="0" indent="0" algn="ctr">
              <a:buNone/>
            </a:pPr>
            <a:endParaRPr lang="pt-BR" sz="3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 smtClean="0"/>
              <a:t>*{</a:t>
            </a:r>
          </a:p>
          <a:p>
            <a:pPr marL="0" indent="0">
              <a:buNone/>
            </a:pPr>
            <a:r>
              <a:rPr lang="pt-BR" dirty="0" smtClean="0"/>
              <a:t>    </a:t>
            </a:r>
            <a:r>
              <a:rPr lang="pt-BR" dirty="0" err="1" smtClean="0"/>
              <a:t>margin</a:t>
            </a:r>
            <a:r>
              <a:rPr lang="pt-BR" dirty="0" smtClean="0"/>
              <a:t>: 0px;</a:t>
            </a:r>
          </a:p>
          <a:p>
            <a:pPr marL="0" indent="0">
              <a:buNone/>
            </a:pPr>
            <a:r>
              <a:rPr lang="pt-BR" dirty="0" smtClean="0"/>
              <a:t>    </a:t>
            </a:r>
            <a:r>
              <a:rPr lang="pt-BR" dirty="0" err="1" smtClean="0"/>
              <a:t>padding</a:t>
            </a:r>
            <a:r>
              <a:rPr lang="pt-BR" dirty="0" smtClean="0"/>
              <a:t>: 0px;</a:t>
            </a:r>
          </a:p>
          <a:p>
            <a:pPr marL="0" indent="0">
              <a:buNone/>
            </a:pPr>
            <a:r>
              <a:rPr lang="pt-BR" dirty="0" smtClean="0"/>
              <a:t>    </a:t>
            </a:r>
            <a:r>
              <a:rPr lang="pt-BR" dirty="0" err="1" smtClean="0"/>
              <a:t>border</a:t>
            </a:r>
            <a:r>
              <a:rPr lang="pt-BR" dirty="0" smtClean="0"/>
              <a:t>: 0px;                              </a:t>
            </a:r>
          </a:p>
          <a:p>
            <a:pPr marL="0" indent="0">
              <a:buNone/>
            </a:pPr>
            <a:r>
              <a:rPr lang="pt-BR" dirty="0" smtClean="0"/>
              <a:t>}</a:t>
            </a:r>
          </a:p>
          <a:p>
            <a:pPr marL="0" indent="0">
              <a:buNone/>
            </a:pPr>
            <a:r>
              <a:rPr lang="pt-BR" dirty="0" err="1" smtClean="0"/>
              <a:t>body</a:t>
            </a:r>
            <a:r>
              <a:rPr lang="pt-BR" dirty="0" smtClean="0"/>
              <a:t>{                                               </a:t>
            </a:r>
          </a:p>
          <a:p>
            <a:pPr marL="0" indent="0">
              <a:buNone/>
            </a:pPr>
            <a:r>
              <a:rPr lang="pt-BR" dirty="0" smtClean="0"/>
              <a:t>    background-color: </a:t>
            </a:r>
            <a:r>
              <a:rPr lang="pt-BR" dirty="0" err="1" smtClean="0"/>
              <a:t>black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r>
              <a:rPr lang="pt-BR" dirty="0" smtClean="0"/>
              <a:t>}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i="1" dirty="0" smtClean="0"/>
          </a:p>
          <a:p>
            <a:pPr marL="0" indent="0">
              <a:buNone/>
            </a:pPr>
            <a:endParaRPr lang="pt-BR" i="1" dirty="0" smtClean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 smtClean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r>
              <a:rPr lang="pt-BR" i="1" dirty="0" smtClean="0"/>
              <a:t>#</a:t>
            </a:r>
            <a:r>
              <a:rPr lang="pt-BR" i="1" dirty="0"/>
              <a:t>container</a:t>
            </a:r>
            <a:r>
              <a:rPr lang="pt-BR" dirty="0"/>
              <a:t>{</a:t>
            </a:r>
          </a:p>
          <a:p>
            <a:pPr marL="0" indent="0">
              <a:buNone/>
            </a:pPr>
            <a:r>
              <a:rPr lang="pt-BR" dirty="0" smtClean="0"/>
              <a:t>background-color</a:t>
            </a:r>
            <a:r>
              <a:rPr lang="pt-BR" dirty="0"/>
              <a:t>: #</a:t>
            </a:r>
            <a:r>
              <a:rPr lang="pt-BR" dirty="0" err="1"/>
              <a:t>ccc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 </a:t>
            </a:r>
            <a:r>
              <a:rPr lang="pt-BR" dirty="0" err="1" smtClean="0"/>
              <a:t>width</a:t>
            </a:r>
            <a:r>
              <a:rPr lang="pt-BR" dirty="0"/>
              <a:t>: 100%;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 err="1"/>
              <a:t>height</a:t>
            </a:r>
            <a:r>
              <a:rPr lang="pt-BR" dirty="0"/>
              <a:t>: 100vh</a:t>
            </a:r>
            <a:r>
              <a:rPr lang="pt-BR" dirty="0" smtClean="0"/>
              <a:t>;  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 </a:t>
            </a:r>
            <a:r>
              <a:rPr lang="pt-BR" dirty="0" smtClean="0"/>
              <a:t>display</a:t>
            </a:r>
            <a:r>
              <a:rPr lang="pt-BR" dirty="0"/>
              <a:t>: </a:t>
            </a:r>
            <a:r>
              <a:rPr lang="pt-BR" dirty="0" err="1"/>
              <a:t>flex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 </a:t>
            </a:r>
            <a:r>
              <a:rPr lang="pt-BR" dirty="0" err="1" smtClean="0"/>
              <a:t>flex-direction</a:t>
            </a:r>
            <a:r>
              <a:rPr lang="pt-BR" dirty="0"/>
              <a:t>: </a:t>
            </a:r>
            <a:r>
              <a:rPr lang="pt-BR" dirty="0" err="1"/>
              <a:t>row</a:t>
            </a:r>
            <a:r>
              <a:rPr lang="pt-BR" dirty="0" smtClean="0"/>
              <a:t>;</a:t>
            </a: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 </a:t>
            </a:r>
            <a:r>
              <a:rPr lang="pt-BR" dirty="0" err="1" smtClean="0"/>
              <a:t>align-items:center</a:t>
            </a:r>
            <a:r>
              <a:rPr lang="pt-BR" dirty="0"/>
              <a:t>; </a:t>
            </a:r>
          </a:p>
          <a:p>
            <a:pPr marL="0" indent="0">
              <a:buNone/>
            </a:pPr>
            <a:r>
              <a:rPr lang="pt-BR" dirty="0" err="1" smtClean="0"/>
              <a:t>justify-content:center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 smtClean="0"/>
          </a:p>
          <a:p>
            <a:pPr marL="0" indent="0">
              <a:buNone/>
            </a:pPr>
            <a:endParaRPr lang="pt-BR" i="1" dirty="0"/>
          </a:p>
          <a:p>
            <a:pPr marL="0" indent="0">
              <a:buNone/>
            </a:pPr>
            <a:endParaRPr lang="pt-BR" i="1" dirty="0" smtClean="0"/>
          </a:p>
          <a:p>
            <a:pPr marL="0" indent="0">
              <a:buNone/>
            </a:pPr>
            <a:r>
              <a:rPr lang="pt-BR" i="1" dirty="0" smtClean="0"/>
              <a:t>.</a:t>
            </a:r>
            <a:r>
              <a:rPr lang="pt-BR" i="1" dirty="0" err="1"/>
              <a:t>conteudo</a:t>
            </a:r>
            <a:r>
              <a:rPr lang="pt-BR" dirty="0"/>
              <a:t>{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width</a:t>
            </a:r>
            <a:r>
              <a:rPr lang="pt-BR" dirty="0"/>
              <a:t>: 50%;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height</a:t>
            </a:r>
            <a:r>
              <a:rPr lang="pt-BR" dirty="0"/>
              <a:t>: 50%;</a:t>
            </a:r>
          </a:p>
          <a:p>
            <a:pPr marL="0" indent="0">
              <a:buNone/>
            </a:pPr>
            <a:r>
              <a:rPr lang="pt-BR" dirty="0"/>
              <a:t>    background-color: </a:t>
            </a:r>
            <a:r>
              <a:rPr lang="pt-BR" dirty="0" smtClean="0"/>
              <a:t> </a:t>
            </a:r>
            <a:r>
              <a:rPr lang="pt-BR" dirty="0" err="1" smtClean="0"/>
              <a:t>blueviolet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border</a:t>
            </a:r>
            <a:r>
              <a:rPr lang="pt-BR" dirty="0"/>
              <a:t>: 1px </a:t>
            </a:r>
            <a:r>
              <a:rPr lang="pt-BR" dirty="0" err="1"/>
              <a:t>solid</a:t>
            </a:r>
            <a:r>
              <a:rPr lang="pt-BR" dirty="0"/>
              <a:t> </a:t>
            </a:r>
            <a:r>
              <a:rPr lang="pt-BR" dirty="0" err="1"/>
              <a:t>black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    display: </a:t>
            </a:r>
            <a:r>
              <a:rPr lang="pt-BR" dirty="0" err="1"/>
              <a:t>flex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align-items</a:t>
            </a:r>
            <a:r>
              <a:rPr lang="pt-BR" dirty="0"/>
              <a:t>: center;</a:t>
            </a:r>
          </a:p>
          <a:p>
            <a:pPr marL="0" indent="0">
              <a:buNone/>
            </a:pPr>
            <a:r>
              <a:rPr lang="pt-BR" dirty="0"/>
              <a:t>    </a:t>
            </a:r>
            <a:r>
              <a:rPr lang="pt-BR" dirty="0" err="1"/>
              <a:t>justify-content</a:t>
            </a:r>
            <a:r>
              <a:rPr lang="pt-BR" dirty="0"/>
              <a:t>: center</a:t>
            </a:r>
            <a:r>
              <a:rPr lang="pt-BR" dirty="0" smtClean="0"/>
              <a:t>;</a:t>
            </a:r>
            <a:endParaRPr lang="pt-BR" dirty="0"/>
          </a:p>
          <a:p>
            <a:pPr marL="0" indent="0">
              <a:buNone/>
            </a:pPr>
            <a:r>
              <a:rPr lang="pt-BR" dirty="0" smtClean="0"/>
              <a:t> box-</a:t>
            </a:r>
            <a:r>
              <a:rPr lang="pt-BR" dirty="0" err="1" smtClean="0"/>
              <a:t>sizing</a:t>
            </a:r>
            <a:r>
              <a:rPr lang="pt-BR" dirty="0"/>
              <a:t>: </a:t>
            </a:r>
            <a:r>
              <a:rPr lang="pt-BR" dirty="0" err="1"/>
              <a:t>border</a:t>
            </a:r>
            <a:r>
              <a:rPr lang="pt-BR" dirty="0"/>
              <a:t>-box;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dirty="0"/>
              <a:t>}</a:t>
            </a:r>
          </a:p>
          <a:p>
            <a:pPr marL="0" indent="0" algn="ctr">
              <a:buNone/>
            </a:pPr>
            <a:endParaRPr lang="pt-BR" sz="3400" b="1" dirty="0" smtClean="0">
              <a:solidFill>
                <a:srgbClr val="FF0000"/>
              </a:solidFill>
            </a:endParaRPr>
          </a:p>
        </p:txBody>
      </p:sp>
      <p:cxnSp>
        <p:nvCxnSpPr>
          <p:cNvPr id="5" name="Conector reto 4"/>
          <p:cNvCxnSpPr/>
          <p:nvPr/>
        </p:nvCxnSpPr>
        <p:spPr>
          <a:xfrm>
            <a:off x="3888827" y="1620181"/>
            <a:ext cx="31531" cy="5171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>
            <a:off x="7814441" y="1665258"/>
            <a:ext cx="21021" cy="505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608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445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</vt:lpstr>
      <vt:lpstr>CSS​ - Div No Centro</vt:lpstr>
      <vt:lpstr>CSS​ - Div no centro Exemplo2:estilo2.css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CSS​</dc:title>
  <dc:creator>userlocal</dc:creator>
  <cp:lastModifiedBy>userlocal</cp:lastModifiedBy>
  <cp:revision>16</cp:revision>
  <dcterms:created xsi:type="dcterms:W3CDTF">2024-04-09T13:13:23Z</dcterms:created>
  <dcterms:modified xsi:type="dcterms:W3CDTF">2024-04-09T14:14:38Z</dcterms:modified>
</cp:coreProperties>
</file>