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5D925-B464-4E5B-97FF-D59875DA6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509" y="662608"/>
            <a:ext cx="9638981" cy="3975653"/>
          </a:xfrm>
        </p:spPr>
        <p:txBody>
          <a:bodyPr>
            <a:normAutofit/>
          </a:bodyPr>
          <a:lstStyle/>
          <a:p>
            <a:r>
              <a:rPr lang="pt-BR" b="1" i="1" dirty="0" err="1"/>
              <a:t>Css</a:t>
            </a:r>
            <a:r>
              <a:rPr lang="pt-BR" b="1" i="1" dirty="0"/>
              <a:t> </a:t>
            </a:r>
            <a:br>
              <a:rPr lang="pt-BR" b="1" i="1" dirty="0"/>
            </a:br>
            <a:br>
              <a:rPr lang="pt-BR" b="1" i="1" dirty="0"/>
            </a:br>
            <a:r>
              <a:rPr lang="pt-BR" b="1" i="1" dirty="0"/>
              <a:t>folha de estilo em </a:t>
            </a:r>
            <a:r>
              <a:rPr lang="pt-BR" b="1" i="1" dirty="0" err="1"/>
              <a:t>cascatA</a:t>
            </a:r>
            <a:br>
              <a:rPr lang="pt-BR" b="1" i="1" dirty="0"/>
            </a:b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3113119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D056F-A3DB-491D-AD3D-BEB473A9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Style.css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89B3E4-B3A2-459D-A880-BFD117E2D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Colocar cores no fundo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body</a:t>
            </a:r>
            <a:r>
              <a:rPr lang="pt-BR" dirty="0"/>
              <a:t> {</a:t>
            </a:r>
          </a:p>
          <a:p>
            <a:pPr marL="0" indent="0">
              <a:buNone/>
            </a:pPr>
            <a:r>
              <a:rPr lang="pt-BR" dirty="0"/>
              <a:t>	  background-color: #FF0000;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2519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3C36B-38DA-4DE5-94F8-2BE451D5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Cores e fundo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80295B-9076-4B61-A4E1-4389E1D54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body {</a:t>
            </a:r>
          </a:p>
          <a:p>
            <a:pPr marL="0" indent="0">
              <a:buNone/>
            </a:pPr>
            <a:r>
              <a:rPr lang="en-US" dirty="0"/>
              <a:t>		background-color: #FFCC66;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h1 {</a:t>
            </a:r>
          </a:p>
          <a:p>
            <a:pPr marL="0" indent="0">
              <a:buNone/>
            </a:pPr>
            <a:r>
              <a:rPr lang="en-US" dirty="0"/>
              <a:t>		color: #990000;</a:t>
            </a:r>
          </a:p>
          <a:p>
            <a:pPr marL="0" indent="0">
              <a:buNone/>
            </a:pPr>
            <a:r>
              <a:rPr lang="en-US" dirty="0"/>
              <a:t>		background-color: #FC9804;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4154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DE9E6-A32E-41EE-B2C2-7E4B5B21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Imagem de fundo [background-</a:t>
            </a:r>
            <a:r>
              <a:rPr lang="pt-BR" dirty="0" err="1"/>
              <a:t>image</a:t>
            </a:r>
            <a:r>
              <a:rPr lang="pt-BR" dirty="0"/>
              <a:t>]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E7D24E-53F1-4B62-9748-1E76FBE84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 err="1"/>
              <a:t>body</a:t>
            </a:r>
            <a:r>
              <a:rPr lang="pt-BR" dirty="0"/>
              <a:t> {</a:t>
            </a:r>
          </a:p>
          <a:p>
            <a:pPr marL="0" indent="0">
              <a:buNone/>
            </a:pPr>
            <a:r>
              <a:rPr lang="pt-BR" dirty="0"/>
              <a:t>		background-color: #FFCC66;</a:t>
            </a:r>
          </a:p>
          <a:p>
            <a:pPr marL="0" indent="0">
              <a:buNone/>
            </a:pPr>
            <a:r>
              <a:rPr lang="pt-BR" dirty="0"/>
              <a:t>		background-</a:t>
            </a:r>
            <a:r>
              <a:rPr lang="pt-BR" dirty="0" err="1"/>
              <a:t>image</a:t>
            </a:r>
            <a:r>
              <a:rPr lang="pt-BR" dirty="0"/>
              <a:t>: </a:t>
            </a:r>
            <a:r>
              <a:rPr lang="pt-BR" dirty="0" err="1"/>
              <a:t>url</a:t>
            </a:r>
            <a:r>
              <a:rPr lang="pt-BR" dirty="0"/>
              <a:t>("../</a:t>
            </a:r>
            <a:r>
              <a:rPr lang="pt-BR" dirty="0" err="1"/>
              <a:t>css</a:t>
            </a:r>
            <a:r>
              <a:rPr lang="pt-BR" dirty="0"/>
              <a:t>/imagens/butterfly.gif");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	h1 {</a:t>
            </a:r>
          </a:p>
          <a:p>
            <a:pPr marL="0" indent="0">
              <a:buNone/>
            </a:pPr>
            <a:r>
              <a:rPr lang="pt-BR" dirty="0"/>
              <a:t>		color: #990000;</a:t>
            </a:r>
          </a:p>
          <a:p>
            <a:pPr marL="0" indent="0">
              <a:buNone/>
            </a:pPr>
            <a:r>
              <a:rPr lang="pt-BR" dirty="0"/>
              <a:t>		background-color: #FC9804;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6608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C10C4-2235-4342-BC77-C305DD4C0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2400" dirty="0"/>
              <a:t>Imagem de fundo repetida [background-</a:t>
            </a:r>
            <a:r>
              <a:rPr lang="pt-BR" sz="2400" dirty="0" err="1"/>
              <a:t>repeat</a:t>
            </a:r>
            <a:r>
              <a:rPr lang="pt-BR" sz="2400" dirty="0"/>
              <a:t>]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A propriedade background-</a:t>
            </a:r>
            <a:r>
              <a:rPr lang="pt-BR" sz="2400" dirty="0" err="1"/>
              <a:t>repeat</a:t>
            </a:r>
            <a:r>
              <a:rPr lang="pt-BR" sz="2400" dirty="0"/>
              <a:t> controla o comportamento de repetição da imagem de fundo.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E4D75F-6D61-4570-9D8E-F75D0A33D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1243819"/>
          </a:xfrm>
        </p:spPr>
        <p:txBody>
          <a:bodyPr/>
          <a:lstStyle/>
          <a:p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tabela a seguir mostra os quatro diferentes valores para background-</a:t>
            </a: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repeat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0651393-8525-4C8D-AB15-6FF606248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637586"/>
              </p:ext>
            </p:extLst>
          </p:nvPr>
        </p:nvGraphicFramePr>
        <p:xfrm>
          <a:off x="1997612" y="3429000"/>
          <a:ext cx="7568419" cy="2681212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3156317">
                  <a:extLst>
                    <a:ext uri="{9D8B030D-6E8A-4147-A177-3AD203B41FA5}">
                      <a16:colId xmlns:a16="http://schemas.microsoft.com/office/drawing/2014/main" val="2502602866"/>
                    </a:ext>
                  </a:extLst>
                </a:gridCol>
                <a:gridCol w="4412102">
                  <a:extLst>
                    <a:ext uri="{9D8B030D-6E8A-4147-A177-3AD203B41FA5}">
                      <a16:colId xmlns:a16="http://schemas.microsoft.com/office/drawing/2014/main" val="3634270692"/>
                    </a:ext>
                  </a:extLst>
                </a:gridCol>
              </a:tblGrid>
              <a:tr h="3856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Value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Description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56737753"/>
                  </a:ext>
                </a:extLst>
              </a:tr>
              <a:tr h="38585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Background-repeat: repeat-x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A imagem se repete na horizontal 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8301042"/>
                  </a:ext>
                </a:extLst>
              </a:tr>
              <a:tr h="38585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background-repeat: repeat-y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A imagem se repete na vertical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07166413"/>
                  </a:ext>
                </a:extLst>
              </a:tr>
              <a:tr h="76205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background-repeat: repeat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A imagem se repete na tanto na horizontal como na vertical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6699496"/>
                  </a:ext>
                </a:extLst>
              </a:tr>
              <a:tr h="76182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background-repeat: no-repeat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A imagem não se repete 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67358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855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C6913-576B-4920-BA99-4880A0C00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13183"/>
          </a:xfrm>
        </p:spPr>
        <p:txBody>
          <a:bodyPr/>
          <a:lstStyle/>
          <a:p>
            <a:r>
              <a:rPr lang="en-US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Imagem</a:t>
            </a:r>
            <a:r>
              <a:rPr lang="en-US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</a:t>
            </a:r>
            <a:r>
              <a:rPr lang="en-US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fundo</a:t>
            </a:r>
            <a:r>
              <a:rPr lang="en-US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fixa</a:t>
            </a:r>
            <a:r>
              <a:rPr lang="en-US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[background-attachment]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348BC4-A8A8-4115-883B-42CCF5594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75523"/>
            <a:ext cx="9905998" cy="2153478"/>
          </a:xfrm>
        </p:spPr>
        <p:txBody>
          <a:bodyPr/>
          <a:lstStyle/>
          <a:p>
            <a:r>
              <a:rPr lang="pt-BR" dirty="0"/>
              <a:t>A propriedade background-</a:t>
            </a:r>
            <a:r>
              <a:rPr lang="pt-BR" dirty="0" err="1"/>
              <a:t>attachment</a:t>
            </a:r>
            <a:r>
              <a:rPr lang="pt-BR" dirty="0"/>
              <a:t> define se a imagem será fixa ou se irá rolar juntamente com o elemento que a contém. </a:t>
            </a:r>
          </a:p>
          <a:p>
            <a:r>
              <a:rPr lang="pt-BR" dirty="0"/>
              <a:t>A tabela a seguir mostra os quatro diferentes valores para background-</a:t>
            </a:r>
            <a:r>
              <a:rPr lang="pt-BR" dirty="0" err="1"/>
              <a:t>attachment</a:t>
            </a:r>
            <a:r>
              <a:rPr lang="pt-BR" dirty="0"/>
              <a:t>. Veja os exemplos para constatar a diferença entre imagem fixa e imagem que rola.</a:t>
            </a:r>
          </a:p>
          <a:p>
            <a:endParaRPr lang="pt-BR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03828A7-2BA6-45F0-9466-33EFA93FE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81661"/>
              </p:ext>
            </p:extLst>
          </p:nvPr>
        </p:nvGraphicFramePr>
        <p:xfrm>
          <a:off x="1700561" y="3124200"/>
          <a:ext cx="9539526" cy="315206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5389352">
                  <a:extLst>
                    <a:ext uri="{9D8B030D-6E8A-4147-A177-3AD203B41FA5}">
                      <a16:colId xmlns:a16="http://schemas.microsoft.com/office/drawing/2014/main" val="340647863"/>
                    </a:ext>
                  </a:extLst>
                </a:gridCol>
                <a:gridCol w="4150174">
                  <a:extLst>
                    <a:ext uri="{9D8B030D-6E8A-4147-A177-3AD203B41FA5}">
                      <a16:colId xmlns:a16="http://schemas.microsoft.com/office/drawing/2014/main" val="237478863"/>
                    </a:ext>
                  </a:extLst>
                </a:gridCol>
              </a:tblGrid>
              <a:tr h="27298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800">
                          <a:effectLst/>
                        </a:rPr>
                        <a:t>Value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71" marR="3071" marT="3071" marB="30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800">
                          <a:effectLst/>
                        </a:rPr>
                        <a:t>Description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71" marR="3071" marT="3071" marB="3071" anchor="ctr"/>
                </a:tc>
                <a:extLst>
                  <a:ext uri="{0D108BD9-81ED-4DB2-BD59-A6C34878D82A}">
                    <a16:rowId xmlns:a16="http://schemas.microsoft.com/office/drawing/2014/main" val="2973450560"/>
                  </a:ext>
                </a:extLst>
              </a:tr>
              <a:tr h="142560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800" dirty="0">
                          <a:effectLst/>
                        </a:rPr>
                        <a:t>Background-</a:t>
                      </a:r>
                      <a:r>
                        <a:rPr lang="pt-BR" sz="1800" dirty="0" err="1">
                          <a:effectLst/>
                        </a:rPr>
                        <a:t>attachment</a:t>
                      </a:r>
                      <a:r>
                        <a:rPr lang="pt-BR" sz="1800" dirty="0">
                          <a:effectLst/>
                        </a:rPr>
                        <a:t>: scroll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71" marR="3071" marT="3071" marB="30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800" dirty="0">
                          <a:effectLst/>
                        </a:rPr>
                        <a:t>A imagem rola com a página 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71" marR="3071" marT="3071" marB="3071" anchor="ctr"/>
                </a:tc>
                <a:extLst>
                  <a:ext uri="{0D108BD9-81ED-4DB2-BD59-A6C34878D82A}">
                    <a16:rowId xmlns:a16="http://schemas.microsoft.com/office/drawing/2014/main" val="2316707636"/>
                  </a:ext>
                </a:extLst>
              </a:tr>
              <a:tr h="142560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800">
                          <a:effectLst/>
                        </a:rPr>
                        <a:t>Background-attachment: fixed</a:t>
                      </a:r>
                      <a:endParaRPr lang="pt-B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71" marR="3071" marT="3071" marB="30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800" dirty="0">
                          <a:effectLst/>
                        </a:rPr>
                        <a:t>A imagem permanece fixa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71" marR="3071" marT="3071" marB="3071" anchor="ctr"/>
                </a:tc>
                <a:extLst>
                  <a:ext uri="{0D108BD9-81ED-4DB2-BD59-A6C34878D82A}">
                    <a16:rowId xmlns:a16="http://schemas.microsoft.com/office/drawing/2014/main" val="3636824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358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AD78E-F1FF-4044-855B-890AA72A8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87" y="201051"/>
            <a:ext cx="9801664" cy="1205718"/>
          </a:xfrm>
        </p:spPr>
        <p:txBody>
          <a:bodyPr/>
          <a:lstStyle/>
          <a:p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Posição da imagem de fundo [background-position]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047428-BB27-4F28-A8A1-3F2104690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23" y="1631852"/>
            <a:ext cx="7251333" cy="481115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Por padrão uma imagem de fundo é posicionada no canto superior esquerdo da tela. A propriedade background-position permite alterar este posicionamento padrão e colocar a imagem em qualquer lugar na tela. </a:t>
            </a:r>
          </a:p>
          <a:p>
            <a:r>
              <a:rPr lang="pt-BR" dirty="0"/>
              <a:t>Existem várias maneiras de definir o posicionamento da imagem na tela definindo valores para background-position. Todas elas se utilizam de um sistema de coordenadas. Por exemplo, os valores '100px 200px' posiciona a imagem a 100px do topo e a 200px do lado esquerdo da janela do navegador. </a:t>
            </a:r>
          </a:p>
          <a:p>
            <a:r>
              <a:rPr lang="pt-BR" dirty="0"/>
              <a:t>As coordenadas podem ser expressas em percentagem da largura da </a:t>
            </a:r>
            <a:r>
              <a:rPr lang="pt-BR" dirty="0" err="1"/>
              <a:t>janeja</a:t>
            </a:r>
            <a:r>
              <a:rPr lang="pt-BR" dirty="0"/>
              <a:t>, em unidades fixas (pixels, centímetros, etc.) ou pode-se usar as palavras top, </a:t>
            </a:r>
            <a:r>
              <a:rPr lang="pt-BR" dirty="0" err="1"/>
              <a:t>bottom</a:t>
            </a:r>
            <a:r>
              <a:rPr lang="pt-BR" dirty="0"/>
              <a:t>, center, </a:t>
            </a:r>
            <a:r>
              <a:rPr lang="pt-BR" dirty="0" err="1"/>
              <a:t>left</a:t>
            </a:r>
            <a:r>
              <a:rPr lang="pt-BR" dirty="0"/>
              <a:t> e </a:t>
            </a:r>
            <a:r>
              <a:rPr lang="pt-BR" dirty="0" err="1"/>
              <a:t>right</a:t>
            </a:r>
            <a:r>
              <a:rPr lang="pt-BR" dirty="0"/>
              <a:t>. A figura a seguir ilustra o modelo de coordenadas:</a:t>
            </a:r>
          </a:p>
          <a:p>
            <a:endParaRPr lang="pt-BR" sz="1900" dirty="0"/>
          </a:p>
        </p:txBody>
      </p:sp>
      <p:pic>
        <p:nvPicPr>
          <p:cNvPr id="4098" name="Imagem 8" descr="http://pt-br.html.net/tutorials/css/figure004.gif">
            <a:extLst>
              <a:ext uri="{FF2B5EF4-FFF2-40B4-BE49-F238E27FC236}">
                <a16:creationId xmlns:a16="http://schemas.microsoft.com/office/drawing/2014/main" id="{CB0357AB-99CF-481F-9712-6E7705991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877" y="2106051"/>
            <a:ext cx="4152900" cy="3506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0825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4D9A5-6DB4-401A-A423-D1BC9CA9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tabela a seguir são mostrados alguns exemplos :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158EFD0D-1710-4713-B0F4-3C1E9362BC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330403"/>
              </p:ext>
            </p:extLst>
          </p:nvPr>
        </p:nvGraphicFramePr>
        <p:xfrm>
          <a:off x="1141413" y="2293034"/>
          <a:ext cx="9906000" cy="3432518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88287276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24003076"/>
                    </a:ext>
                  </a:extLst>
                </a:gridCol>
              </a:tblGrid>
              <a:tr h="57661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Value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Description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93019288"/>
                  </a:ext>
                </a:extLst>
              </a:tr>
              <a:tr h="113947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background-position: 2cm 2cm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A imagem é posicionada a 2 cm da esquerda e 2 cm para baixo na página 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8321000"/>
                  </a:ext>
                </a:extLst>
              </a:tr>
              <a:tr h="113947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background-position: 50% 25%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A imagem é centrada na horizontal e a um quarto (25%) para baixo na página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65875114"/>
                  </a:ext>
                </a:extLst>
              </a:tr>
              <a:tr h="5769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background-position: top right</a:t>
                      </a:r>
                      <a:endParaRPr lang="pt-B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A imagem é posicionada no canto superior direito da página </a:t>
                      </a:r>
                      <a:endParaRPr lang="pt-B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11304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499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66949-80CB-40C9-9846-136C488EA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Economizando bit</a:t>
            </a:r>
            <a:r>
              <a:rPr lang="pt-BR" cap="none" dirty="0"/>
              <a:t>s</a:t>
            </a:r>
            <a:r>
              <a:rPr lang="pt-BR" dirty="0"/>
              <a:t>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D6A3E3-21DC-4393-BF95-B133D1436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 propriedade background é uma abreviação para todas as propriedades listadas anteriormente.</a:t>
            </a:r>
          </a:p>
          <a:p>
            <a:r>
              <a:rPr lang="pt-BR" dirty="0"/>
              <a:t>Com background você declara várias propriedades de modo abreviado, economizando digitação e alguns </a:t>
            </a:r>
            <a:r>
              <a:rPr lang="pt-BR" dirty="0" err="1"/>
              <a:t>bites</a:t>
            </a:r>
            <a:r>
              <a:rPr lang="pt-BR" dirty="0"/>
              <a:t>, além de tornar a folha de estilo mais fácil de se ler e entender.</a:t>
            </a:r>
          </a:p>
          <a:p>
            <a:r>
              <a:rPr lang="pt-BR" dirty="0"/>
              <a:t>Por exemplo, observe as cinco linhas a seguir: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background-color: #FFCC66;</a:t>
            </a:r>
          </a:p>
          <a:p>
            <a:r>
              <a:rPr lang="pt-BR" dirty="0"/>
              <a:t>	background-</a:t>
            </a:r>
            <a:r>
              <a:rPr lang="pt-BR" dirty="0" err="1"/>
              <a:t>image</a:t>
            </a:r>
            <a:r>
              <a:rPr lang="pt-BR" dirty="0"/>
              <a:t>: </a:t>
            </a:r>
            <a:r>
              <a:rPr lang="pt-BR" dirty="0" err="1"/>
              <a:t>url</a:t>
            </a:r>
            <a:r>
              <a:rPr lang="pt-BR" dirty="0"/>
              <a:t>("butterfly.gif");</a:t>
            </a:r>
          </a:p>
          <a:p>
            <a:r>
              <a:rPr lang="pt-BR" dirty="0"/>
              <a:t>	background-</a:t>
            </a:r>
            <a:r>
              <a:rPr lang="pt-BR" dirty="0" err="1"/>
              <a:t>repeat</a:t>
            </a:r>
            <a:r>
              <a:rPr lang="pt-BR" dirty="0"/>
              <a:t>: no-</a:t>
            </a:r>
            <a:r>
              <a:rPr lang="pt-BR" dirty="0" err="1"/>
              <a:t>repeat</a:t>
            </a:r>
            <a:r>
              <a:rPr lang="pt-BR" dirty="0"/>
              <a:t>;</a:t>
            </a:r>
          </a:p>
          <a:p>
            <a:r>
              <a:rPr lang="pt-BR" dirty="0"/>
              <a:t>	background-</a:t>
            </a:r>
            <a:r>
              <a:rPr lang="pt-BR" dirty="0" err="1"/>
              <a:t>attachment</a:t>
            </a:r>
            <a:r>
              <a:rPr lang="pt-BR" dirty="0"/>
              <a:t>: </a:t>
            </a:r>
            <a:r>
              <a:rPr lang="pt-BR" dirty="0" err="1"/>
              <a:t>fixed</a:t>
            </a:r>
            <a:r>
              <a:rPr lang="pt-BR" dirty="0"/>
              <a:t>;</a:t>
            </a:r>
          </a:p>
          <a:p>
            <a:r>
              <a:rPr lang="pt-BR" dirty="0"/>
              <a:t>	background-position: </a:t>
            </a:r>
            <a:r>
              <a:rPr lang="pt-BR" dirty="0" err="1"/>
              <a:t>right</a:t>
            </a:r>
            <a:r>
              <a:rPr lang="pt-BR" dirty="0"/>
              <a:t> </a:t>
            </a:r>
            <a:r>
              <a:rPr lang="pt-BR" dirty="0" err="1"/>
              <a:t>bottom</a:t>
            </a:r>
            <a:r>
              <a:rPr lang="pt-BR" dirty="0"/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599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0BDA6-69DF-4637-B1A7-5157412A0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3F8835-8061-4EE5-8EAE-FD8054D53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Usando background você consegue o mesmo resultado, abreviando como mostrado abaixo: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background: #FFCC66 </a:t>
            </a:r>
            <a:r>
              <a:rPr lang="pt-BR" dirty="0" err="1"/>
              <a:t>url</a:t>
            </a:r>
            <a:r>
              <a:rPr lang="pt-BR" dirty="0"/>
              <a:t>("butterfly.gif") no-</a:t>
            </a:r>
            <a:r>
              <a:rPr lang="pt-BR" dirty="0" err="1"/>
              <a:t>repeat</a:t>
            </a:r>
            <a:r>
              <a:rPr lang="pt-BR" dirty="0"/>
              <a:t> </a:t>
            </a:r>
            <a:r>
              <a:rPr lang="pt-BR" dirty="0" err="1"/>
              <a:t>fixed</a:t>
            </a:r>
            <a:r>
              <a:rPr lang="pt-BR" dirty="0"/>
              <a:t> </a:t>
            </a:r>
            <a:r>
              <a:rPr lang="pt-BR" dirty="0" err="1"/>
              <a:t>right</a:t>
            </a:r>
            <a:r>
              <a:rPr lang="pt-BR" dirty="0"/>
              <a:t> </a:t>
            </a:r>
            <a:r>
              <a:rPr lang="pt-BR" dirty="0" err="1"/>
              <a:t>bottom</a:t>
            </a:r>
            <a:r>
              <a:rPr lang="pt-BR" dirty="0"/>
              <a:t>;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A declaração abreviada deve seguir a seguinte ordem:</a:t>
            </a:r>
          </a:p>
          <a:p>
            <a:r>
              <a:rPr lang="pt-BR" dirty="0"/>
              <a:t>[background-color] | [background-</a:t>
            </a:r>
            <a:r>
              <a:rPr lang="pt-BR" dirty="0" err="1"/>
              <a:t>image</a:t>
            </a:r>
            <a:r>
              <a:rPr lang="pt-BR" dirty="0"/>
              <a:t>] | [background-</a:t>
            </a:r>
            <a:r>
              <a:rPr lang="pt-BR" dirty="0" err="1"/>
              <a:t>repeat</a:t>
            </a:r>
            <a:r>
              <a:rPr lang="pt-BR" dirty="0"/>
              <a:t>] | [background-</a:t>
            </a:r>
            <a:r>
              <a:rPr lang="pt-BR" dirty="0" err="1"/>
              <a:t>attachment</a:t>
            </a:r>
            <a:r>
              <a:rPr lang="pt-BR" dirty="0"/>
              <a:t>] | [background-position]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727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01111-86EE-4302-A2F8-A5CF5AC5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013B8A-9140-40E5-BBBC-FA52E2BFC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Se uma das propriedades não for declarada ela assume automaticamente o seu valor default. Por exemplo, a propriedade background-</a:t>
            </a:r>
            <a:r>
              <a:rPr lang="pt-BR" dirty="0" err="1"/>
              <a:t>attachment</a:t>
            </a:r>
            <a:r>
              <a:rPr lang="pt-BR" dirty="0"/>
              <a:t> e background-position não foram declaradas no código mostrado a seguir: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background: #FFCC66 </a:t>
            </a:r>
            <a:r>
              <a:rPr lang="pt-BR" dirty="0" err="1"/>
              <a:t>url</a:t>
            </a:r>
            <a:r>
              <a:rPr lang="pt-BR" dirty="0"/>
              <a:t>("butterfly.gif") no-</a:t>
            </a:r>
            <a:r>
              <a:rPr lang="pt-BR" dirty="0" err="1"/>
              <a:t>repeat</a:t>
            </a:r>
            <a:r>
              <a:rPr lang="pt-BR" dirty="0"/>
              <a:t>;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As duas propriedades não declaradas assumirão o valor default que como você já sabe são: a imagem rola na tela e será posicionada no canto superior esquerdo (que são os valores default para as propriedades não declaradas).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807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EBBF6-942B-4100-A010-9EE920AF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Família de fontes [</a:t>
            </a:r>
            <a:r>
              <a:rPr lang="pt-BR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font-family</a:t>
            </a:r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D48E0D-05BB-49F6-AFB3-A512FA929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77009"/>
            <a:ext cx="9905998" cy="4214191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A propriedade </a:t>
            </a:r>
            <a:r>
              <a:rPr lang="pt-BR" dirty="0" err="1"/>
              <a:t>font-family</a:t>
            </a:r>
            <a:r>
              <a:rPr lang="pt-BR" dirty="0"/>
              <a:t> é usada para definir uma lista de fontes e sua prioridade para apresentação de um elemento em uma página. Se a primeira fonte da lista não estiver instalada na máquina do usuário, deverá ser usada a segunda e assim por diante até ser encontrada uma fonte instalada.</a:t>
            </a:r>
          </a:p>
          <a:p>
            <a:r>
              <a:rPr lang="pt-BR" dirty="0"/>
              <a:t>Existem dois tipos de nomes para definir fontes: nomes para famílias de fontes e nomes para famílias genéricas. Os dois são explicados a seguir: </a:t>
            </a:r>
          </a:p>
          <a:p>
            <a:pPr marL="0" indent="0">
              <a:buNone/>
            </a:pPr>
            <a:r>
              <a:rPr lang="pt-BR" dirty="0"/>
              <a:t>nome para famílias de fontes </a:t>
            </a:r>
          </a:p>
          <a:p>
            <a:pPr marL="0" indent="0">
              <a:buNone/>
            </a:pPr>
            <a:r>
              <a:rPr lang="pt-BR" dirty="0"/>
              <a:t>Exemplos para este tipo (normalmente conhecidas como "</a:t>
            </a:r>
            <a:r>
              <a:rPr lang="pt-BR" dirty="0" err="1"/>
              <a:t>font</a:t>
            </a:r>
            <a:r>
              <a:rPr lang="pt-BR" dirty="0"/>
              <a:t>") são "Arial", "Times New Roman" ou "</a:t>
            </a:r>
            <a:r>
              <a:rPr lang="pt-BR" dirty="0" err="1"/>
              <a:t>Tahoma</a:t>
            </a:r>
            <a:r>
              <a:rPr lang="pt-BR" dirty="0"/>
              <a:t>".</a:t>
            </a:r>
          </a:p>
          <a:p>
            <a:pPr marL="0" indent="0">
              <a:buNone/>
            </a:pPr>
            <a:r>
              <a:rPr lang="pt-BR" dirty="0"/>
              <a:t>nome para famílias genéricas </a:t>
            </a:r>
          </a:p>
          <a:p>
            <a:pPr marL="0" indent="0">
              <a:buNone/>
            </a:pPr>
            <a:r>
              <a:rPr lang="pt-BR" dirty="0"/>
              <a:t>Famílias genéricas são fontes que pertencem a um grupo com aparência uniforme. Um exemplo são as fontes </a:t>
            </a:r>
            <a:r>
              <a:rPr lang="pt-BR" dirty="0" err="1"/>
              <a:t>sans-serif</a:t>
            </a:r>
            <a:r>
              <a:rPr lang="pt-BR" dirty="0"/>
              <a:t> que englobam a coleção de fontes que "não têm pé".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3675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E8783-5D51-4FD3-A573-A1370F8A8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10787990" cy="1905000"/>
          </a:xfrm>
        </p:spPr>
        <p:txBody>
          <a:bodyPr/>
          <a:lstStyle/>
          <a:p>
            <a:r>
              <a:rPr lang="pt-BR" dirty="0"/>
              <a:t>A diferença </a:t>
            </a:r>
            <a:r>
              <a:rPr lang="pt-BR" sz="2800" dirty="0"/>
              <a:t>está</a:t>
            </a:r>
            <a:r>
              <a:rPr lang="pt-BR" dirty="0"/>
              <a:t> mostrada na figura a seguir: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7281C39C-FC78-4A79-88A7-6479FF5EC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9423" y="2084731"/>
            <a:ext cx="4813154" cy="416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68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92ED16-DC6F-4B0F-B1B9-DDA1ED5AB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32522"/>
            <a:ext cx="9905998" cy="457200"/>
          </a:xfrm>
        </p:spPr>
        <p:txBody>
          <a:bodyPr>
            <a:normAutofit fontScale="90000"/>
          </a:bodyPr>
          <a:lstStyle/>
          <a:p>
            <a:r>
              <a:rPr lang="pt-BR" dirty="0"/>
              <a:t>CONTINUAÇÃO DE FONTES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AD8347-3DB2-409C-91AB-8149FF2D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384313"/>
            <a:ext cx="9905998" cy="6473687"/>
          </a:xfrm>
        </p:spPr>
        <p:txBody>
          <a:bodyPr>
            <a:normAutofit/>
          </a:bodyPr>
          <a:lstStyle/>
          <a:p>
            <a:r>
              <a:rPr lang="pt-BR" dirty="0"/>
              <a:t>Ao listar fontes para seu website, comece com aquela preferida, seguindo-se algumas alternativas para ela. É recomendável encerrar a listagem das fontes com uma fonte genérica. Assim fazendo, em último caso a página será </a:t>
            </a:r>
            <a:r>
              <a:rPr lang="pt-BR" dirty="0" err="1"/>
              <a:t>renderizada</a:t>
            </a:r>
            <a:r>
              <a:rPr lang="pt-BR" dirty="0"/>
              <a:t> com fonte da mesma família das que foram especificadas quando todas as demais estiverem indisponíveis na máquina do usuário.</a:t>
            </a:r>
          </a:p>
          <a:p>
            <a:r>
              <a:rPr lang="pt-BR" dirty="0"/>
              <a:t>A seguir mostramos um exemplo de listagem de fontes: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h1 {</a:t>
            </a:r>
            <a:r>
              <a:rPr lang="pt-BR" dirty="0" err="1"/>
              <a:t>font-family</a:t>
            </a:r>
            <a:r>
              <a:rPr lang="pt-BR" dirty="0"/>
              <a:t>: </a:t>
            </a:r>
            <a:r>
              <a:rPr lang="pt-BR" dirty="0" err="1"/>
              <a:t>arial</a:t>
            </a:r>
            <a:r>
              <a:rPr lang="pt-BR" dirty="0"/>
              <a:t>, </a:t>
            </a:r>
            <a:r>
              <a:rPr lang="pt-BR" dirty="0" err="1"/>
              <a:t>verdana</a:t>
            </a:r>
            <a:r>
              <a:rPr lang="pt-BR" dirty="0"/>
              <a:t>, </a:t>
            </a:r>
            <a:r>
              <a:rPr lang="pt-BR" dirty="0" err="1"/>
              <a:t>sans-serif</a:t>
            </a:r>
            <a:r>
              <a:rPr lang="pt-BR" dirty="0"/>
              <a:t>;}</a:t>
            </a:r>
          </a:p>
          <a:p>
            <a:pPr marL="0" indent="0">
              <a:buNone/>
            </a:pPr>
            <a:r>
              <a:rPr lang="pt-BR" dirty="0"/>
              <a:t>	h2 {</a:t>
            </a:r>
            <a:r>
              <a:rPr lang="pt-BR" dirty="0" err="1"/>
              <a:t>font-family</a:t>
            </a:r>
            <a:r>
              <a:rPr lang="pt-BR" dirty="0"/>
              <a:t>: "Times New Roman", </a:t>
            </a:r>
            <a:r>
              <a:rPr lang="pt-BR" dirty="0" err="1"/>
              <a:t>serif</a:t>
            </a:r>
            <a:r>
              <a:rPr lang="pt-BR" dirty="0"/>
              <a:t>;}</a:t>
            </a:r>
          </a:p>
          <a:p>
            <a:pPr marL="0" indent="0">
              <a:buNone/>
            </a:pPr>
            <a:r>
              <a:rPr lang="pt-BR" dirty="0"/>
              <a:t>Cabeçalhos &lt;h1&gt; serão </a:t>
            </a:r>
            <a:r>
              <a:rPr lang="pt-BR" dirty="0" err="1"/>
              <a:t>renderizados</a:t>
            </a:r>
            <a:r>
              <a:rPr lang="pt-BR" dirty="0"/>
              <a:t> com fonte "Arial". Se o usuário não tiver a </a:t>
            </a:r>
            <a:r>
              <a:rPr lang="pt-BR" dirty="0" err="1"/>
              <a:t>font</a:t>
            </a:r>
            <a:r>
              <a:rPr lang="pt-BR" dirty="0"/>
              <a:t> Arial instalada, será usada a fonte "</a:t>
            </a:r>
            <a:r>
              <a:rPr lang="pt-BR" dirty="0" err="1"/>
              <a:t>Verdana</a:t>
            </a:r>
            <a:r>
              <a:rPr lang="pt-BR" dirty="0"/>
              <a:t>". Se ambas estiverem indisponíveis na máquina do usuário será usada uma fonte da família </a:t>
            </a:r>
            <a:r>
              <a:rPr lang="pt-BR" dirty="0" err="1"/>
              <a:t>sans-serif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Notar que para especificar a fonte "Times New Roman" foram usadas aspas. Isto é necessário para fontes com nomes compostos e que contenham espaços entre os nomes.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5105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866A8-FF61-4054-85D9-56A123C84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Estilo da fonte [</a:t>
            </a:r>
            <a:r>
              <a:rPr lang="pt-BR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font-style</a:t>
            </a:r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49234-88C3-43CF-AECD-6DED47399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propriedade </a:t>
            </a:r>
            <a:r>
              <a:rPr lang="pt-BR" dirty="0" err="1"/>
              <a:t>font-style</a:t>
            </a:r>
            <a:r>
              <a:rPr lang="pt-BR" dirty="0"/>
              <a:t> define a escolha da fonte em normal, </a:t>
            </a:r>
            <a:r>
              <a:rPr lang="pt-BR" dirty="0" err="1"/>
              <a:t>italic</a:t>
            </a:r>
            <a:r>
              <a:rPr lang="pt-BR" dirty="0"/>
              <a:t> ou oblique (letra romana inclinada) . No exemplo a seguir todos as cabeçalhos &lt;h2&gt; serão em itálico.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h1 {</a:t>
            </a:r>
            <a:r>
              <a:rPr lang="pt-BR" dirty="0" err="1"/>
              <a:t>font-family</a:t>
            </a:r>
            <a:r>
              <a:rPr lang="pt-BR" dirty="0"/>
              <a:t>: </a:t>
            </a:r>
            <a:r>
              <a:rPr lang="pt-BR" dirty="0" err="1"/>
              <a:t>arial</a:t>
            </a:r>
            <a:r>
              <a:rPr lang="pt-BR" dirty="0"/>
              <a:t>, </a:t>
            </a:r>
            <a:r>
              <a:rPr lang="pt-BR" dirty="0" err="1"/>
              <a:t>verdana</a:t>
            </a:r>
            <a:r>
              <a:rPr lang="pt-BR" dirty="0"/>
              <a:t>, </a:t>
            </a:r>
            <a:r>
              <a:rPr lang="pt-BR" dirty="0" err="1"/>
              <a:t>sans-serif</a:t>
            </a:r>
            <a:r>
              <a:rPr lang="pt-BR" dirty="0"/>
              <a:t>;}</a:t>
            </a:r>
          </a:p>
          <a:p>
            <a:pPr marL="0" indent="0">
              <a:buNone/>
            </a:pPr>
            <a:r>
              <a:rPr lang="pt-BR" dirty="0"/>
              <a:t>	h2 {</a:t>
            </a:r>
            <a:r>
              <a:rPr lang="pt-BR" dirty="0" err="1"/>
              <a:t>font-family</a:t>
            </a:r>
            <a:r>
              <a:rPr lang="pt-BR" dirty="0"/>
              <a:t>: "Times New Roman", </a:t>
            </a:r>
            <a:r>
              <a:rPr lang="pt-BR" dirty="0" err="1"/>
              <a:t>serif</a:t>
            </a:r>
            <a:r>
              <a:rPr lang="pt-BR" dirty="0"/>
              <a:t>; </a:t>
            </a:r>
            <a:r>
              <a:rPr lang="pt-BR" dirty="0" err="1"/>
              <a:t>font-style</a:t>
            </a:r>
            <a:r>
              <a:rPr lang="pt-BR" dirty="0"/>
              <a:t>: </a:t>
            </a:r>
            <a:r>
              <a:rPr lang="pt-BR" dirty="0" err="1"/>
              <a:t>italic</a:t>
            </a:r>
            <a:r>
              <a:rPr lang="pt-BR" dirty="0"/>
              <a:t>;}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5651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346B0-85C8-4001-85D1-06387DCD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Fonte variante [</a:t>
            </a:r>
            <a:r>
              <a:rPr lang="pt-BR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font-variant</a:t>
            </a:r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F9EC65-9611-47C6-B0CD-513023E1A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883" y="1734378"/>
            <a:ext cx="9905998" cy="1560444"/>
          </a:xfrm>
        </p:spPr>
        <p:txBody>
          <a:bodyPr/>
          <a:lstStyle/>
          <a:p>
            <a:r>
              <a:rPr lang="pt-BR" dirty="0"/>
              <a:t>A propriedade </a:t>
            </a:r>
            <a:r>
              <a:rPr lang="pt-BR" dirty="0" err="1"/>
              <a:t>font-variant</a:t>
            </a:r>
            <a:r>
              <a:rPr lang="pt-BR" dirty="0"/>
              <a:t> é usada para escolher as variantes normal ou </a:t>
            </a:r>
            <a:r>
              <a:rPr lang="pt-BR" dirty="0" err="1"/>
              <a:t>small</a:t>
            </a:r>
            <a:r>
              <a:rPr lang="pt-BR" dirty="0"/>
              <a:t>-caps. Uma fonte </a:t>
            </a:r>
            <a:r>
              <a:rPr lang="pt-BR" dirty="0" err="1"/>
              <a:t>small-caps</a:t>
            </a:r>
            <a:r>
              <a:rPr lang="pt-BR" dirty="0"/>
              <a:t> é aquela que usa letras maiúsculas de tamanhos reduzidos. Confundiu? Dê uma olhada nos exemplos a seguir: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207B52-FD75-4A07-82CE-90508F5B9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119" y="2975774"/>
            <a:ext cx="4438095" cy="63809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9B3605D-F733-4B2C-8443-5554933B6DA2}"/>
              </a:ext>
            </a:extLst>
          </p:cNvPr>
          <p:cNvSpPr txBox="1"/>
          <p:nvPr/>
        </p:nvSpPr>
        <p:spPr>
          <a:xfrm>
            <a:off x="1141413" y="4045226"/>
            <a:ext cx="97204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Se a propriedade </a:t>
            </a:r>
            <a:r>
              <a:rPr lang="pt-BR" dirty="0" err="1"/>
              <a:t>font-variant</a:t>
            </a:r>
            <a:r>
              <a:rPr lang="pt-BR" dirty="0"/>
              <a:t> for definida para </a:t>
            </a:r>
            <a:r>
              <a:rPr lang="pt-BR" dirty="0" err="1"/>
              <a:t>small-caps</a:t>
            </a:r>
            <a:r>
              <a:rPr lang="pt-BR" dirty="0"/>
              <a:t> e não estiver disponível na máquina do usuário, será usada fonte em maiúscula.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h1 {</a:t>
            </a:r>
            <a:r>
              <a:rPr lang="pt-BR" dirty="0" err="1"/>
              <a:t>font-variant</a:t>
            </a:r>
            <a:r>
              <a:rPr lang="pt-BR" dirty="0"/>
              <a:t>: </a:t>
            </a:r>
            <a:r>
              <a:rPr lang="pt-BR" dirty="0" err="1"/>
              <a:t>small-caps</a:t>
            </a:r>
            <a:r>
              <a:rPr lang="pt-BR" dirty="0"/>
              <a:t>;}</a:t>
            </a:r>
          </a:p>
          <a:p>
            <a:r>
              <a:rPr lang="pt-BR" dirty="0"/>
              <a:t>	h2 {</a:t>
            </a:r>
            <a:r>
              <a:rPr lang="pt-BR" dirty="0" err="1"/>
              <a:t>font-variant</a:t>
            </a:r>
            <a:r>
              <a:rPr lang="pt-BR" dirty="0"/>
              <a:t>: normal;}</a:t>
            </a:r>
          </a:p>
        </p:txBody>
      </p:sp>
    </p:spTree>
    <p:extLst>
      <p:ext uri="{BB962C8B-B14F-4D97-AF65-F5344CB8AC3E}">
        <p14:creationId xmlns:p14="http://schemas.microsoft.com/office/powerpoint/2010/main" val="1556552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E1E90-DFC6-461D-A2E2-8EB9160A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Tamanho da fonte [</a:t>
            </a:r>
            <a:r>
              <a:rPr lang="pt-BR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font-size</a:t>
            </a:r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C9A3A4-3BC7-4718-926D-9D344DFA7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24085"/>
            <a:ext cx="9905998" cy="4167116"/>
          </a:xfrm>
        </p:spPr>
        <p:txBody>
          <a:bodyPr>
            <a:normAutofit/>
          </a:bodyPr>
          <a:lstStyle/>
          <a:p>
            <a:r>
              <a:rPr lang="pt-BR" dirty="0"/>
              <a:t>O tamanho da fonte é definido pela propriedade </a:t>
            </a:r>
            <a:r>
              <a:rPr lang="pt-BR" dirty="0" err="1"/>
              <a:t>font-size</a:t>
            </a:r>
            <a:r>
              <a:rPr lang="pt-BR" dirty="0"/>
              <a:t>.</a:t>
            </a:r>
          </a:p>
          <a:p>
            <a:r>
              <a:rPr lang="pt-BR" dirty="0"/>
              <a:t>Existem muitas unidades (p. ex.:. pixels e percentagens) que podem ser usadas para definir o tamanho da fonte. Neste tutorial nós usaremos as unidades mais comuns e apropriadas. Ver exemplos a seguir: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h1 {</a:t>
            </a:r>
            <a:r>
              <a:rPr lang="pt-BR" dirty="0" err="1"/>
              <a:t>font-size</a:t>
            </a:r>
            <a:r>
              <a:rPr lang="pt-BR" dirty="0"/>
              <a:t>: 30px;}</a:t>
            </a:r>
          </a:p>
          <a:p>
            <a:pPr marL="0" indent="0">
              <a:buNone/>
            </a:pPr>
            <a:r>
              <a:rPr lang="pt-BR" dirty="0"/>
              <a:t>	h2 {</a:t>
            </a:r>
            <a:r>
              <a:rPr lang="pt-BR" dirty="0" err="1"/>
              <a:t>font-size</a:t>
            </a:r>
            <a:r>
              <a:rPr lang="pt-BR" dirty="0"/>
              <a:t>: 12pt;}</a:t>
            </a:r>
          </a:p>
          <a:p>
            <a:pPr marL="0" indent="0">
              <a:buNone/>
            </a:pPr>
            <a:r>
              <a:rPr lang="pt-BR" dirty="0"/>
              <a:t>	h3 {</a:t>
            </a:r>
            <a:r>
              <a:rPr lang="pt-BR" dirty="0" err="1"/>
              <a:t>font-size</a:t>
            </a:r>
            <a:r>
              <a:rPr lang="pt-BR" dirty="0"/>
              <a:t>: 120%;}</a:t>
            </a:r>
          </a:p>
          <a:p>
            <a:pPr marL="0" indent="0">
              <a:buNone/>
            </a:pPr>
            <a:r>
              <a:rPr lang="pt-BR" dirty="0"/>
              <a:t>	p {</a:t>
            </a:r>
            <a:r>
              <a:rPr lang="pt-BR" dirty="0" err="1"/>
              <a:t>font-size</a:t>
            </a:r>
            <a:r>
              <a:rPr lang="pt-BR" dirty="0"/>
              <a:t>: 1em;}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9315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ACA01-BE9F-42B6-B439-186471C26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31929"/>
            <a:ext cx="9905998" cy="457200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Font-size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CBCAC2-6A27-4AF8-B483-09A8CA47D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589129"/>
            <a:ext cx="6777110" cy="5614723"/>
          </a:xfrm>
        </p:spPr>
        <p:txBody>
          <a:bodyPr>
            <a:normAutofit/>
          </a:bodyPr>
          <a:lstStyle/>
          <a:p>
            <a:r>
              <a:rPr lang="pt-BR" dirty="0"/>
              <a:t>Existe uma diferença fundamental entre as quatro unidades adotadas no exemplo acima. As unidades '</a:t>
            </a:r>
            <a:r>
              <a:rPr lang="pt-BR" dirty="0" err="1"/>
              <a:t>px</a:t>
            </a:r>
            <a:r>
              <a:rPr lang="pt-BR" dirty="0"/>
              <a:t>' e '</a:t>
            </a:r>
            <a:r>
              <a:rPr lang="pt-BR" dirty="0" err="1"/>
              <a:t>pt</a:t>
            </a:r>
            <a:r>
              <a:rPr lang="pt-BR" dirty="0"/>
              <a:t>' são absolutas, enquanto '%' e 'em' permitem ao usuário ajustar o tamanho das fontes ao seu gosto e necessidade. Muitos usuários têm restrições, como por exemplo, pessoas idosas, pessoas com visão limitada ou as que usam um monitor de baixa qualidade. Para fazer seu site acessível a todos, você deverá usar unidades como '%' ou 'em'. </a:t>
            </a:r>
          </a:p>
          <a:p>
            <a:r>
              <a:rPr lang="pt-BR" dirty="0"/>
              <a:t>Abaixo uma figura mostrando como ajustar o tamanho das fontes nos navegadores Mozilla Firefox e Internet Explorer. Tente você mesmo este ajuste — uma excelente funcionalidade do navegador, não é mesmo?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4A3CD11D-7F00-4882-BD78-DB0B5CF12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111" y="878373"/>
            <a:ext cx="4190015" cy="5036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4378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33694-C78A-408B-B7FC-220A6B8B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Compilando [</a:t>
            </a:r>
            <a:r>
              <a:rPr lang="pt-BR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font</a:t>
            </a:r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6D65B6-D429-4387-B80A-58D48EC42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Usar </a:t>
            </a:r>
            <a:r>
              <a:rPr lang="pt-BR" dirty="0" err="1"/>
              <a:t>font</a:t>
            </a:r>
            <a:r>
              <a:rPr lang="pt-BR" dirty="0"/>
              <a:t> é uma abreviação que permite definir várias propriedades em uma só.</a:t>
            </a:r>
          </a:p>
          <a:p>
            <a:r>
              <a:rPr lang="pt-BR" dirty="0"/>
              <a:t>Veja a seguir quatro linhas de código usadas para definir propriedades de fonte para um parágrafo &lt;p&gt;: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p 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font-style</a:t>
            </a:r>
            <a:r>
              <a:rPr lang="pt-BR" dirty="0"/>
              <a:t>: </a:t>
            </a:r>
            <a:r>
              <a:rPr lang="pt-BR" dirty="0" err="1"/>
              <a:t>italic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font-weight</a:t>
            </a:r>
            <a:r>
              <a:rPr lang="pt-BR" dirty="0"/>
              <a:t>: </a:t>
            </a:r>
            <a:r>
              <a:rPr lang="pt-BR" dirty="0" err="1"/>
              <a:t>bold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font-size</a:t>
            </a:r>
            <a:r>
              <a:rPr lang="pt-BR" dirty="0"/>
              <a:t>: 30px;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font-family</a:t>
            </a:r>
            <a:r>
              <a:rPr lang="pt-BR" dirty="0"/>
              <a:t>: </a:t>
            </a:r>
            <a:r>
              <a:rPr lang="pt-BR" dirty="0" err="1"/>
              <a:t>arial</a:t>
            </a:r>
            <a:r>
              <a:rPr lang="pt-BR" dirty="0"/>
              <a:t>, </a:t>
            </a:r>
            <a:r>
              <a:rPr lang="pt-BR" dirty="0" err="1"/>
              <a:t>sans-serif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4157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8CA13-112E-4335-8E5C-E19295CD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Compilando [</a:t>
            </a:r>
            <a:r>
              <a:rPr lang="pt-BR" sz="32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font</a:t>
            </a:r>
            <a:r>
              <a:rPr lang="pt-BR" sz="32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br>
              <a:rPr lang="pt-BR" sz="32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B5FBAE-B7B5-4C85-ADD0-E0EEE92B8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Usar a abreviação simplifica o código como mostrado abaixo: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	p 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font</a:t>
            </a:r>
            <a:r>
              <a:rPr lang="pt-BR" dirty="0"/>
              <a:t>: </a:t>
            </a:r>
            <a:r>
              <a:rPr lang="pt-BR" dirty="0" err="1"/>
              <a:t>italic</a:t>
            </a:r>
            <a:r>
              <a:rPr lang="pt-BR" dirty="0"/>
              <a:t> </a:t>
            </a:r>
            <a:r>
              <a:rPr lang="pt-BR" dirty="0" err="1"/>
              <a:t>bold</a:t>
            </a:r>
            <a:r>
              <a:rPr lang="pt-BR" dirty="0"/>
              <a:t> 30px </a:t>
            </a:r>
            <a:r>
              <a:rPr lang="pt-BR" dirty="0" err="1"/>
              <a:t>arial</a:t>
            </a:r>
            <a:r>
              <a:rPr lang="pt-BR" dirty="0"/>
              <a:t>, </a:t>
            </a:r>
            <a:r>
              <a:rPr lang="pt-BR" dirty="0" err="1"/>
              <a:t>sans-serif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 ordem dos valores para </a:t>
            </a:r>
            <a:r>
              <a:rPr lang="pt-BR" dirty="0" err="1"/>
              <a:t>font</a:t>
            </a:r>
            <a:r>
              <a:rPr lang="pt-BR" dirty="0"/>
              <a:t> é a mostrada a seguir :</a:t>
            </a:r>
          </a:p>
          <a:p>
            <a:r>
              <a:rPr lang="pt-BR" dirty="0" err="1"/>
              <a:t>font-style</a:t>
            </a:r>
            <a:r>
              <a:rPr lang="pt-BR" dirty="0"/>
              <a:t> | </a:t>
            </a:r>
            <a:r>
              <a:rPr lang="pt-BR" dirty="0" err="1"/>
              <a:t>font-variant</a:t>
            </a:r>
            <a:r>
              <a:rPr lang="pt-BR" dirty="0"/>
              <a:t> | </a:t>
            </a:r>
            <a:r>
              <a:rPr lang="pt-BR" dirty="0" err="1"/>
              <a:t>font-weight</a:t>
            </a:r>
            <a:r>
              <a:rPr lang="pt-BR" dirty="0"/>
              <a:t> | </a:t>
            </a:r>
            <a:r>
              <a:rPr lang="pt-BR" dirty="0" err="1"/>
              <a:t>font-size</a:t>
            </a:r>
            <a:r>
              <a:rPr lang="pt-BR" dirty="0"/>
              <a:t> | </a:t>
            </a:r>
            <a:r>
              <a:rPr lang="pt-BR" dirty="0" err="1"/>
              <a:t>font-family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4718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20FC7-5857-4422-BEF0-927FB9FE5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Indentação</a:t>
            </a:r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texto [</a:t>
            </a:r>
            <a:r>
              <a:rPr lang="pt-BR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text-indent</a:t>
            </a:r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F5915A-0E9E-488C-9472-FDC0BB33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propriedade </a:t>
            </a:r>
            <a:r>
              <a:rPr lang="pt-BR" dirty="0" err="1"/>
              <a:t>text-indent</a:t>
            </a:r>
            <a:r>
              <a:rPr lang="pt-BR" dirty="0"/>
              <a:t> permite que você aplique um recuo à primeira linha de um parágrafo. No exemplo a seguir um recuo de 30px é aplicado à todos os textos marcados com &lt;p&gt;: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p 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text-indent</a:t>
            </a:r>
            <a:r>
              <a:rPr lang="pt-BR" dirty="0"/>
              <a:t>: 30px;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9822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7DC31-7646-43A0-80AB-6E27F5E9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Alinhamento de textos [</a:t>
            </a:r>
            <a:r>
              <a:rPr lang="pt-BR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text-align</a:t>
            </a:r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7EB3AB-EC4A-40CD-8425-45634C8DF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propriedade </a:t>
            </a:r>
            <a:r>
              <a:rPr lang="pt-BR" dirty="0" err="1"/>
              <a:t>text-align</a:t>
            </a:r>
            <a:r>
              <a:rPr lang="pt-BR" dirty="0"/>
              <a:t> corresponde ao atributo </a:t>
            </a:r>
            <a:r>
              <a:rPr lang="pt-BR" dirty="0" err="1"/>
              <a:t>align</a:t>
            </a:r>
            <a:r>
              <a:rPr lang="pt-BR" dirty="0"/>
              <a:t> das antigas versões do HTML. Textos podem ser alinhados à esquerda (</a:t>
            </a:r>
            <a:r>
              <a:rPr lang="pt-BR" dirty="0" err="1"/>
              <a:t>left</a:t>
            </a:r>
            <a:r>
              <a:rPr lang="pt-BR" dirty="0"/>
              <a:t>), à direita (</a:t>
            </a:r>
            <a:r>
              <a:rPr lang="pt-BR" dirty="0" err="1"/>
              <a:t>right</a:t>
            </a:r>
            <a:r>
              <a:rPr lang="pt-BR" dirty="0"/>
              <a:t>) ou centrados (center). E temos ainda o valor </a:t>
            </a:r>
            <a:r>
              <a:rPr lang="pt-BR" dirty="0" err="1"/>
              <a:t>justify</a:t>
            </a:r>
            <a:r>
              <a:rPr lang="pt-BR" dirty="0"/>
              <a:t> que faz com o texto contido em uma linha se estenda tocando as margens esquerda e direita. Este tipo de alinhamento é usado em jornais e revistas.</a:t>
            </a:r>
          </a:p>
        </p:txBody>
      </p:sp>
    </p:spTree>
    <p:extLst>
      <p:ext uri="{BB962C8B-B14F-4D97-AF65-F5344CB8AC3E}">
        <p14:creationId xmlns:p14="http://schemas.microsoft.com/office/powerpoint/2010/main" val="2031540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2E953-F3C8-4ABF-9503-0A9C1566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821635"/>
          </a:xfrm>
        </p:spPr>
        <p:txBody>
          <a:bodyPr>
            <a:normAutofit fontScale="90000"/>
          </a:bodyPr>
          <a:lstStyle/>
          <a:p>
            <a:r>
              <a:rPr lang="pt-BR" sz="32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Alinhamento de textos [</a:t>
            </a:r>
            <a:r>
              <a:rPr lang="pt-BR" sz="32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text-align</a:t>
            </a:r>
            <a:r>
              <a:rPr lang="pt-BR" sz="32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br>
              <a:rPr lang="pt-BR" sz="32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598685-CA34-48D2-8292-CBE8B133B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033671"/>
            <a:ext cx="9905998" cy="475753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No exemplo a seguir o texto contido na célula de cabeçalho &lt;</a:t>
            </a:r>
            <a:r>
              <a:rPr lang="pt-BR" dirty="0" err="1"/>
              <a:t>th</a:t>
            </a:r>
            <a:r>
              <a:rPr lang="pt-BR" dirty="0"/>
              <a:t>&gt; é alinhado à direita e os contidos nas células de dados &lt;</a:t>
            </a:r>
            <a:r>
              <a:rPr lang="pt-BR" dirty="0" err="1"/>
              <a:t>td</a:t>
            </a:r>
            <a:r>
              <a:rPr lang="pt-BR" dirty="0"/>
              <a:t>&gt; são centrados. E, os textos normais em parágrafos são justificados: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dirty="0" err="1"/>
              <a:t>th</a:t>
            </a:r>
            <a:r>
              <a:rPr lang="pt-BR" dirty="0"/>
              <a:t> 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text-align</a:t>
            </a:r>
            <a:r>
              <a:rPr lang="pt-BR" dirty="0"/>
              <a:t>: </a:t>
            </a:r>
            <a:r>
              <a:rPr lang="pt-BR" dirty="0" err="1"/>
              <a:t>right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dirty="0" err="1"/>
              <a:t>td</a:t>
            </a:r>
            <a:r>
              <a:rPr lang="pt-BR" dirty="0"/>
              <a:t> 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text-align</a:t>
            </a:r>
            <a:r>
              <a:rPr lang="pt-BR" dirty="0"/>
              <a:t>: center;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	p 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text-align</a:t>
            </a:r>
            <a:r>
              <a:rPr lang="pt-BR" dirty="0"/>
              <a:t>: </a:t>
            </a:r>
            <a:r>
              <a:rPr lang="pt-BR" dirty="0" err="1"/>
              <a:t>justify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8165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A38B0-C335-43D1-87D5-61897273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Decoração de textos [</a:t>
            </a:r>
            <a:r>
              <a:rPr lang="pt-BR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text-decoration</a:t>
            </a:r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225A66-BCF2-46E0-A048-A45AC2999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84243"/>
            <a:ext cx="9905998" cy="5373757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A propriedade </a:t>
            </a:r>
            <a:r>
              <a:rPr lang="pt-BR" dirty="0" err="1"/>
              <a:t>text-decoration</a:t>
            </a:r>
            <a:r>
              <a:rPr lang="pt-BR" dirty="0"/>
              <a:t> possibilita adicionar "efeitos" ou "decoração" em textos. Você pode por </a:t>
            </a:r>
            <a:r>
              <a:rPr lang="pt-BR" dirty="0" err="1"/>
              <a:t>rexemplo</a:t>
            </a:r>
            <a:r>
              <a:rPr lang="pt-BR" dirty="0"/>
              <a:t>, sublinhar textos, cortar o texto com uma linha, colocar uma linha sobre o texto, etc. No exemplo a seguir os cabeçalhos &lt;h1&gt; são sublinhados, os cabeçalhos &lt;h2&gt; levam um linha em cima e os cabeçalhos &lt;h3&gt; são cortados por uma linha.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h1 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text-decoration</a:t>
            </a:r>
            <a:r>
              <a:rPr lang="pt-BR" dirty="0"/>
              <a:t>: </a:t>
            </a:r>
            <a:r>
              <a:rPr lang="pt-BR" dirty="0" err="1"/>
              <a:t>underline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	h2 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text-decoration</a:t>
            </a:r>
            <a:r>
              <a:rPr lang="pt-BR" dirty="0"/>
              <a:t>: </a:t>
            </a:r>
            <a:r>
              <a:rPr lang="pt-BR" dirty="0" err="1"/>
              <a:t>overline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	h3 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text-decoration</a:t>
            </a:r>
            <a:r>
              <a:rPr lang="pt-BR" dirty="0"/>
              <a:t>: </a:t>
            </a:r>
            <a:r>
              <a:rPr lang="pt-BR" dirty="0" err="1"/>
              <a:t>line-through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443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84C02-CBCA-40D0-8500-12C36920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01149"/>
          </a:xfrm>
        </p:spPr>
        <p:txBody>
          <a:bodyPr/>
          <a:lstStyle/>
          <a:p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Espaço entre letras [</a:t>
            </a:r>
            <a:r>
              <a:rPr lang="pt-BR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letter-spacing</a:t>
            </a:r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]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C89D91-1B6E-459F-B8FD-7FAC68E39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510749"/>
            <a:ext cx="9905998" cy="4280452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O espaçamento entre os caracteres de um texto é controlado pela propriedade </a:t>
            </a:r>
            <a:r>
              <a:rPr lang="pt-BR" dirty="0" err="1"/>
              <a:t>letter-spacing</a:t>
            </a:r>
            <a:r>
              <a:rPr lang="pt-BR" dirty="0"/>
              <a:t>. O valor desta propriedade define o espaço entre os caracteres. Por exemplo, se você deseja um espaço de 3px entre as letras do texto de um parágrafo &lt;p&gt; e de 6px entre as letras do texto de um cabeçalho &lt;h1&gt; o código a seguir deverá ser usado.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h1 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letter-spacing</a:t>
            </a:r>
            <a:r>
              <a:rPr lang="pt-BR" dirty="0"/>
              <a:t>: 6px;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	p {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letter-spacing</a:t>
            </a:r>
            <a:r>
              <a:rPr lang="pt-BR" dirty="0"/>
              <a:t>: 3px;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6299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8C05E-D491-4CCE-A851-1BA535CA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Transformação de textos [</a:t>
            </a: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text-transform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]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276D3D-5562-41C8-9C1C-13DA7BB87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propriedade </a:t>
            </a:r>
            <a:r>
              <a:rPr lang="pt-BR" dirty="0" err="1"/>
              <a:t>text-transform</a:t>
            </a:r>
            <a:r>
              <a:rPr lang="pt-BR" dirty="0"/>
              <a:t> controla a capitalização (tornar maiúscula) do texto. Você pode escolher capitalize, </a:t>
            </a:r>
            <a:r>
              <a:rPr lang="pt-BR" dirty="0" err="1"/>
              <a:t>uppercase</a:t>
            </a:r>
            <a:r>
              <a:rPr lang="pt-BR" dirty="0"/>
              <a:t> ou </a:t>
            </a:r>
            <a:r>
              <a:rPr lang="pt-BR" dirty="0" err="1"/>
              <a:t>lowercase</a:t>
            </a:r>
            <a:r>
              <a:rPr lang="pt-BR" dirty="0"/>
              <a:t> independentemente de como o texto foi escrito no código HTML.</a:t>
            </a:r>
          </a:p>
          <a:p>
            <a:r>
              <a:rPr lang="pt-BR" dirty="0"/>
              <a:t>Como exemplo tomamos a palavra "cabeçalho" que pode ser apresentada ao usuário como "CABEÇALHO" ou "Cabeçalho". São quatro os valores possíveis para </a:t>
            </a:r>
            <a:r>
              <a:rPr lang="pt-BR" dirty="0" err="1"/>
              <a:t>text-transform</a:t>
            </a:r>
            <a:r>
              <a:rPr lang="pt-BR" dirty="0"/>
              <a:t>: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8023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EC8BB-B287-4678-9107-42532B40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D48780-E544-4A32-9632-F6EFE2BE5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8801"/>
            <a:ext cx="9905998" cy="39624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capitalize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Capitaliza a primeira letra de cada palavra. Por exemplo: "</a:t>
            </a: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john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doe" transforma-se para "John Doe".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uppercase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Converte todas as letras para maiúscula. Por exemplo: "</a:t>
            </a: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john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doe" transforma-se </a:t>
            </a: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para"JOHN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DOE".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lowercase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Converte todas as letras para minúscula. Por exemplo: "JOHN DOE" transforma-se </a:t>
            </a: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para"john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doe".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none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 transformações - o texto é apresentado como foi escrito no código HTML.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0479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D08E9-B2A0-4020-916D-0FD1196C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 que é </a:t>
            </a:r>
            <a:r>
              <a:rPr lang="pt-BR" sz="1800" b="1" dirty="0" err="1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pseudo-classe</a:t>
            </a:r>
            <a:r>
              <a:rPr lang="pt-BR" sz="1800" b="1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?</a:t>
            </a:r>
            <a:br>
              <a:rPr lang="pt-BR" sz="1800" b="1" dirty="0">
                <a:solidFill>
                  <a:srgbClr val="4F81BD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C18BEC-5275-4855-9A62-9DCD0F52B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Uma </a:t>
            </a:r>
            <a:r>
              <a:rPr lang="pt-BR" dirty="0" err="1"/>
              <a:t>pseudo-classe</a:t>
            </a:r>
            <a:r>
              <a:rPr lang="pt-BR" dirty="0"/>
              <a:t> permite estilizar levando em conta condições diferentes ou eventos ao definir uma propriedade de estilo para uma </a:t>
            </a:r>
            <a:r>
              <a:rPr lang="pt-BR" dirty="0" err="1"/>
              <a:t>tag</a:t>
            </a:r>
            <a:r>
              <a:rPr lang="pt-BR" dirty="0"/>
              <a:t> HTML.</a:t>
            </a:r>
          </a:p>
          <a:p>
            <a:r>
              <a:rPr lang="pt-BR" dirty="0"/>
              <a:t>Vamos ver um exemplo. Como você já sabe, links são marcados no HTML com </a:t>
            </a:r>
            <a:r>
              <a:rPr lang="pt-BR" dirty="0" err="1"/>
              <a:t>tags</a:t>
            </a:r>
            <a:r>
              <a:rPr lang="pt-BR" dirty="0"/>
              <a:t> &lt;a&gt;. Podemos então usar a como um seletor CSS: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a {</a:t>
            </a:r>
          </a:p>
          <a:p>
            <a:pPr marL="0" indent="0">
              <a:buNone/>
            </a:pPr>
            <a:r>
              <a:rPr lang="pt-BR" dirty="0"/>
              <a:t>		color: blue;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7219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8BE86-C664-487B-958D-8B7734714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0DF328-2270-4FFA-BA18-A9FA917D4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Um link pode ter diferentes estados. Por exemplo, pode ter sido visitado ou não visitado. Você usará </a:t>
            </a:r>
            <a:r>
              <a:rPr lang="pt-BR" dirty="0" err="1"/>
              <a:t>pseudo-classes</a:t>
            </a:r>
            <a:r>
              <a:rPr lang="pt-BR" dirty="0"/>
              <a:t> para estilizar links visitados e não visitados. </a:t>
            </a:r>
          </a:p>
          <a:p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a:link {</a:t>
            </a:r>
          </a:p>
          <a:p>
            <a:pPr marL="0" indent="0">
              <a:buNone/>
            </a:pPr>
            <a:r>
              <a:rPr lang="pt-BR" dirty="0"/>
              <a:t>		color: blue;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	a:visited {</a:t>
            </a:r>
          </a:p>
          <a:p>
            <a:pPr marL="0" indent="0">
              <a:buNone/>
            </a:pPr>
            <a:r>
              <a:rPr lang="pt-BR" dirty="0"/>
              <a:t>		color: </a:t>
            </a:r>
            <a:r>
              <a:rPr lang="pt-BR" dirty="0" err="1"/>
              <a:t>red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1521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A3188-5DBE-4C9F-88AC-4D611CFF7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23489E-3493-44C3-BD41-1663B0F85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Use as </a:t>
            </a:r>
            <a:r>
              <a:rPr lang="pt-BR" dirty="0" err="1"/>
              <a:t>pseudo-classes</a:t>
            </a:r>
            <a:r>
              <a:rPr lang="pt-BR" dirty="0"/>
              <a:t> a:link e a:visited para estilizar links não visitados e visitados respectivamente. Links ativos são estilizados com a </a:t>
            </a:r>
            <a:r>
              <a:rPr lang="pt-BR" dirty="0" err="1"/>
              <a:t>pseudo-classe</a:t>
            </a:r>
            <a:r>
              <a:rPr lang="pt-BR" dirty="0"/>
              <a:t> a:active e a:hover, esta última é a </a:t>
            </a:r>
            <a:r>
              <a:rPr lang="pt-BR" dirty="0" err="1"/>
              <a:t>pseudo-classe</a:t>
            </a:r>
            <a:r>
              <a:rPr lang="pt-BR" dirty="0"/>
              <a:t> para links com o ponteiro do mouse sobre ele. </a:t>
            </a:r>
          </a:p>
          <a:p>
            <a:r>
              <a:rPr lang="pt-BR" dirty="0"/>
              <a:t>A seguir explicaremos com mais detalhes e exemplificação, as quatro </a:t>
            </a:r>
            <a:r>
              <a:rPr lang="pt-BR" dirty="0" err="1"/>
              <a:t>pseudo-classes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4672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3CFDC-4930-4A3A-A27E-CCB15DA1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C86BF7-B526-4E22-94F8-9A616B377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Pseudo-classe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link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pseudo-classe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:link é usada para links não visitados.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exemplo a seguir links não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vistados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serão na cor verde. 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a:link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color: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72795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63CC0-5C4B-4D01-AD52-B316E01D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Continuação - </a:t>
            </a:r>
            <a:r>
              <a:rPr lang="pt-BR" dirty="0" err="1"/>
              <a:t>Pseudo-classe</a:t>
            </a:r>
            <a:r>
              <a:rPr lang="pt-BR" dirty="0"/>
              <a:t>: </a:t>
            </a:r>
            <a:r>
              <a:rPr lang="pt-BR" dirty="0" err="1"/>
              <a:t>visited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859739-C19F-4E98-84C7-D5059C79D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pseudo-clases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visited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é usada para links visitados. No exemplo a seguir links visitados serão na cor amarela: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a:visited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color: yellow;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61784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03CE7-2D5D-44A5-8DC7-96AB6EFA5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Continuação - </a:t>
            </a:r>
            <a:r>
              <a:rPr lang="pt-BR" dirty="0" err="1"/>
              <a:t>Pseudo-classe</a:t>
            </a:r>
            <a:r>
              <a:rPr lang="pt-BR" dirty="0"/>
              <a:t>: </a:t>
            </a:r>
            <a:r>
              <a:rPr lang="pt-BR" dirty="0" err="1"/>
              <a:t>active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AC19CA-CECF-4AA7-BF14-9F07208AB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54087"/>
            <a:ext cx="9905998" cy="3737113"/>
          </a:xfrm>
        </p:spPr>
        <p:txBody>
          <a:bodyPr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pseudo-classe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é usada para links ativos.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exemplo a seguir links ativos terão seu fundo na cor vermelha: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a:active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background-color: red;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8431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7B814-22F4-4325-82A9-68E4A1472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Continuação - </a:t>
            </a:r>
            <a:r>
              <a:rPr lang="pt-BR" dirty="0" err="1"/>
              <a:t>Pseudo-classe</a:t>
            </a:r>
            <a:r>
              <a:rPr lang="pt-BR" dirty="0"/>
              <a:t>: </a:t>
            </a:r>
            <a:r>
              <a:rPr lang="pt-BR" dirty="0" err="1"/>
              <a:t>hover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46B33E-A8A8-41EB-A4A6-205571D05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 </a:t>
            </a:r>
            <a:r>
              <a:rPr lang="pt-BR" dirty="0" err="1"/>
              <a:t>pseudo-classe</a:t>
            </a:r>
            <a:r>
              <a:rPr lang="pt-BR" dirty="0"/>
              <a:t> :</a:t>
            </a:r>
            <a:r>
              <a:rPr lang="pt-BR" dirty="0" err="1"/>
              <a:t>hover</a:t>
            </a:r>
            <a:r>
              <a:rPr lang="pt-BR" dirty="0"/>
              <a:t> é usada para quando o ponteiro do mouse está sobre o link.</a:t>
            </a:r>
          </a:p>
          <a:p>
            <a:r>
              <a:rPr lang="pt-BR" dirty="0"/>
              <a:t>Isto pode ser usado para conseguir efeitos bem interessantes. Por exemplo, podemos mudar a cor do link para laranja e o texto para itálico quando o ponteiro do mouse passa sobre ele, o código CSS para estes efeitos é o mostrado a seguir: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a:hover {</a:t>
            </a:r>
          </a:p>
          <a:p>
            <a:pPr marL="0" indent="0">
              <a:buNone/>
            </a:pPr>
            <a:r>
              <a:rPr lang="pt-BR" dirty="0"/>
              <a:t>		color: </a:t>
            </a:r>
            <a:r>
              <a:rPr lang="pt-BR" dirty="0" err="1"/>
              <a:t>orange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/>
              <a:t>font-style</a:t>
            </a:r>
            <a:r>
              <a:rPr lang="pt-BR" dirty="0"/>
              <a:t>: </a:t>
            </a:r>
            <a:r>
              <a:rPr lang="pt-BR" dirty="0" err="1"/>
              <a:t>italic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	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4000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6B0F4-82C9-4ADB-A247-BFDC8FAA5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Posições de imagem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B92F46-F426-446F-8362-134F9FDBD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left</a:t>
            </a:r>
            <a:r>
              <a:rPr lang="pt-BR" dirty="0"/>
              <a:t> e top: referência é o canto superior esquerdo;</a:t>
            </a:r>
          </a:p>
          <a:p>
            <a:r>
              <a:rPr lang="pt-BR" dirty="0" err="1"/>
              <a:t>left</a:t>
            </a:r>
            <a:r>
              <a:rPr lang="pt-BR" dirty="0"/>
              <a:t> e </a:t>
            </a:r>
            <a:r>
              <a:rPr lang="pt-BR" dirty="0" err="1"/>
              <a:t>bottom</a:t>
            </a:r>
            <a:r>
              <a:rPr lang="pt-BR" dirty="0"/>
              <a:t>: referência é o canto inferior esquerdo;</a:t>
            </a:r>
          </a:p>
          <a:p>
            <a:r>
              <a:rPr lang="pt-BR" dirty="0" err="1"/>
              <a:t>right</a:t>
            </a:r>
            <a:r>
              <a:rPr lang="pt-BR" dirty="0"/>
              <a:t> e top : referência é o canto superior direito;</a:t>
            </a:r>
          </a:p>
          <a:p>
            <a:r>
              <a:rPr lang="pt-BR" dirty="0" err="1"/>
              <a:t>right</a:t>
            </a:r>
            <a:r>
              <a:rPr lang="pt-BR" dirty="0"/>
              <a:t> e </a:t>
            </a:r>
            <a:r>
              <a:rPr lang="pt-BR" dirty="0" err="1"/>
              <a:t>bottom</a:t>
            </a:r>
            <a:r>
              <a:rPr lang="pt-BR" dirty="0"/>
              <a:t>: referência é o canto inferior direito.</a:t>
            </a:r>
          </a:p>
        </p:txBody>
      </p:sp>
    </p:spTree>
    <p:extLst>
      <p:ext uri="{BB962C8B-B14F-4D97-AF65-F5344CB8AC3E}">
        <p14:creationId xmlns:p14="http://schemas.microsoft.com/office/powerpoint/2010/main" val="2976266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ha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762B5E-46E6-45B9-86BD-02A010F124D8}"/>
</file>

<file path=customXml/itemProps2.xml><?xml version="1.0" encoding="utf-8"?>
<ds:datastoreItem xmlns:ds="http://schemas.openxmlformats.org/officeDocument/2006/customXml" ds:itemID="{28BC6B48-2282-4EB8-86BB-A02069F04ED8}"/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TM03457485[[fn=Malha]]</Template>
  <TotalTime>74</TotalTime>
  <Words>2536</Words>
  <Application>Microsoft Office PowerPoint</Application>
  <PresentationFormat>Widescreen</PresentationFormat>
  <Paragraphs>258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</vt:lpstr>
      <vt:lpstr>Century Gothic</vt:lpstr>
      <vt:lpstr>Malha</vt:lpstr>
      <vt:lpstr>Css   folha de estilo em cascatA </vt:lpstr>
      <vt:lpstr>Style.css</vt:lpstr>
      <vt:lpstr>Cores e fundo</vt:lpstr>
      <vt:lpstr>Imagem de fundo [background-image]</vt:lpstr>
      <vt:lpstr>Imagem de fundo repetida [background-repeat]  A propriedade background-repeat controla o comportamento de repetição da imagem de fundo. </vt:lpstr>
      <vt:lpstr>Imagem de fundo fixa [background-attachment] </vt:lpstr>
      <vt:lpstr>Posição da imagem de fundo [background-position] </vt:lpstr>
      <vt:lpstr>Na tabela a seguir são mostrados alguns exemplos :</vt:lpstr>
      <vt:lpstr>Economizando bits:</vt:lpstr>
      <vt:lpstr>continuação</vt:lpstr>
      <vt:lpstr>CONTINUAÇÃO</vt:lpstr>
      <vt:lpstr>Família de fontes [font-family] </vt:lpstr>
      <vt:lpstr>A diferença está mostrada na figura a seguir:</vt:lpstr>
      <vt:lpstr>CONTINUAÇÃO DE FONTES</vt:lpstr>
      <vt:lpstr>Estilo da fonte [font-style] </vt:lpstr>
      <vt:lpstr>Fonte variante [font-variant] </vt:lpstr>
      <vt:lpstr>Tamanho da fonte [font-size] </vt:lpstr>
      <vt:lpstr>Font-size</vt:lpstr>
      <vt:lpstr>Compilando [font] </vt:lpstr>
      <vt:lpstr>Compilando [font] </vt:lpstr>
      <vt:lpstr>Indentação de texto [text-indent] </vt:lpstr>
      <vt:lpstr>Alinhamento de textos [text-align] </vt:lpstr>
      <vt:lpstr>Alinhamento de textos [text-align] </vt:lpstr>
      <vt:lpstr>Decoração de textos [text-decoration] </vt:lpstr>
      <vt:lpstr>Espaço entre letras [letter-spacing] </vt:lpstr>
      <vt:lpstr>Transformação de textos [text-transform]</vt:lpstr>
      <vt:lpstr>continuação</vt:lpstr>
      <vt:lpstr>O que é pseudo-classe? </vt:lpstr>
      <vt:lpstr>continuação</vt:lpstr>
      <vt:lpstr>continuação</vt:lpstr>
      <vt:lpstr>continuação</vt:lpstr>
      <vt:lpstr>Continuação - Pseudo-classe: visited</vt:lpstr>
      <vt:lpstr>Continuação - Pseudo-classe: active</vt:lpstr>
      <vt:lpstr>Continuação - Pseudo-classe: hover</vt:lpstr>
      <vt:lpstr>Posições de imagem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  folha de estilo em cascatA</dc:title>
  <dc:creator>Clodoaldo Bastos</dc:creator>
  <cp:lastModifiedBy>Clodoaldo Bastos</cp:lastModifiedBy>
  <cp:revision>8</cp:revision>
  <dcterms:created xsi:type="dcterms:W3CDTF">2020-11-09T13:37:14Z</dcterms:created>
  <dcterms:modified xsi:type="dcterms:W3CDTF">2020-11-09T14:51:43Z</dcterms:modified>
</cp:coreProperties>
</file>