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05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315" r:id="rId15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82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F1077DB-935E-4A0A-947A-D283B9F9F452}" type="datetimeFigureOut">
              <a:rPr lang="en-US" smtClean="0"/>
              <a:t>9/11/2025</a:t>
            </a:fld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9EDBDA2-4480-4D82-8886-1B64A7ECBBAC}" type="datetimeFigureOut">
              <a:rPr lang="en-US" noProof="0" smtClean="0"/>
              <a:t>9/11/2025</a:t>
            </a:fld>
            <a:endParaRPr lang="en-US" noProof="0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noProof="0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FDDBACE-0F8F-43FD-98F0-DEE13552DADA}" type="slidenum">
              <a:rPr lang="en-US" noProof="0" smtClean="0"/>
              <a:t>‹nº›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áfico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Elemento gráfico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Elemento gráfico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Elemento gráfico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 rtlCol="0"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áfico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Elemento gráfico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Elemento gráfico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Elemento gráfico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14" name="Espaço Reservado para Conteúdo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rtlCol="0"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pt-br" noProof="0"/>
              <a:t>TÍTULO DO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bra de seção com a imagem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 gráfico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Elemento gráfico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Elemento gráfico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Elemento gráfico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Elemento gráfico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Espaço Reservado para Imagem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rtlCol="0"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 rtlCol="0"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lemento gráfico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Elemento gráfico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Elemento gráfico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Elemento gráfico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16" name="Espaço Reservado para Conteúdo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pt-br" noProof="0"/>
              <a:t>TÍTULO DO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bra de seção com a imagem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áfico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Elemento gráfico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Elemento gráfico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Elemento gráfico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 rtlCol="0"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16" name="Espaço Reservado para Imagem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 rtlCol="0"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áfico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Elemento gráfico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Elemento gráfico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16" name="Espaço Reservado para Conteúdo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 rtlCol="0"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9" name="Espaço Reservado para Conteúdo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pt-br" noProof="0"/>
              <a:t>TÍTULO DO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com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lemento gráfico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Elemento gráfico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Elemento gráfico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14" name="Espaço Reservado para Imagem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 rtlCol="0"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Espaço Reservado para Conteúdo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pt-br" noProof="0"/>
              <a:t>TÍTULO DO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lemento gráfico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Elemento gráfico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Elemento gráfico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Elemento gráfico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Elemento gráfico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16" name="Espaço Reservado para Conteúdo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9" name="Espaço Reservado para Conteúdo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pt-br" noProof="0"/>
              <a:t>TÍTULO DO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áfico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Elemento gráfico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16" name="Espaço Reservado para Conteúdo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 rtlCol="0"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9" name="Espaço Reservado para Conteúdo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pt-br" noProof="0"/>
              <a:t>TÍTULO DO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  <p:pic>
        <p:nvPicPr>
          <p:cNvPr id="5" name="Elemento gráfico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Elemento gráfico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lemento gráfico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Elemento gráfico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Elemento gráfico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Elemento gráfico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Elemento gráfico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9" name="Espaço Reservado para Conteúdo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pt-br" noProof="0"/>
              <a:t>TÍTULO DO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bra de seção com a imagem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Imagem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 rtlCol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24" name="Título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rtlCol="0"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123" name="Espaço Reservado para Texto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 rtlCol="0">
            <a:noAutofit/>
          </a:bodyPr>
          <a:lstStyle>
            <a:lvl1pPr>
              <a:defRPr>
                <a:noFill/>
              </a:defRPr>
            </a:lvl1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8" name="Espaço Reservado para Texto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 rtlCol="0">
            <a:noAutofit/>
          </a:bodyPr>
          <a:lstStyle>
            <a:lvl1pPr>
              <a:defRPr>
                <a:noFill/>
              </a:defRPr>
            </a:lvl1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2" name="Espaço Reservado para Texto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 rtlCol="0">
            <a:noAutofit/>
          </a:bodyPr>
          <a:lstStyle>
            <a:lvl1pPr>
              <a:defRPr>
                <a:noFill/>
              </a:defRPr>
            </a:lvl1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93" name="Espaço Reservado para Texto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 rtlCol="0">
            <a:noAutofit/>
          </a:bodyPr>
          <a:lstStyle>
            <a:lvl1pPr>
              <a:defRPr>
                <a:noFill/>
              </a:defRPr>
            </a:lvl1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pic>
        <p:nvPicPr>
          <p:cNvPr id="120" name="Elemento gráfico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lemento gráfico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Elemento gráfico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Elemento gráfico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Elemento gráfico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Elemento gráfico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16" name="Espaço Reservado para Conteúdo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9" name="Espaço Reservado para Conteúdo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 rtlCol="0"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pt-br" noProof="0"/>
              <a:t>TÍTULO DO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amento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áfico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Elemento gráfico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Elemento gráfico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Elemento gráfico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ítulo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rtlCol="0"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 rtlCol="0"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TÍTULO DO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rtlCol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6F917E-922A-1054-6306-D37C378F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488" y="1019048"/>
            <a:ext cx="10479024" cy="557784"/>
          </a:xfrm>
        </p:spPr>
        <p:txBody>
          <a:bodyPr rtlCol="0"/>
          <a:lstStyle/>
          <a:p>
            <a:pPr rtl="0"/>
            <a:r>
              <a:rPr lang="pt-BR" dirty="0"/>
              <a:t>B</a:t>
            </a:r>
            <a:r>
              <a:rPr lang="pt-br" dirty="0"/>
              <a:t>anco de dados i</a:t>
            </a:r>
            <a:br>
              <a:rPr lang="en-US" dirty="0"/>
            </a:br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3D50B0-02F8-A1E6-8A67-C0B7034A4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2656" y="2662259"/>
            <a:ext cx="10479215" cy="2341541"/>
          </a:xfrm>
        </p:spPr>
        <p:txBody>
          <a:bodyPr rtlCol="0"/>
          <a:lstStyle/>
          <a:p>
            <a:pPr rtl="0"/>
            <a:r>
              <a:rPr lang="pt-B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Entidades, Atributos e Relacionamentos (Modelo Entidade-Relacionamento)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C5A6F3FD-78CF-4562-B6C1-9A7B3990D9D2}"/>
              </a:ext>
            </a:extLst>
          </p:cNvPr>
          <p:cNvSpPr txBox="1"/>
          <p:nvPr/>
        </p:nvSpPr>
        <p:spPr>
          <a:xfrm>
            <a:off x="1049867" y="80593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1. Objetivos da Aula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5095F7F-D077-4292-8D02-2E18E7D51FD7}"/>
              </a:ext>
            </a:extLst>
          </p:cNvPr>
          <p:cNvSpPr txBox="1"/>
          <p:nvPr/>
        </p:nvSpPr>
        <p:spPr>
          <a:xfrm>
            <a:off x="1049866" y="1770174"/>
            <a:ext cx="105325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Compreender o que são </a:t>
            </a:r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Entidades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no modelo de banco de dados.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7E4E966-EA2C-443A-B5F4-838EC63C93D0}"/>
              </a:ext>
            </a:extLst>
          </p:cNvPr>
          <p:cNvSpPr txBox="1"/>
          <p:nvPr/>
        </p:nvSpPr>
        <p:spPr>
          <a:xfrm>
            <a:off x="1049867" y="271986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Entender o papel dos </a:t>
            </a:r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Atributos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24E5726-657A-48F1-8284-2CC47F7DCFD4}"/>
              </a:ext>
            </a:extLst>
          </p:cNvPr>
          <p:cNvSpPr txBox="1"/>
          <p:nvPr/>
        </p:nvSpPr>
        <p:spPr>
          <a:xfrm>
            <a:off x="1049866" y="3767208"/>
            <a:ext cx="100499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Identificar os diferentes tipos de </a:t>
            </a:r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Relacionamentos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entre entidades.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1E1D895-1BF6-4F5B-A260-BF09CDD060E2}"/>
              </a:ext>
            </a:extLst>
          </p:cNvPr>
          <p:cNvSpPr txBox="1"/>
          <p:nvPr/>
        </p:nvSpPr>
        <p:spPr>
          <a:xfrm>
            <a:off x="1049866" y="4716901"/>
            <a:ext cx="10955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Praticar com exemplos simples e responder atividades de fixação.</a:t>
            </a:r>
          </a:p>
        </p:txBody>
      </p:sp>
    </p:spTree>
    <p:extLst>
      <p:ext uri="{BB962C8B-B14F-4D97-AF65-F5344CB8AC3E}">
        <p14:creationId xmlns:p14="http://schemas.microsoft.com/office/powerpoint/2010/main" val="4218211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5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ixaDeTexto 18">
            <a:extLst>
              <a:ext uri="{FF2B5EF4-FFF2-40B4-BE49-F238E27FC236}">
                <a16:creationId xmlns:a16="http://schemas.microsoft.com/office/drawing/2014/main" id="{B05B7EF2-74F1-4FE8-9300-3A399727A21B}"/>
              </a:ext>
            </a:extLst>
          </p:cNvPr>
          <p:cNvSpPr txBox="1"/>
          <p:nvPr/>
        </p:nvSpPr>
        <p:spPr>
          <a:xfrm>
            <a:off x="427566" y="267101"/>
            <a:ext cx="42206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Conceitos Fundamentais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0DDE928-4542-46E9-989A-5E42C12A0756}"/>
              </a:ext>
            </a:extLst>
          </p:cNvPr>
          <p:cNvSpPr txBox="1"/>
          <p:nvPr/>
        </p:nvSpPr>
        <p:spPr>
          <a:xfrm>
            <a:off x="795868" y="810140"/>
            <a:ext cx="1176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Entidade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AE669CA-04A1-4D11-8B50-4719E6D12B97}"/>
              </a:ext>
            </a:extLst>
          </p:cNvPr>
          <p:cNvSpPr txBox="1"/>
          <p:nvPr/>
        </p:nvSpPr>
        <p:spPr>
          <a:xfrm>
            <a:off x="795868" y="1367937"/>
            <a:ext cx="11175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Uma 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entidade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representa 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 objeto ou conceito do mundo real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queremos armazenar informações.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59B205E2-1415-43C9-A0EF-B8ED2AAA3C0A}"/>
              </a:ext>
            </a:extLst>
          </p:cNvPr>
          <p:cNvSpPr txBox="1"/>
          <p:nvPr/>
        </p:nvSpPr>
        <p:spPr>
          <a:xfrm>
            <a:off x="863601" y="1947502"/>
            <a:ext cx="797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 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 do mundo real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queremos armazenar informações.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828B5F1-1039-4658-8C21-2A8A0C5421EE}"/>
              </a:ext>
            </a:extLst>
          </p:cNvPr>
          <p:cNvSpPr txBox="1"/>
          <p:nvPr/>
        </p:nvSpPr>
        <p:spPr>
          <a:xfrm>
            <a:off x="863601" y="2521319"/>
            <a:ext cx="855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Pode ser 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física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(pessoa, produto, carro) ou 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conceitual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(curso, pedido, matrícula).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B76B4172-44B8-4124-9B8C-5801D4F1E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543" y="3095136"/>
            <a:ext cx="7018190" cy="371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46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3" grpId="0"/>
      <p:bldP spid="25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ixaDeTexto 18">
            <a:extLst>
              <a:ext uri="{FF2B5EF4-FFF2-40B4-BE49-F238E27FC236}">
                <a16:creationId xmlns:a16="http://schemas.microsoft.com/office/drawing/2014/main" id="{B05B7EF2-74F1-4FE8-9300-3A399727A21B}"/>
              </a:ext>
            </a:extLst>
          </p:cNvPr>
          <p:cNvSpPr txBox="1"/>
          <p:nvPr/>
        </p:nvSpPr>
        <p:spPr>
          <a:xfrm>
            <a:off x="427566" y="347133"/>
            <a:ext cx="3670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Conceitos Fundamentais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5D4D8B8-09C3-41F2-BE2B-31FA1B948A06}"/>
              </a:ext>
            </a:extLst>
          </p:cNvPr>
          <p:cNvSpPr txBox="1"/>
          <p:nvPr/>
        </p:nvSpPr>
        <p:spPr>
          <a:xfrm>
            <a:off x="897466" y="924467"/>
            <a:ext cx="1704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Atributo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A92FA1D-6ADD-4150-B016-015FABC77739}"/>
              </a:ext>
            </a:extLst>
          </p:cNvPr>
          <p:cNvSpPr txBox="1"/>
          <p:nvPr/>
        </p:nvSpPr>
        <p:spPr>
          <a:xfrm>
            <a:off x="1024467" y="1431861"/>
            <a:ext cx="8958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São as 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características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uma entidade.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5094B5D-6695-4E95-A737-91D2EA8697F2}"/>
              </a:ext>
            </a:extLst>
          </p:cNvPr>
          <p:cNvSpPr txBox="1"/>
          <p:nvPr/>
        </p:nvSpPr>
        <p:spPr>
          <a:xfrm>
            <a:off x="1024467" y="2000599"/>
            <a:ext cx="8958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 entidade tem 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vários atributos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C1EC3F6-C771-4177-BDCA-3BF49DD29CA4}"/>
              </a:ext>
            </a:extLst>
          </p:cNvPr>
          <p:cNvSpPr txBox="1"/>
          <p:nvPr/>
        </p:nvSpPr>
        <p:spPr>
          <a:xfrm>
            <a:off x="1024467" y="2569337"/>
            <a:ext cx="8958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 deles geralmente é a 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chave primária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(identificador único).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45BBA48-4FB3-49BA-9386-25DABEE62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634" y="3182951"/>
            <a:ext cx="2772834" cy="360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043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9" grpId="0"/>
      <p:bldP spid="11" grpId="0"/>
      <p:bldP spid="13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ixaDeTexto 18">
            <a:extLst>
              <a:ext uri="{FF2B5EF4-FFF2-40B4-BE49-F238E27FC236}">
                <a16:creationId xmlns:a16="http://schemas.microsoft.com/office/drawing/2014/main" id="{B05B7EF2-74F1-4FE8-9300-3A399727A21B}"/>
              </a:ext>
            </a:extLst>
          </p:cNvPr>
          <p:cNvSpPr txBox="1"/>
          <p:nvPr/>
        </p:nvSpPr>
        <p:spPr>
          <a:xfrm>
            <a:off x="241299" y="224750"/>
            <a:ext cx="43899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Conceitos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Fundamentais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2D3E321-FC42-4DB1-BA4C-BD9380286F91}"/>
              </a:ext>
            </a:extLst>
          </p:cNvPr>
          <p:cNvSpPr txBox="1"/>
          <p:nvPr/>
        </p:nvSpPr>
        <p:spPr>
          <a:xfrm>
            <a:off x="241299" y="867569"/>
            <a:ext cx="3095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Relacionamento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1C762EF-1D4D-4561-B7FF-0E2BA7A24AB7}"/>
              </a:ext>
            </a:extLst>
          </p:cNvPr>
          <p:cNvSpPr txBox="1"/>
          <p:nvPr/>
        </p:nvSpPr>
        <p:spPr>
          <a:xfrm>
            <a:off x="736598" y="1876116"/>
            <a:ext cx="5997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Definição:</a:t>
            </a:r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ligação entre entidades.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C80070D-28E7-420D-88B4-FE7C50E68A53}"/>
              </a:ext>
            </a:extLst>
          </p:cNvPr>
          <p:cNvSpPr txBox="1"/>
          <p:nvPr/>
        </p:nvSpPr>
        <p:spPr>
          <a:xfrm>
            <a:off x="738752" y="2884663"/>
            <a:ext cx="68663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Mostra </a:t>
            </a:r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uma entidade está conectada à outra</a:t>
            </a:r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BEA57D8-EF53-4F3F-ABCD-CAEB59A8AFC1}"/>
              </a:ext>
            </a:extLst>
          </p:cNvPr>
          <p:cNvSpPr txBox="1"/>
          <p:nvPr/>
        </p:nvSpPr>
        <p:spPr>
          <a:xfrm>
            <a:off x="804332" y="3978495"/>
            <a:ext cx="480060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Exemplo:</a:t>
            </a:r>
            <a:b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 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Aluno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pt-BR" sz="2000" b="1" i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matricula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em um 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Curso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Seta: para Baixo 1">
            <a:extLst>
              <a:ext uri="{FF2B5EF4-FFF2-40B4-BE49-F238E27FC236}">
                <a16:creationId xmlns:a16="http://schemas.microsoft.com/office/drawing/2014/main" id="{7538E882-610C-45FD-80C3-A65C5F4C9974}"/>
              </a:ext>
            </a:extLst>
          </p:cNvPr>
          <p:cNvSpPr/>
          <p:nvPr/>
        </p:nvSpPr>
        <p:spPr>
          <a:xfrm>
            <a:off x="5469467" y="5418666"/>
            <a:ext cx="914400" cy="812800"/>
          </a:xfrm>
          <a:prstGeom prst="downArrow">
            <a:avLst/>
          </a:prstGeom>
          <a:gradFill flip="none" rotWithShape="1">
            <a:gsLst>
              <a:gs pos="1800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4891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0" grpId="0"/>
      <p:bldP spid="12" grpId="0"/>
      <p:bldP spid="14" grpId="0"/>
      <p:bldP spid="16" grpId="0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ABEA57D8-EF53-4F3F-ABCD-CAEB59A8AFC1}"/>
              </a:ext>
            </a:extLst>
          </p:cNvPr>
          <p:cNvSpPr txBox="1"/>
          <p:nvPr/>
        </p:nvSpPr>
        <p:spPr>
          <a:xfrm>
            <a:off x="220131" y="142790"/>
            <a:ext cx="54864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 Black" panose="020B0A04020102020204" pitchFamily="34" charset="0"/>
              </a:rPr>
              <a:t>Exemplo:</a:t>
            </a:r>
            <a:br>
              <a:rPr lang="pt-BR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pt-BR" dirty="0">
                <a:solidFill>
                  <a:schemeClr val="bg1"/>
                </a:solidFill>
                <a:latin typeface="Arial Black" panose="020B0A04020102020204" pitchFamily="34" charset="0"/>
              </a:rPr>
              <a:t>Um </a:t>
            </a:r>
            <a:r>
              <a:rPr lang="pt-BR" b="1" dirty="0">
                <a:solidFill>
                  <a:schemeClr val="bg1"/>
                </a:solidFill>
                <a:latin typeface="Arial Black" panose="020B0A04020102020204" pitchFamily="34" charset="0"/>
              </a:rPr>
              <a:t>Aluno</a:t>
            </a:r>
            <a:r>
              <a:rPr lang="pt-BR" dirty="0">
                <a:solidFill>
                  <a:schemeClr val="bg1"/>
                </a:solidFill>
                <a:latin typeface="Arial Black" panose="020B0A04020102020204" pitchFamily="34" charset="0"/>
              </a:rPr>
              <a:t> se </a:t>
            </a:r>
            <a:r>
              <a:rPr lang="pt-BR" b="1" i="1" u="sng" dirty="0">
                <a:solidFill>
                  <a:schemeClr val="bg1"/>
                </a:solidFill>
                <a:latin typeface="Arial Black" panose="020B0A04020102020204" pitchFamily="34" charset="0"/>
              </a:rPr>
              <a:t>matricula</a:t>
            </a:r>
            <a:r>
              <a:rPr lang="pt-BR" dirty="0">
                <a:solidFill>
                  <a:schemeClr val="bg1"/>
                </a:solidFill>
                <a:latin typeface="Arial Black" panose="020B0A04020102020204" pitchFamily="34" charset="0"/>
              </a:rPr>
              <a:t> em um </a:t>
            </a:r>
            <a:r>
              <a:rPr lang="pt-BR" b="1" dirty="0">
                <a:solidFill>
                  <a:schemeClr val="bg1"/>
                </a:solidFill>
                <a:latin typeface="Arial Black" panose="020B0A04020102020204" pitchFamily="34" charset="0"/>
              </a:rPr>
              <a:t>Curso</a:t>
            </a:r>
            <a:r>
              <a:rPr lang="pt-BR" dirty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3E47535-FDA2-4C20-83BC-E757ADBCD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0" y="888015"/>
            <a:ext cx="4473437" cy="2067213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052F4351-F9A2-43C6-954A-ADB5B42A575F}"/>
              </a:ext>
            </a:extLst>
          </p:cNvPr>
          <p:cNvSpPr txBox="1"/>
          <p:nvPr/>
        </p:nvSpPr>
        <p:spPr>
          <a:xfrm>
            <a:off x="118530" y="3054122"/>
            <a:ext cx="44734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Explicação:</a:t>
            </a:r>
            <a:b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 linha representa um aluno diferente.</a:t>
            </a:r>
            <a:b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id_aluno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é um </a:t>
            </a:r>
            <a:r>
              <a:rPr lang="pt-B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número único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identifica cada aluno (chave primária).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BA045668-DB14-47FD-BBFC-A9CFED3FD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599" y="888015"/>
            <a:ext cx="4826004" cy="2067213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D4136847-6818-495E-AF64-6FB1A9B222E3}"/>
              </a:ext>
            </a:extLst>
          </p:cNvPr>
          <p:cNvSpPr txBox="1"/>
          <p:nvPr/>
        </p:nvSpPr>
        <p:spPr>
          <a:xfrm>
            <a:off x="6959598" y="3013501"/>
            <a:ext cx="50038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Explicação:</a:t>
            </a:r>
            <a:b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 linha representa um curso.</a:t>
            </a:r>
            <a:b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id_curso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é um </a:t>
            </a:r>
            <a:r>
              <a:rPr lang="pt-B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número único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identificar cada curso (chave primária).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420C7C3-0F9B-40F4-8E95-A45B0EA86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5566" y="3978851"/>
            <a:ext cx="4631268" cy="1886213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679C656E-A58C-48F1-853E-C1F2650F67A7}"/>
              </a:ext>
            </a:extLst>
          </p:cNvPr>
          <p:cNvSpPr txBox="1"/>
          <p:nvPr/>
        </p:nvSpPr>
        <p:spPr>
          <a:xfrm>
            <a:off x="3475566" y="5865064"/>
            <a:ext cx="60579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Explicação:</a:t>
            </a:r>
            <a:b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 tabela mostra </a:t>
            </a:r>
            <a:r>
              <a:rPr lang="pt-B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quem se matriculou em qual curso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Maria (</a:t>
            </a:r>
            <a:r>
              <a:rPr lang="pt-BR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id_aluno</a:t>
            </a:r>
            <a:r>
              <a:rPr lang="pt-B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está matriculada em </a:t>
            </a:r>
            <a:r>
              <a:rPr lang="pt-B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Matemática (101)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História (102)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João (</a:t>
            </a:r>
            <a:r>
              <a:rPr lang="pt-BR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id_aluno</a:t>
            </a:r>
            <a:r>
              <a:rPr lang="pt-B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2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está matriculado em </a:t>
            </a:r>
            <a:r>
              <a:rPr lang="pt-B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Redes (103)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5BA59F28-9226-4D93-AA58-D2628619A7EE}"/>
              </a:ext>
            </a:extLst>
          </p:cNvPr>
          <p:cNvCxnSpPr>
            <a:cxnSpLocks/>
          </p:cNvCxnSpPr>
          <p:nvPr/>
        </p:nvCxnSpPr>
        <p:spPr>
          <a:xfrm>
            <a:off x="4591967" y="2184400"/>
            <a:ext cx="876299" cy="1718373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C426DBA0-C550-429D-B847-F8EA55A6656B}"/>
              </a:ext>
            </a:extLst>
          </p:cNvPr>
          <p:cNvCxnSpPr>
            <a:cxnSpLocks/>
          </p:cNvCxnSpPr>
          <p:nvPr/>
        </p:nvCxnSpPr>
        <p:spPr>
          <a:xfrm flipH="1">
            <a:off x="5994400" y="2184400"/>
            <a:ext cx="965199" cy="1718371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E05683C8-55D3-4383-8AC3-F9D5E7992065}"/>
              </a:ext>
            </a:extLst>
          </p:cNvPr>
          <p:cNvCxnSpPr/>
          <p:nvPr/>
        </p:nvCxnSpPr>
        <p:spPr>
          <a:xfrm flipH="1">
            <a:off x="812800" y="1337733"/>
            <a:ext cx="40640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E6A7B8FE-9C96-4963-A958-6DA194505593}"/>
              </a:ext>
            </a:extLst>
          </p:cNvPr>
          <p:cNvCxnSpPr/>
          <p:nvPr/>
        </p:nvCxnSpPr>
        <p:spPr>
          <a:xfrm flipH="1">
            <a:off x="7577666" y="1380066"/>
            <a:ext cx="40640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11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E10232F7-4F95-4C71-8EA8-0C611158AC16}"/>
              </a:ext>
            </a:extLst>
          </p:cNvPr>
          <p:cNvSpPr txBox="1"/>
          <p:nvPr/>
        </p:nvSpPr>
        <p:spPr>
          <a:xfrm>
            <a:off x="127757" y="5600499"/>
            <a:ext cx="38548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MATRÍCULA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Junta as duas informações, mostrando 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quem faz qual curso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1CD75A7-49B7-431E-AD18-D2DF5FE92F97}"/>
              </a:ext>
            </a:extLst>
          </p:cNvPr>
          <p:cNvSpPr txBox="1"/>
          <p:nvPr/>
        </p:nvSpPr>
        <p:spPr>
          <a:xfrm>
            <a:off x="237066" y="102574"/>
            <a:ext cx="1811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Resumo</a:t>
            </a:r>
            <a:endParaRPr lang="pt-B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E48FF5F-8654-43DB-84D2-5829ECDDBF65}"/>
              </a:ext>
            </a:extLst>
          </p:cNvPr>
          <p:cNvSpPr txBox="1"/>
          <p:nvPr/>
        </p:nvSpPr>
        <p:spPr>
          <a:xfrm>
            <a:off x="304799" y="1257501"/>
            <a:ext cx="34798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ALUNO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Quem são as pessoas.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2BD27BA-0674-42A2-B352-0514CB57F32B}"/>
              </a:ext>
            </a:extLst>
          </p:cNvPr>
          <p:cNvSpPr txBox="1"/>
          <p:nvPr/>
        </p:nvSpPr>
        <p:spPr>
          <a:xfrm>
            <a:off x="237065" y="3567356"/>
            <a:ext cx="35515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CURSO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Quais cursos existem.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08F57602-4FC6-4009-86E1-5F82F97DE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124" y="287240"/>
            <a:ext cx="4473437" cy="2067213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FCDFA2D4-6225-4393-8F1D-9373524BE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124" y="2533749"/>
            <a:ext cx="4548121" cy="2067213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1533AE61-2717-4A3E-8345-1608360D9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550" y="4851037"/>
            <a:ext cx="4631268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785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AA3AD717-EEF7-442C-BEAE-E160EC58ACC0}"/>
              </a:ext>
            </a:extLst>
          </p:cNvPr>
          <p:cNvSpPr txBox="1"/>
          <p:nvPr/>
        </p:nvSpPr>
        <p:spPr>
          <a:xfrm>
            <a:off x="889001" y="4738219"/>
            <a:ext cx="98382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Domínio:</a:t>
            </a:r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define o tipo de dado que uma coluna pode ter (texto, número, data).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BDEAAE2-B540-401C-B9E8-D6A5A2618CE0}"/>
              </a:ext>
            </a:extLst>
          </p:cNvPr>
          <p:cNvSpPr txBox="1"/>
          <p:nvPr/>
        </p:nvSpPr>
        <p:spPr>
          <a:xfrm>
            <a:off x="762001" y="514837"/>
            <a:ext cx="4635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Conceitos Importantes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3827535-7DAD-4565-A08A-586D4B485806}"/>
              </a:ext>
            </a:extLst>
          </p:cNvPr>
          <p:cNvSpPr txBox="1"/>
          <p:nvPr/>
        </p:nvSpPr>
        <p:spPr>
          <a:xfrm>
            <a:off x="889001" y="1375050"/>
            <a:ext cx="10744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SGBDR (Sistema Gerenciador de Banco de Dados Relacional):</a:t>
            </a:r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software que gerencia as tabelas, relacionamentos e consultas (ex.: MySQL, PostgreSQL, SQL Server, Oracle).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284446C-C72D-4D72-B4E0-430484265ADE}"/>
              </a:ext>
            </a:extLst>
          </p:cNvPr>
          <p:cNvSpPr txBox="1"/>
          <p:nvPr/>
        </p:nvSpPr>
        <p:spPr>
          <a:xfrm>
            <a:off x="889001" y="2963501"/>
            <a:ext cx="102291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Integridade Referencial:</a:t>
            </a:r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garante que uma chave estrangeira sempre aponte para um registro válido na tabela relacionada.</a:t>
            </a:r>
          </a:p>
        </p:txBody>
      </p:sp>
    </p:spTree>
    <p:extLst>
      <p:ext uri="{BB962C8B-B14F-4D97-AF65-F5344CB8AC3E}">
        <p14:creationId xmlns:p14="http://schemas.microsoft.com/office/powerpoint/2010/main" val="47941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1B62AA05-78F1-49D0-BA0D-49DE36FBF33E}"/>
              </a:ext>
            </a:extLst>
          </p:cNvPr>
          <p:cNvSpPr txBox="1"/>
          <p:nvPr/>
        </p:nvSpPr>
        <p:spPr>
          <a:xfrm>
            <a:off x="863597" y="3075057"/>
            <a:ext cx="99483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Escolar:</a:t>
            </a:r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tabelas de alunos, professores, disciplinas e notas se relacionam para formar boletins.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75AC1FB-3FFD-4136-AFAD-2F1B09EB8C7C}"/>
              </a:ext>
            </a:extLst>
          </p:cNvPr>
          <p:cNvSpPr txBox="1"/>
          <p:nvPr/>
        </p:nvSpPr>
        <p:spPr>
          <a:xfrm>
            <a:off x="634999" y="57271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Exemplos Práticos do Cotidiano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ED1B798-FBC6-4708-BF80-75A4E3819A99}"/>
              </a:ext>
            </a:extLst>
          </p:cNvPr>
          <p:cNvSpPr txBox="1"/>
          <p:nvPr/>
        </p:nvSpPr>
        <p:spPr>
          <a:xfrm>
            <a:off x="863597" y="1810789"/>
            <a:ext cx="10989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Aplicativos de Delivery:</a:t>
            </a:r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tabelas de clientes, restaurantes, produtos e pedidos se relacionam.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E332A11-91C4-480A-9F62-293E795522F7}"/>
              </a:ext>
            </a:extLst>
          </p:cNvPr>
          <p:cNvSpPr txBox="1"/>
          <p:nvPr/>
        </p:nvSpPr>
        <p:spPr>
          <a:xfrm>
            <a:off x="863597" y="4570101"/>
            <a:ext cx="94064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E-commerce:</a:t>
            </a:r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clientes, endereços, pedidos e produtos são tabelas conectadas.</a:t>
            </a:r>
          </a:p>
        </p:txBody>
      </p:sp>
    </p:spTree>
    <p:extLst>
      <p:ext uri="{BB962C8B-B14F-4D97-AF65-F5344CB8AC3E}">
        <p14:creationId xmlns:p14="http://schemas.microsoft.com/office/powerpoint/2010/main" val="3016494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2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A1216F27-272D-44CC-9E79-EB65D8E961CD}"/>
              </a:ext>
            </a:extLst>
          </p:cNvPr>
          <p:cNvSpPr txBox="1"/>
          <p:nvPr/>
        </p:nvSpPr>
        <p:spPr>
          <a:xfrm>
            <a:off x="1265767" y="4745221"/>
            <a:ext cx="96604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Confiabilidade:</a:t>
            </a:r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mantém integridade e consistência dos dados.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78ABC80-A1E3-497C-A684-B9D1B105ED63}"/>
              </a:ext>
            </a:extLst>
          </p:cNvPr>
          <p:cNvSpPr txBox="1"/>
          <p:nvPr/>
        </p:nvSpPr>
        <p:spPr>
          <a:xfrm>
            <a:off x="655391" y="589800"/>
            <a:ext cx="57157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Vantagens do Modelo Relacional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54B6CFA-7027-42CF-BA23-C12C1A3F3ABD}"/>
              </a:ext>
            </a:extLst>
          </p:cNvPr>
          <p:cNvSpPr txBox="1"/>
          <p:nvPr/>
        </p:nvSpPr>
        <p:spPr>
          <a:xfrm>
            <a:off x="1265767" y="1762435"/>
            <a:ext cx="96604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Organização:</a:t>
            </a:r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os dados ficam estruturados em tabelas.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04F5C29-94C1-4D9C-899F-39AB2E344159}"/>
              </a:ext>
            </a:extLst>
          </p:cNvPr>
          <p:cNvSpPr txBox="1"/>
          <p:nvPr/>
        </p:nvSpPr>
        <p:spPr>
          <a:xfrm>
            <a:off x="1265767" y="2698288"/>
            <a:ext cx="96604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Facilidade de busca:</a:t>
            </a:r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é possível consultar rapidamente registros específicos.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080F41C-65DE-4909-B2E1-342DAF61665F}"/>
              </a:ext>
            </a:extLst>
          </p:cNvPr>
          <p:cNvSpPr txBox="1"/>
          <p:nvPr/>
        </p:nvSpPr>
        <p:spPr>
          <a:xfrm>
            <a:off x="1265767" y="3668753"/>
            <a:ext cx="96604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Relacionamento entre informações:</a:t>
            </a:r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liga dados de diferentes tabelas.</a:t>
            </a:r>
          </a:p>
        </p:txBody>
      </p:sp>
    </p:spTree>
    <p:extLst>
      <p:ext uri="{BB962C8B-B14F-4D97-AF65-F5344CB8AC3E}">
        <p14:creationId xmlns:p14="http://schemas.microsoft.com/office/powerpoint/2010/main" val="1053425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3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E78ABC80-A1E3-497C-A684-B9D1B105ED63}"/>
              </a:ext>
            </a:extLst>
          </p:cNvPr>
          <p:cNvSpPr txBox="1"/>
          <p:nvPr/>
        </p:nvSpPr>
        <p:spPr>
          <a:xfrm>
            <a:off x="3796525" y="2520200"/>
            <a:ext cx="5220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ATIVIDADES </a:t>
            </a:r>
          </a:p>
        </p:txBody>
      </p:sp>
    </p:spTree>
    <p:extLst>
      <p:ext uri="{BB962C8B-B14F-4D97-AF65-F5344CB8AC3E}">
        <p14:creationId xmlns:p14="http://schemas.microsoft.com/office/powerpoint/2010/main" val="42490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Personalizado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66835393_Win32" id="{88E4BEB8-62E4-4678-A7AB-8839D6B542E5}" vid="{9D9AD783-DF97-446E-96F5-B89426ACDC52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com cores corporativas</Template>
  <TotalTime>165</TotalTime>
  <Words>465</Words>
  <Application>Microsoft Office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Aptos</vt:lpstr>
      <vt:lpstr>Aptos Light</vt:lpstr>
      <vt:lpstr>Arial</vt:lpstr>
      <vt:lpstr>Arial Black</vt:lpstr>
      <vt:lpstr>Calibri</vt:lpstr>
      <vt:lpstr>Personalizado</vt:lpstr>
      <vt:lpstr>Banco de dados i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 i</dc:title>
  <dc:creator>Daniel Jose de Oliveira Diniz</dc:creator>
  <cp:lastModifiedBy>Daniel Jose de Oliveira Diniz</cp:lastModifiedBy>
  <cp:revision>7</cp:revision>
  <dcterms:created xsi:type="dcterms:W3CDTF">2025-09-11T11:40:21Z</dcterms:created>
  <dcterms:modified xsi:type="dcterms:W3CDTF">2025-09-11T15:11:33Z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