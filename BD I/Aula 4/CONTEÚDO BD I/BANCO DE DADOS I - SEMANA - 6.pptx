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9" r:id="rId4"/>
    <p:sldId id="269" r:id="rId5"/>
    <p:sldId id="260" r:id="rId6"/>
    <p:sldId id="270" r:id="rId7"/>
    <p:sldId id="261" r:id="rId8"/>
    <p:sldId id="271" r:id="rId9"/>
    <p:sldId id="262" r:id="rId10"/>
    <p:sldId id="272" r:id="rId11"/>
    <p:sldId id="263" r:id="rId12"/>
    <p:sldId id="273" r:id="rId13"/>
    <p:sldId id="274" r:id="rId14"/>
    <p:sldId id="275" r:id="rId15"/>
    <p:sldId id="267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69" d="100"/>
          <a:sy n="69" d="100"/>
        </p:scale>
        <p:origin x="780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dirty="0"/>
              <a:t>9/3/2025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dirty="0"/>
              <a:t>9/3/2025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dirty="0"/>
              <a:t>9/3/2025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dirty="0"/>
              <a:t>9/3/2025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dirty="0"/>
              <a:t>9/3/2025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9/3/2025</a:t>
            </a:fld>
            <a:endParaRPr lang="en-US" dirty="0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9/3/2025</a:t>
            </a:fld>
            <a:endParaRPr lang="en-US" dirty="0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3401063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5" y="3129280"/>
            <a:ext cx="3401062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9/3/2025</a:t>
            </a:fld>
            <a:endParaRPr lang="en-US" dirty="0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9/3/2025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oto Panorâmica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799"/>
            <a:ext cx="8825658" cy="3640667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9/3/2025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e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9/3/2025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çã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0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>
          <a:xfrm>
            <a:off x="1930400" y="3771174"/>
            <a:ext cx="7279649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9/3/2025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‹nº›</a:t>
            </a:fld>
            <a:endParaRPr 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22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ea typeface="+mj-ea"/>
                <a:cs typeface="+mj-cs"/>
              </a:rPr>
              <a:t>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22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ea typeface="+mj-ea"/>
                <a:cs typeface="+mj-cs"/>
              </a:rPr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ão de N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59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9/3/2025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na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9/3/2025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nas d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9/3/2025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9/3/2025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9/3/2025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44"/>
          <a:stretch/>
        </p:blipFill>
        <p:spPr>
          <a:xfrm>
            <a:off x="0" y="2669685"/>
            <a:ext cx="4035669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accent5">
                  <a:alpha val="7000"/>
                </a:schemeClr>
              </a:gs>
              <a:gs pos="69000">
                <a:schemeClr val="accent5">
                  <a:alpha val="0"/>
                </a:schemeClr>
              </a:gs>
              <a:gs pos="36000">
                <a:schemeClr val="accent5"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9012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4AAD347D-5ACD-4C99-B74B-A9C85AD731AF}" type="datetimeFigureOut">
              <a:rPr lang="en-US" dirty="0"/>
              <a:t>9/3/2025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02111984F565}" type="slidenum">
              <a:rPr lang="en-US" dirty="0"/>
              <a:t>‹nº›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8" r:id="rId9"/>
    <p:sldLayoutId id="2147483667" r:id="rId10"/>
    <p:sldLayoutId id="2147483661" r:id="rId11"/>
    <p:sldLayoutId id="2147483664" r:id="rId12"/>
    <p:sldLayoutId id="2147483662" r:id="rId13"/>
    <p:sldLayoutId id="2147483669" r:id="rId14"/>
    <p:sldLayoutId id="2147483670" r:id="rId15"/>
    <p:sldLayoutId id="2147483658" r:id="rId16"/>
    <p:sldLayoutId id="2147483659" r:id="rId17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60000"/>
            <a:lumOff val="4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60000"/>
            <a:lumOff val="4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60000"/>
            <a:lumOff val="4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60000"/>
            <a:lumOff val="4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60000"/>
            <a:lumOff val="4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60000"/>
            <a:lumOff val="4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60000"/>
            <a:lumOff val="4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60000"/>
            <a:lumOff val="4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>
            <a:lumMod val="60000"/>
            <a:lumOff val="4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986C98A-D261-4C97-BE4C-62048ED457B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44664" y="1219200"/>
            <a:ext cx="11538070" cy="3329581"/>
          </a:xfrm>
        </p:spPr>
        <p:txBody>
          <a:bodyPr/>
          <a:lstStyle/>
          <a:p>
            <a:r>
              <a:rPr lang="pt-BR" dirty="0">
                <a:latin typeface="Arial Black" panose="020B0A04020102020204" pitchFamily="34" charset="0"/>
              </a:rPr>
              <a:t>Tipos de </a:t>
            </a:r>
            <a:r>
              <a:rPr lang="pt-BR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lack" panose="020B0A04020102020204" pitchFamily="34" charset="0"/>
              </a:rPr>
              <a:t>Variáveis</a:t>
            </a:r>
            <a:r>
              <a:rPr lang="pt-BR" dirty="0">
                <a:latin typeface="Arial Black" panose="020B0A04020102020204" pitchFamily="34" charset="0"/>
              </a:rPr>
              <a:t> de Domínios no Modelo  Relacional     </a:t>
            </a:r>
            <a:r>
              <a:rPr lang="pt-BR" sz="3200" i="1" dirty="0">
                <a:latin typeface="Arial Black" panose="020B0A04020102020204" pitchFamily="34" charset="0"/>
              </a:rPr>
              <a:t>Parte 2</a:t>
            </a:r>
            <a:endParaRPr lang="pt-BR" i="1" dirty="0">
              <a:latin typeface="Arial Black" panose="020B0A04020102020204" pitchFamily="34" charset="0"/>
            </a:endParaRP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56E85101-6CFB-42DC-8E06-32AC5EC946A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pt-BR" dirty="0"/>
              <a:t>Banco de Dados I</a:t>
            </a:r>
          </a:p>
        </p:txBody>
      </p:sp>
    </p:spTree>
    <p:extLst>
      <p:ext uri="{BB962C8B-B14F-4D97-AF65-F5344CB8AC3E}">
        <p14:creationId xmlns:p14="http://schemas.microsoft.com/office/powerpoint/2010/main" val="37956302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CaixaDeTexto 10">
            <a:extLst>
              <a:ext uri="{FF2B5EF4-FFF2-40B4-BE49-F238E27FC236}">
                <a16:creationId xmlns:a16="http://schemas.microsoft.com/office/drawing/2014/main" id="{05F5B4B7-173A-4306-B538-C97140FA80FC}"/>
              </a:ext>
            </a:extLst>
          </p:cNvPr>
          <p:cNvSpPr txBox="1"/>
          <p:nvPr/>
        </p:nvSpPr>
        <p:spPr>
          <a:xfrm>
            <a:off x="762000" y="416467"/>
            <a:ext cx="35814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800" b="1" dirty="0">
                <a:latin typeface="Arial" panose="020B0604020202020204" pitchFamily="34" charset="0"/>
                <a:cs typeface="Arial" panose="020B0604020202020204" pitchFamily="34" charset="0"/>
              </a:rPr>
              <a:t>1. Introdução</a:t>
            </a:r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8A802C44-3C3B-436A-9FE5-21A8A0404C91}"/>
              </a:ext>
            </a:extLst>
          </p:cNvPr>
          <p:cNvSpPr txBox="1"/>
          <p:nvPr/>
        </p:nvSpPr>
        <p:spPr>
          <a:xfrm>
            <a:off x="512231" y="1088548"/>
            <a:ext cx="10739968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400" dirty="0">
                <a:latin typeface="Arial" panose="020B0604020202020204" pitchFamily="34" charset="0"/>
                <a:cs typeface="Arial" panose="020B0604020202020204" pitchFamily="34" charset="0"/>
              </a:rPr>
              <a:t>No </a:t>
            </a:r>
            <a:r>
              <a:rPr lang="pt-BR" sz="2400" b="1" dirty="0">
                <a:latin typeface="Arial" panose="020B0604020202020204" pitchFamily="34" charset="0"/>
                <a:cs typeface="Arial" panose="020B0604020202020204" pitchFamily="34" charset="0"/>
              </a:rPr>
              <a:t>Modelo Relacional</a:t>
            </a:r>
            <a:r>
              <a:rPr lang="pt-BR" sz="24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pt-BR" sz="2400" b="1" dirty="0">
                <a:latin typeface="Arial" panose="020B0604020202020204" pitchFamily="34" charset="0"/>
                <a:cs typeface="Arial" panose="020B0604020202020204" pitchFamily="34" charset="0"/>
              </a:rPr>
              <a:t>domínio</a:t>
            </a:r>
            <a:r>
              <a:rPr lang="pt-BR" sz="2400" dirty="0">
                <a:latin typeface="Arial" panose="020B0604020202020204" pitchFamily="34" charset="0"/>
                <a:cs typeface="Arial" panose="020B0604020202020204" pitchFamily="34" charset="0"/>
              </a:rPr>
              <a:t> é o </a:t>
            </a:r>
            <a:r>
              <a:rPr lang="pt-BR" sz="2400" b="1" dirty="0">
                <a:latin typeface="Arial" panose="020B0604020202020204" pitchFamily="34" charset="0"/>
                <a:cs typeface="Arial" panose="020B0604020202020204" pitchFamily="34" charset="0"/>
              </a:rPr>
              <a:t>conjunto de valores válidos</a:t>
            </a:r>
            <a:r>
              <a:rPr lang="pt-BR" sz="2400" dirty="0">
                <a:latin typeface="Arial" panose="020B0604020202020204" pitchFamily="34" charset="0"/>
                <a:cs typeface="Arial" panose="020B0604020202020204" pitchFamily="34" charset="0"/>
              </a:rPr>
              <a:t> que um atributo (coluna) pode assumir.</a:t>
            </a:r>
            <a:br>
              <a:rPr lang="pt-BR" sz="24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pt-BR" sz="2400" dirty="0">
                <a:latin typeface="Arial" panose="020B0604020202020204" pitchFamily="34" charset="0"/>
                <a:cs typeface="Arial" panose="020B0604020202020204" pitchFamily="34" charset="0"/>
              </a:rPr>
              <a:t>Ele garante:</a:t>
            </a:r>
          </a:p>
        </p:txBody>
      </p: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12EA45DD-B070-4493-A0CE-9E3525B41C0C}"/>
              </a:ext>
            </a:extLst>
          </p:cNvPr>
          <p:cNvSpPr txBox="1"/>
          <p:nvPr/>
        </p:nvSpPr>
        <p:spPr>
          <a:xfrm>
            <a:off x="512230" y="4938455"/>
            <a:ext cx="105664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400" dirty="0">
                <a:latin typeface="Arial" panose="020B0604020202020204" pitchFamily="34" charset="0"/>
                <a:cs typeface="Arial" panose="020B0604020202020204" pitchFamily="34" charset="0"/>
              </a:rPr>
              <a:t>Nesta lição vamos ver os Identificar os </a:t>
            </a:r>
            <a:r>
              <a:rPr lang="pt-BR" sz="2400" b="1" dirty="0">
                <a:latin typeface="Arial" panose="020B0604020202020204" pitchFamily="34" charset="0"/>
                <a:cs typeface="Arial" panose="020B0604020202020204" pitchFamily="34" charset="0"/>
              </a:rPr>
              <a:t>principais tipos de variáveis de domínio</a:t>
            </a:r>
            <a:endParaRPr lang="pt-BR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981B6C10-3B5E-AAAF-41DD-F4B646101EAD}"/>
              </a:ext>
            </a:extLst>
          </p:cNvPr>
          <p:cNvSpPr txBox="1"/>
          <p:nvPr/>
        </p:nvSpPr>
        <p:spPr>
          <a:xfrm>
            <a:off x="512230" y="3312995"/>
            <a:ext cx="918595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400" b="1" dirty="0">
                <a:latin typeface="Arial" panose="020B0604020202020204" pitchFamily="34" charset="0"/>
                <a:cs typeface="Arial" panose="020B0604020202020204" pitchFamily="34" charset="0"/>
              </a:rPr>
              <a:t>Consistência</a:t>
            </a:r>
            <a:r>
              <a:rPr lang="pt-BR" sz="2400" dirty="0">
                <a:latin typeface="Arial" panose="020B0604020202020204" pitchFamily="34" charset="0"/>
                <a:cs typeface="Arial" panose="020B0604020202020204" pitchFamily="34" charset="0"/>
              </a:rPr>
              <a:t> (não armazenar valores inválidos).</a:t>
            </a:r>
            <a:endParaRPr lang="pt-BR" sz="2400" dirty="0"/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06C2EE53-7DBE-38DF-978A-B9376D9DEBF1}"/>
              </a:ext>
            </a:extLst>
          </p:cNvPr>
          <p:cNvSpPr txBox="1"/>
          <p:nvPr/>
        </p:nvSpPr>
        <p:spPr>
          <a:xfrm>
            <a:off x="512231" y="2714009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400" b="1" dirty="0">
                <a:latin typeface="Arial" panose="020B0604020202020204" pitchFamily="34" charset="0"/>
                <a:cs typeface="Arial" panose="020B0604020202020204" pitchFamily="34" charset="0"/>
              </a:rPr>
              <a:t>Integridade</a:t>
            </a:r>
            <a:r>
              <a:rPr lang="pt-BR" sz="2400" dirty="0">
                <a:latin typeface="Arial" panose="020B0604020202020204" pitchFamily="34" charset="0"/>
                <a:cs typeface="Arial" panose="020B0604020202020204" pitchFamily="34" charset="0"/>
              </a:rPr>
              <a:t> (dados corretos e confiáveis).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810357A0-96CB-BE4F-7330-1D059776678B}"/>
              </a:ext>
            </a:extLst>
          </p:cNvPr>
          <p:cNvSpPr txBox="1"/>
          <p:nvPr/>
        </p:nvSpPr>
        <p:spPr>
          <a:xfrm>
            <a:off x="512230" y="3968959"/>
            <a:ext cx="877031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400" b="1" dirty="0">
                <a:latin typeface="Arial" panose="020B0604020202020204" pitchFamily="34" charset="0"/>
                <a:cs typeface="Arial" panose="020B0604020202020204" pitchFamily="34" charset="0"/>
              </a:rPr>
              <a:t>Eficiência</a:t>
            </a:r>
            <a:r>
              <a:rPr lang="pt-BR" sz="2400" dirty="0">
                <a:latin typeface="Arial" panose="020B0604020202020204" pitchFamily="34" charset="0"/>
                <a:cs typeface="Arial" panose="020B0604020202020204" pitchFamily="34" charset="0"/>
              </a:rPr>
              <a:t> (melhor desempenho e armazenamento).</a:t>
            </a:r>
          </a:p>
        </p:txBody>
      </p:sp>
    </p:spTree>
    <p:extLst>
      <p:ext uri="{BB962C8B-B14F-4D97-AF65-F5344CB8AC3E}">
        <p14:creationId xmlns:p14="http://schemas.microsoft.com/office/powerpoint/2010/main" val="3037868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3" grpId="0"/>
      <p:bldP spid="15" grpId="0"/>
      <p:bldP spid="3" grpId="0"/>
      <p:bldP spid="5" grpId="0"/>
      <p:bldP spid="7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CaixaDeTexto 10">
            <a:extLst>
              <a:ext uri="{FF2B5EF4-FFF2-40B4-BE49-F238E27FC236}">
                <a16:creationId xmlns:a16="http://schemas.microsoft.com/office/drawing/2014/main" id="{05F5B4B7-173A-4306-B538-C97140FA80FC}"/>
              </a:ext>
            </a:extLst>
          </p:cNvPr>
          <p:cNvSpPr txBox="1"/>
          <p:nvPr/>
        </p:nvSpPr>
        <p:spPr>
          <a:xfrm>
            <a:off x="761998" y="416467"/>
            <a:ext cx="920086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3200" b="1" dirty="0">
                <a:latin typeface="Arial Black" panose="020B0A04020102020204" pitchFamily="34" charset="0"/>
                <a:cs typeface="Arial" panose="020B0604020202020204" pitchFamily="34" charset="0"/>
              </a:rPr>
              <a:t>2. </a:t>
            </a:r>
            <a:r>
              <a:rPr lang="pt-BR" sz="3200" dirty="0">
                <a:latin typeface="Arial Black" panose="020B0A04020102020204" pitchFamily="34" charset="0"/>
              </a:rPr>
              <a:t>Principais</a:t>
            </a:r>
            <a:r>
              <a:rPr lang="pt-BR" sz="2800" dirty="0">
                <a:latin typeface="Arial Black" panose="020B0A04020102020204" pitchFamily="34" charset="0"/>
              </a:rPr>
              <a:t> Tipos Variáveis de Domínios</a:t>
            </a:r>
            <a:endParaRPr lang="pt-BR" sz="2800" b="1" dirty="0">
              <a:latin typeface="Arial Black" panose="020B0A040201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F426C958-63FA-449B-B49E-AC3F26D5D019}"/>
              </a:ext>
            </a:extLst>
          </p:cNvPr>
          <p:cNvSpPr txBox="1"/>
          <p:nvPr/>
        </p:nvSpPr>
        <p:spPr>
          <a:xfrm>
            <a:off x="638284" y="1235781"/>
            <a:ext cx="288283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3200" dirty="0">
                <a:latin typeface="Arial Black" panose="020B0A04020102020204" pitchFamily="34" charset="0"/>
              </a:rPr>
              <a:t>Numéricos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2C4F8299-2F28-A8E9-B562-BA18C415BC01}"/>
              </a:ext>
            </a:extLst>
          </p:cNvPr>
          <p:cNvSpPr txBox="1"/>
          <p:nvPr/>
        </p:nvSpPr>
        <p:spPr>
          <a:xfrm>
            <a:off x="761998" y="2359860"/>
            <a:ext cx="802018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800" b="1" dirty="0">
                <a:latin typeface="Arial" panose="020B0604020202020204" pitchFamily="34" charset="0"/>
                <a:cs typeface="Arial" panose="020B0604020202020204" pitchFamily="34" charset="0"/>
              </a:rPr>
              <a:t>INTEGER / INT</a:t>
            </a:r>
            <a:r>
              <a:rPr lang="pt-BR" sz="2800" dirty="0">
                <a:latin typeface="Arial" panose="020B0604020202020204" pitchFamily="34" charset="0"/>
                <a:cs typeface="Arial" panose="020B0604020202020204" pitchFamily="34" charset="0"/>
              </a:rPr>
              <a:t> → valores inteiros.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42AFF4A0-CDDC-0A9D-77D9-7C7CB56135DC}"/>
              </a:ext>
            </a:extLst>
          </p:cNvPr>
          <p:cNvSpPr txBox="1"/>
          <p:nvPr/>
        </p:nvSpPr>
        <p:spPr>
          <a:xfrm>
            <a:off x="761998" y="3587956"/>
            <a:ext cx="1109624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800" b="1" dirty="0">
                <a:latin typeface="Arial" panose="020B0604020202020204" pitchFamily="34" charset="0"/>
                <a:cs typeface="Arial" panose="020B0604020202020204" pitchFamily="34" charset="0"/>
              </a:rPr>
              <a:t>DECIMAL(p, q) / NUMERIC</a:t>
            </a:r>
            <a:r>
              <a:rPr lang="pt-BR" sz="2800" dirty="0">
                <a:latin typeface="Arial" panose="020B0604020202020204" pitchFamily="34" charset="0"/>
                <a:cs typeface="Arial" panose="020B0604020202020204" pitchFamily="34" charset="0"/>
              </a:rPr>
              <a:t> → valores exatos com casas decimais.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584E262A-2F81-3F34-4A5A-656469B326F0}"/>
              </a:ext>
            </a:extLst>
          </p:cNvPr>
          <p:cNvSpPr txBox="1"/>
          <p:nvPr/>
        </p:nvSpPr>
        <p:spPr>
          <a:xfrm>
            <a:off x="761998" y="4816052"/>
            <a:ext cx="10952545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800" b="1" dirty="0">
                <a:latin typeface="Arial" panose="020B0604020202020204" pitchFamily="34" charset="0"/>
                <a:cs typeface="Arial" panose="020B0604020202020204" pitchFamily="34" charset="0"/>
              </a:rPr>
              <a:t>FLOAT / REAL</a:t>
            </a:r>
            <a:r>
              <a:rPr lang="pt-BR" sz="2800" dirty="0">
                <a:latin typeface="Arial" panose="020B0604020202020204" pitchFamily="34" charset="0"/>
                <a:cs typeface="Arial" panose="020B0604020202020204" pitchFamily="34" charset="0"/>
              </a:rPr>
              <a:t> → valores aproximados (ponto flutuante).</a:t>
            </a:r>
          </a:p>
        </p:txBody>
      </p:sp>
    </p:spTree>
    <p:extLst>
      <p:ext uri="{BB962C8B-B14F-4D97-AF65-F5344CB8AC3E}">
        <p14:creationId xmlns:p14="http://schemas.microsoft.com/office/powerpoint/2010/main" val="41238858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0" grpId="0"/>
      <p:bldP spid="3" grpId="0"/>
      <p:bldP spid="5" grpId="0"/>
      <p:bldP spid="7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C19A0F-A9C5-BE00-B407-F14057E2AC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CaixaDeTexto 10">
            <a:extLst>
              <a:ext uri="{FF2B5EF4-FFF2-40B4-BE49-F238E27FC236}">
                <a16:creationId xmlns:a16="http://schemas.microsoft.com/office/drawing/2014/main" id="{030275AB-2E40-C3EC-F09D-3BDB5BBD7BDE}"/>
              </a:ext>
            </a:extLst>
          </p:cNvPr>
          <p:cNvSpPr txBox="1"/>
          <p:nvPr/>
        </p:nvSpPr>
        <p:spPr>
          <a:xfrm>
            <a:off x="1116839" y="583350"/>
            <a:ext cx="920086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800" b="1" dirty="0">
                <a:latin typeface="Arial Black" panose="020B0A04020102020204" pitchFamily="34" charset="0"/>
                <a:cs typeface="Arial" panose="020B0604020202020204" pitchFamily="34" charset="0"/>
              </a:rPr>
              <a:t>2. </a:t>
            </a:r>
            <a:r>
              <a:rPr lang="pt-BR" sz="2800" dirty="0">
                <a:latin typeface="Arial Black" panose="020B0A04020102020204" pitchFamily="34" charset="0"/>
              </a:rPr>
              <a:t>Principais Tipos Variáveis de Domínios</a:t>
            </a:r>
            <a:endParaRPr lang="pt-BR" sz="2800" b="1" dirty="0">
              <a:latin typeface="Arial Black" panose="020B0A04020102020204" pitchFamily="34" charset="0"/>
              <a:cs typeface="Arial" panose="020B0604020202020204" pitchFamily="34" charset="0"/>
            </a:endParaRPr>
          </a:p>
        </p:txBody>
      </p:sp>
      <p:pic>
        <p:nvPicPr>
          <p:cNvPr id="9" name="Imagem 8">
            <a:extLst>
              <a:ext uri="{FF2B5EF4-FFF2-40B4-BE49-F238E27FC236}">
                <a16:creationId xmlns:a16="http://schemas.microsoft.com/office/drawing/2014/main" id="{934D15CA-95D9-84F1-DC3E-42FBD6A779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2955" y="1705969"/>
            <a:ext cx="11336798" cy="45686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41623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CaixaDeTexto 14">
            <a:extLst>
              <a:ext uri="{FF2B5EF4-FFF2-40B4-BE49-F238E27FC236}">
                <a16:creationId xmlns:a16="http://schemas.microsoft.com/office/drawing/2014/main" id="{26BE8253-0FC4-43DF-98C4-8B3274B26FC6}"/>
              </a:ext>
            </a:extLst>
          </p:cNvPr>
          <p:cNvSpPr txBox="1"/>
          <p:nvPr/>
        </p:nvSpPr>
        <p:spPr>
          <a:xfrm>
            <a:off x="789294" y="1180664"/>
            <a:ext cx="558421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800" b="1" dirty="0">
                <a:latin typeface="Arial Black" panose="020B0A04020102020204" pitchFamily="34" charset="0"/>
              </a:rPr>
              <a:t>Alfanuméricos (</a:t>
            </a:r>
            <a:r>
              <a:rPr lang="pt-BR" sz="2400" b="1" dirty="0">
                <a:latin typeface="Arial Black" panose="020B0A04020102020204" pitchFamily="34" charset="0"/>
              </a:rPr>
              <a:t>Texto</a:t>
            </a:r>
            <a:r>
              <a:rPr lang="pt-BR" sz="2800" b="1" dirty="0">
                <a:latin typeface="Arial Black" panose="020B0A04020102020204" pitchFamily="34" charset="0"/>
              </a:rPr>
              <a:t>)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50420209-C3BD-5E06-7E2A-08D024BE1D4A}"/>
              </a:ext>
            </a:extLst>
          </p:cNvPr>
          <p:cNvSpPr txBox="1"/>
          <p:nvPr/>
        </p:nvSpPr>
        <p:spPr>
          <a:xfrm>
            <a:off x="1094317" y="5049784"/>
            <a:ext cx="904597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800" b="1" dirty="0">
                <a:latin typeface="Arial" panose="020B0604020202020204" pitchFamily="34" charset="0"/>
                <a:cs typeface="Arial" panose="020B0604020202020204" pitchFamily="34" charset="0"/>
              </a:rPr>
              <a:t>TEXT / CLOB</a:t>
            </a:r>
            <a:r>
              <a:rPr lang="pt-BR" sz="2800" dirty="0">
                <a:latin typeface="Arial" panose="020B0604020202020204" pitchFamily="34" charset="0"/>
                <a:cs typeface="Arial" panose="020B0604020202020204" pitchFamily="34" charset="0"/>
              </a:rPr>
              <a:t> → textos longos.</a:t>
            </a:r>
            <a:br>
              <a:rPr lang="pt-BR" sz="28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pt-BR" sz="2800" dirty="0">
                <a:latin typeface="Arial" panose="020B0604020202020204" pitchFamily="34" charset="0"/>
                <a:cs typeface="Arial" panose="020B0604020202020204" pitchFamily="34" charset="0"/>
              </a:rPr>
              <a:t> Quando usar: comentários, biografias, artigos.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EFA97D48-5B42-5A1E-FAE2-A598E5073A57}"/>
              </a:ext>
            </a:extLst>
          </p:cNvPr>
          <p:cNvSpPr txBox="1"/>
          <p:nvPr/>
        </p:nvSpPr>
        <p:spPr>
          <a:xfrm>
            <a:off x="1094316" y="2098848"/>
            <a:ext cx="10301563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800" b="1" dirty="0">
                <a:latin typeface="Arial" panose="020B0604020202020204" pitchFamily="34" charset="0"/>
                <a:cs typeface="Arial" panose="020B0604020202020204" pitchFamily="34" charset="0"/>
              </a:rPr>
              <a:t>CHAR(n)</a:t>
            </a:r>
            <a:r>
              <a:rPr lang="pt-BR" sz="2800" dirty="0">
                <a:latin typeface="Arial" panose="020B0604020202020204" pitchFamily="34" charset="0"/>
                <a:cs typeface="Arial" panose="020B0604020202020204" pitchFamily="34" charset="0"/>
              </a:rPr>
              <a:t> → texto de tamanho fixo.</a:t>
            </a:r>
            <a:br>
              <a:rPr lang="pt-BR" sz="28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pt-BR" sz="2800" dirty="0">
                <a:latin typeface="Arial" panose="020B0604020202020204" pitchFamily="34" charset="0"/>
                <a:cs typeface="Arial" panose="020B0604020202020204" pitchFamily="34" charset="0"/>
              </a:rPr>
              <a:t> Quando usar: siglas, códigos, CEP, UF (estado).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253D6EDD-072E-3EDF-E55B-CE2D6CFCB735}"/>
              </a:ext>
            </a:extLst>
          </p:cNvPr>
          <p:cNvSpPr txBox="1"/>
          <p:nvPr/>
        </p:nvSpPr>
        <p:spPr>
          <a:xfrm>
            <a:off x="1094316" y="3574316"/>
            <a:ext cx="10301563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800" b="1" dirty="0">
                <a:latin typeface="Arial" panose="020B0604020202020204" pitchFamily="34" charset="0"/>
                <a:cs typeface="Arial" panose="020B0604020202020204" pitchFamily="34" charset="0"/>
              </a:rPr>
              <a:t>VARCHAR(n)</a:t>
            </a:r>
            <a:r>
              <a:rPr lang="pt-BR" sz="2800" dirty="0">
                <a:latin typeface="Arial" panose="020B0604020202020204" pitchFamily="34" charset="0"/>
                <a:cs typeface="Arial" panose="020B0604020202020204" pitchFamily="34" charset="0"/>
              </a:rPr>
              <a:t> → texto variável.</a:t>
            </a:r>
            <a:br>
              <a:rPr lang="pt-BR" sz="28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pt-BR" sz="2800" dirty="0">
                <a:latin typeface="Arial" panose="020B0604020202020204" pitchFamily="34" charset="0"/>
                <a:cs typeface="Arial" panose="020B0604020202020204" pitchFamily="34" charset="0"/>
              </a:rPr>
              <a:t> Quando usar: nomes, endereços, descrições curtas.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5B5DFD5A-0916-2EEC-BCC6-2D2F5DEF4C92}"/>
              </a:ext>
            </a:extLst>
          </p:cNvPr>
          <p:cNvSpPr txBox="1"/>
          <p:nvPr/>
        </p:nvSpPr>
        <p:spPr>
          <a:xfrm>
            <a:off x="789294" y="200925"/>
            <a:ext cx="1019715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3200" b="1" dirty="0">
                <a:latin typeface="Arial Black" panose="020B0A04020102020204" pitchFamily="34" charset="0"/>
                <a:cs typeface="Arial" panose="020B0604020202020204" pitchFamily="34" charset="0"/>
              </a:rPr>
              <a:t>2. </a:t>
            </a:r>
            <a:r>
              <a:rPr lang="pt-BR" sz="3200" dirty="0">
                <a:latin typeface="Arial Black" panose="020B0A04020102020204" pitchFamily="34" charset="0"/>
              </a:rPr>
              <a:t>Principais Tipos Variáveis de Domínios</a:t>
            </a:r>
            <a:endParaRPr lang="pt-BR" sz="3200" b="1" dirty="0">
              <a:latin typeface="Arial Black" panose="020B0A040201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273085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3" grpId="0"/>
      <p:bldP spid="5" grpId="0"/>
      <p:bldP spid="7" grpId="0"/>
      <p:bldP spid="8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828A7E-18AC-5995-5ECD-6C5E5238A4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aixaDeTexto 7">
            <a:extLst>
              <a:ext uri="{FF2B5EF4-FFF2-40B4-BE49-F238E27FC236}">
                <a16:creationId xmlns:a16="http://schemas.microsoft.com/office/drawing/2014/main" id="{F7BA3E57-9ACA-C7CC-3FEB-08F43B695E2F}"/>
              </a:ext>
            </a:extLst>
          </p:cNvPr>
          <p:cNvSpPr txBox="1"/>
          <p:nvPr/>
        </p:nvSpPr>
        <p:spPr>
          <a:xfrm>
            <a:off x="789294" y="200925"/>
            <a:ext cx="920086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800" b="1" dirty="0">
                <a:latin typeface="Arial Black" panose="020B0A04020102020204" pitchFamily="34" charset="0"/>
                <a:cs typeface="Arial" panose="020B0604020202020204" pitchFamily="34" charset="0"/>
              </a:rPr>
              <a:t>2. </a:t>
            </a:r>
            <a:r>
              <a:rPr lang="pt-BR" sz="2800" dirty="0">
                <a:latin typeface="Arial Black" panose="020B0A04020102020204" pitchFamily="34" charset="0"/>
              </a:rPr>
              <a:t>Principais Tipos Variáveis de Domínios</a:t>
            </a:r>
            <a:endParaRPr lang="pt-BR" sz="2800" b="1" dirty="0">
              <a:latin typeface="Arial Black" panose="020B0A04020102020204" pitchFamily="34" charset="0"/>
              <a:cs typeface="Arial" panose="020B0604020202020204" pitchFamily="34" charset="0"/>
            </a:endParaRPr>
          </a:p>
        </p:txBody>
      </p:sp>
      <p:pic>
        <p:nvPicPr>
          <p:cNvPr id="10" name="Imagem 9">
            <a:extLst>
              <a:ext uri="{FF2B5EF4-FFF2-40B4-BE49-F238E27FC236}">
                <a16:creationId xmlns:a16="http://schemas.microsoft.com/office/drawing/2014/main" id="{55F41EF0-75E6-F515-30C6-6BDA5EC726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4736" y="1105470"/>
            <a:ext cx="11802527" cy="53908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23979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CaixaDeTexto 17">
            <a:extLst>
              <a:ext uri="{FF2B5EF4-FFF2-40B4-BE49-F238E27FC236}">
                <a16:creationId xmlns:a16="http://schemas.microsoft.com/office/drawing/2014/main" id="{ECC9447A-D206-4054-80F3-4204650219A2}"/>
              </a:ext>
            </a:extLst>
          </p:cNvPr>
          <p:cNvSpPr txBox="1"/>
          <p:nvPr/>
        </p:nvSpPr>
        <p:spPr>
          <a:xfrm>
            <a:off x="635507" y="1199409"/>
            <a:ext cx="411391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800" b="1" dirty="0">
                <a:latin typeface="Arial Black" panose="020B0A04020102020204" pitchFamily="34" charset="0"/>
              </a:rPr>
              <a:t>Datas e Horas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D283289D-28A8-0DF2-2763-8188424C0FC8}"/>
              </a:ext>
            </a:extLst>
          </p:cNvPr>
          <p:cNvSpPr txBox="1"/>
          <p:nvPr/>
        </p:nvSpPr>
        <p:spPr>
          <a:xfrm>
            <a:off x="523734" y="4966092"/>
            <a:ext cx="11539006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800" b="1" dirty="0">
                <a:latin typeface="Arial" panose="020B0604020202020204" pitchFamily="34" charset="0"/>
                <a:cs typeface="Arial" panose="020B0604020202020204" pitchFamily="34" charset="0"/>
              </a:rPr>
              <a:t>DATETIME / TIMESTAMP</a:t>
            </a:r>
            <a:r>
              <a:rPr lang="pt-BR" sz="2800" dirty="0">
                <a:latin typeface="Arial" panose="020B0604020202020204" pitchFamily="34" charset="0"/>
                <a:cs typeface="Arial" panose="020B0604020202020204" pitchFamily="34" charset="0"/>
              </a:rPr>
              <a:t> → data e hora juntos.</a:t>
            </a:r>
            <a:br>
              <a:rPr lang="pt-BR" sz="28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pt-BR" sz="2800" dirty="0">
                <a:latin typeface="Arial" panose="020B0604020202020204" pitchFamily="34" charset="0"/>
                <a:cs typeface="Arial" panose="020B0604020202020204" pitchFamily="34" charset="0"/>
              </a:rPr>
              <a:t> Quando usar: logs do sistema, momento de uma compra, rastreamento de eventos.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58F88048-C8C8-35E0-A95A-E4ED85B57157}"/>
              </a:ext>
            </a:extLst>
          </p:cNvPr>
          <p:cNvSpPr txBox="1"/>
          <p:nvPr/>
        </p:nvSpPr>
        <p:spPr>
          <a:xfrm>
            <a:off x="380147" y="3374846"/>
            <a:ext cx="11431705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800" b="1" dirty="0">
                <a:latin typeface="Arial" panose="020B0604020202020204" pitchFamily="34" charset="0"/>
                <a:cs typeface="Arial" panose="020B0604020202020204" pitchFamily="34" charset="0"/>
              </a:rPr>
              <a:t> DATE</a:t>
            </a:r>
            <a:r>
              <a:rPr lang="pt-BR" sz="2800" dirty="0">
                <a:latin typeface="Arial" panose="020B0604020202020204" pitchFamily="34" charset="0"/>
                <a:cs typeface="Arial" panose="020B0604020202020204" pitchFamily="34" charset="0"/>
              </a:rPr>
              <a:t> → apenas a data.</a:t>
            </a:r>
            <a:br>
              <a:rPr lang="pt-BR" sz="28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pt-BR" sz="2800" dirty="0">
                <a:latin typeface="Arial" panose="020B0604020202020204" pitchFamily="34" charset="0"/>
                <a:cs typeface="Arial" panose="020B0604020202020204" pitchFamily="34" charset="0"/>
              </a:rPr>
              <a:t> Quando usar: nascimento, data de cadastro, data de vencimento.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6D3F0DF7-05A2-4D4D-9AD4-9C7EB0FE143B}"/>
              </a:ext>
            </a:extLst>
          </p:cNvPr>
          <p:cNvSpPr txBox="1"/>
          <p:nvPr/>
        </p:nvSpPr>
        <p:spPr>
          <a:xfrm>
            <a:off x="523734" y="1783600"/>
            <a:ext cx="9561962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800" b="1" dirty="0">
                <a:latin typeface="Arial" panose="020B0604020202020204" pitchFamily="34" charset="0"/>
                <a:cs typeface="Arial" panose="020B0604020202020204" pitchFamily="34" charset="0"/>
              </a:rPr>
              <a:t>TIME</a:t>
            </a:r>
            <a:r>
              <a:rPr lang="pt-BR" sz="2800" dirty="0">
                <a:latin typeface="Arial" panose="020B0604020202020204" pitchFamily="34" charset="0"/>
                <a:cs typeface="Arial" panose="020B0604020202020204" pitchFamily="34" charset="0"/>
              </a:rPr>
              <a:t> → apenas a hora.</a:t>
            </a:r>
            <a:br>
              <a:rPr lang="pt-BR" sz="28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pt-BR" sz="2800" dirty="0">
                <a:latin typeface="Arial" panose="020B0604020202020204" pitchFamily="34" charset="0"/>
                <a:cs typeface="Arial" panose="020B0604020202020204" pitchFamily="34" charset="0"/>
              </a:rPr>
              <a:t> Quando usar: registro de ponto, horário de entrada/saída.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E7290443-5396-463A-E953-7B4EDF10B305}"/>
              </a:ext>
            </a:extLst>
          </p:cNvPr>
          <p:cNvSpPr txBox="1"/>
          <p:nvPr/>
        </p:nvSpPr>
        <p:spPr>
          <a:xfrm>
            <a:off x="789294" y="461330"/>
            <a:ext cx="993784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3200" b="1" dirty="0">
                <a:latin typeface="Arial Black" panose="020B0A04020102020204" pitchFamily="34" charset="0"/>
                <a:cs typeface="Arial" panose="020B0604020202020204" pitchFamily="34" charset="0"/>
              </a:rPr>
              <a:t>2. </a:t>
            </a:r>
            <a:r>
              <a:rPr lang="pt-BR" sz="3200" dirty="0">
                <a:latin typeface="Arial Black" panose="020B0A04020102020204" pitchFamily="34" charset="0"/>
              </a:rPr>
              <a:t>Principais Tipos Variáveis de Domínios</a:t>
            </a:r>
            <a:endParaRPr lang="pt-BR" sz="3200" b="1" dirty="0">
              <a:latin typeface="Arial Black" panose="020B0A040201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218502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  <p:bldP spid="3" grpId="0"/>
      <p:bldP spid="5" grpId="0"/>
      <p:bldP spid="9" grpId="0"/>
      <p:bldP spid="10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FE0966-9D1A-FD03-F173-2EA165CDBD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aixaDeTexto 9">
            <a:extLst>
              <a:ext uri="{FF2B5EF4-FFF2-40B4-BE49-F238E27FC236}">
                <a16:creationId xmlns:a16="http://schemas.microsoft.com/office/drawing/2014/main" id="{351CD2F0-38ED-3AE4-6D0C-628E5EA46D61}"/>
              </a:ext>
            </a:extLst>
          </p:cNvPr>
          <p:cNvSpPr txBox="1"/>
          <p:nvPr/>
        </p:nvSpPr>
        <p:spPr>
          <a:xfrm>
            <a:off x="789294" y="200925"/>
            <a:ext cx="920086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800" b="1" dirty="0">
                <a:latin typeface="Arial Black" panose="020B0A04020102020204" pitchFamily="34" charset="0"/>
                <a:cs typeface="Arial" panose="020B0604020202020204" pitchFamily="34" charset="0"/>
              </a:rPr>
              <a:t>2. </a:t>
            </a:r>
            <a:r>
              <a:rPr lang="pt-BR" sz="2800" dirty="0">
                <a:latin typeface="Arial Black" panose="020B0A04020102020204" pitchFamily="34" charset="0"/>
              </a:rPr>
              <a:t>Principais Tipos Variáveis de Domínios</a:t>
            </a:r>
            <a:endParaRPr lang="pt-BR" sz="2800" b="1" dirty="0">
              <a:latin typeface="Arial Black" panose="020B0A04020102020204" pitchFamily="34" charset="0"/>
              <a:cs typeface="Arial" panose="020B0604020202020204" pitchFamily="34" charset="0"/>
            </a:endParaRPr>
          </a:p>
        </p:txBody>
      </p:sp>
      <p:pic>
        <p:nvPicPr>
          <p:cNvPr id="13" name="Imagem 12">
            <a:extLst>
              <a:ext uri="{FF2B5EF4-FFF2-40B4-BE49-F238E27FC236}">
                <a16:creationId xmlns:a16="http://schemas.microsoft.com/office/drawing/2014/main" id="{EE32F95E-AC37-00AB-8297-B665AE158F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3730" y="1105469"/>
            <a:ext cx="11325105" cy="55516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67174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CaixaDeTexto 17">
            <a:extLst>
              <a:ext uri="{FF2B5EF4-FFF2-40B4-BE49-F238E27FC236}">
                <a16:creationId xmlns:a16="http://schemas.microsoft.com/office/drawing/2014/main" id="{ECC9447A-D206-4054-80F3-4204650219A2}"/>
              </a:ext>
            </a:extLst>
          </p:cNvPr>
          <p:cNvSpPr txBox="1"/>
          <p:nvPr/>
        </p:nvSpPr>
        <p:spPr>
          <a:xfrm>
            <a:off x="789294" y="1304105"/>
            <a:ext cx="640307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800" dirty="0">
                <a:latin typeface="Arial Black" panose="020B0A04020102020204" pitchFamily="34" charset="0"/>
              </a:rPr>
              <a:t>Domínios Lógicos (Booleanos)</a:t>
            </a:r>
            <a:endParaRPr lang="pt-BR" sz="2800" b="1" dirty="0">
              <a:latin typeface="Arial Black" panose="020B0A04020102020204" pitchFamily="34" charset="0"/>
            </a:endParaRP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0D82EF62-EB18-C044-1168-BF240436D700}"/>
              </a:ext>
            </a:extLst>
          </p:cNvPr>
          <p:cNvSpPr txBox="1"/>
          <p:nvPr/>
        </p:nvSpPr>
        <p:spPr>
          <a:xfrm>
            <a:off x="789294" y="200925"/>
            <a:ext cx="988325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3200" b="1" dirty="0">
                <a:latin typeface="Arial Black" panose="020B0A04020102020204" pitchFamily="34" charset="0"/>
                <a:cs typeface="Arial" panose="020B0604020202020204" pitchFamily="34" charset="0"/>
              </a:rPr>
              <a:t>2. </a:t>
            </a:r>
            <a:r>
              <a:rPr lang="pt-BR" sz="3200" dirty="0">
                <a:latin typeface="Arial Black" panose="020B0A04020102020204" pitchFamily="34" charset="0"/>
              </a:rPr>
              <a:t>Principais Tipos Variáveis de Domínios</a:t>
            </a:r>
            <a:endParaRPr lang="pt-BR" sz="3200" b="1" dirty="0">
              <a:latin typeface="Arial Black" panose="020B0A040201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7D5A5199-C898-D7C6-EA00-04B0EFEFD3FB}"/>
              </a:ext>
            </a:extLst>
          </p:cNvPr>
          <p:cNvSpPr txBox="1"/>
          <p:nvPr/>
        </p:nvSpPr>
        <p:spPr>
          <a:xfrm>
            <a:off x="789294" y="2819231"/>
            <a:ext cx="11097906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3200" b="1" dirty="0">
                <a:latin typeface="Arial" panose="020B0604020202020204" pitchFamily="34" charset="0"/>
                <a:cs typeface="Arial" panose="020B0604020202020204" pitchFamily="34" charset="0"/>
              </a:rPr>
              <a:t>BOOLEAN</a:t>
            </a:r>
            <a:r>
              <a:rPr lang="pt-BR" sz="3200" dirty="0">
                <a:latin typeface="Arial" panose="020B0604020202020204" pitchFamily="34" charset="0"/>
                <a:cs typeface="Arial" panose="020B0604020202020204" pitchFamily="34" charset="0"/>
              </a:rPr>
              <a:t> → valores lógicos (TRUE/FALSE).</a:t>
            </a:r>
            <a:br>
              <a:rPr lang="pt-BR" sz="32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pt-BR" sz="3200" dirty="0">
                <a:latin typeface="Arial" panose="020B0604020202020204" pitchFamily="34" charset="0"/>
                <a:cs typeface="Arial" panose="020B0604020202020204" pitchFamily="34" charset="0"/>
              </a:rPr>
              <a:t> Quando usar: status ativo/inativo, pago/não pago, aprovado/reprovado.</a:t>
            </a:r>
          </a:p>
        </p:txBody>
      </p:sp>
    </p:spTree>
    <p:extLst>
      <p:ext uri="{BB962C8B-B14F-4D97-AF65-F5344CB8AC3E}">
        <p14:creationId xmlns:p14="http://schemas.microsoft.com/office/powerpoint/2010/main" val="13338712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  <p:bldP spid="2" grpId="0"/>
      <p:bldP spid="5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E34A4B-565E-D58B-8952-3C15F4EAAD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AF0ED7AC-734D-8B85-F3B5-2A7FB7897760}"/>
              </a:ext>
            </a:extLst>
          </p:cNvPr>
          <p:cNvSpPr txBox="1"/>
          <p:nvPr/>
        </p:nvSpPr>
        <p:spPr>
          <a:xfrm>
            <a:off x="789294" y="200925"/>
            <a:ext cx="920086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800" b="1" dirty="0">
                <a:latin typeface="Arial Black" panose="020B0A04020102020204" pitchFamily="34" charset="0"/>
                <a:cs typeface="Arial" panose="020B0604020202020204" pitchFamily="34" charset="0"/>
              </a:rPr>
              <a:t>2. </a:t>
            </a:r>
            <a:r>
              <a:rPr lang="pt-BR" sz="2800" dirty="0">
                <a:latin typeface="Arial Black" panose="020B0A04020102020204" pitchFamily="34" charset="0"/>
              </a:rPr>
              <a:t>Principais Tipos Variáveis de Domínios</a:t>
            </a:r>
            <a:endParaRPr lang="pt-BR" sz="2800" b="1" dirty="0">
              <a:latin typeface="Arial Black" panose="020B0A04020102020204" pitchFamily="34" charset="0"/>
              <a:cs typeface="Arial" panose="020B0604020202020204" pitchFamily="34" charset="0"/>
            </a:endParaRP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A517FDC1-DEBD-0014-5E15-C40E852742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7996" y="1419367"/>
            <a:ext cx="11313618" cy="51004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11020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CaixaDeTexto 17">
            <a:extLst>
              <a:ext uri="{FF2B5EF4-FFF2-40B4-BE49-F238E27FC236}">
                <a16:creationId xmlns:a16="http://schemas.microsoft.com/office/drawing/2014/main" id="{ECC9447A-D206-4054-80F3-4204650219A2}"/>
              </a:ext>
            </a:extLst>
          </p:cNvPr>
          <p:cNvSpPr txBox="1"/>
          <p:nvPr/>
        </p:nvSpPr>
        <p:spPr>
          <a:xfrm>
            <a:off x="797418" y="1609179"/>
            <a:ext cx="42872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800" b="1" dirty="0">
                <a:latin typeface="Arial" panose="020B0604020202020204" pitchFamily="34" charset="0"/>
                <a:cs typeface="Arial" panose="020B0604020202020204" pitchFamily="34" charset="0"/>
              </a:rPr>
              <a:t>Binários / Multimídia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E14E6760-829E-1682-9AC1-6B5055B69FF5}"/>
              </a:ext>
            </a:extLst>
          </p:cNvPr>
          <p:cNvSpPr txBox="1"/>
          <p:nvPr/>
        </p:nvSpPr>
        <p:spPr>
          <a:xfrm>
            <a:off x="652817" y="2772222"/>
            <a:ext cx="11033330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800" b="1" dirty="0">
                <a:latin typeface="Arial" panose="020B0604020202020204" pitchFamily="34" charset="0"/>
                <a:cs typeface="Arial" panose="020B0604020202020204" pitchFamily="34" charset="0"/>
              </a:rPr>
              <a:t>BLOB (</a:t>
            </a:r>
            <a:r>
              <a:rPr lang="pt-BR" sz="2800" b="1" dirty="0" err="1">
                <a:latin typeface="Arial" panose="020B0604020202020204" pitchFamily="34" charset="0"/>
                <a:cs typeface="Arial" panose="020B0604020202020204" pitchFamily="34" charset="0"/>
              </a:rPr>
              <a:t>Binary</a:t>
            </a:r>
            <a:r>
              <a:rPr lang="pt-BR" sz="2800" b="1" dirty="0">
                <a:latin typeface="Arial" panose="020B0604020202020204" pitchFamily="34" charset="0"/>
                <a:cs typeface="Arial" panose="020B0604020202020204" pitchFamily="34" charset="0"/>
              </a:rPr>
              <a:t> Large </a:t>
            </a:r>
            <a:r>
              <a:rPr lang="pt-BR" sz="2800" b="1" dirty="0" err="1">
                <a:latin typeface="Arial" panose="020B0604020202020204" pitchFamily="34" charset="0"/>
                <a:cs typeface="Arial" panose="020B0604020202020204" pitchFamily="34" charset="0"/>
              </a:rPr>
              <a:t>Object</a:t>
            </a:r>
            <a:r>
              <a:rPr lang="pt-BR" sz="2800" b="1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r>
              <a:rPr lang="pt-BR" sz="2800" dirty="0">
                <a:latin typeface="Arial" panose="020B0604020202020204" pitchFamily="34" charset="0"/>
                <a:cs typeface="Arial" panose="020B0604020202020204" pitchFamily="34" charset="0"/>
              </a:rPr>
              <a:t> → arquivos binários. São usados em bancos relacionais para armazenar </a:t>
            </a:r>
            <a:r>
              <a:rPr lang="pt-BR" sz="2800" b="1" dirty="0">
                <a:latin typeface="Arial" panose="020B0604020202020204" pitchFamily="34" charset="0"/>
                <a:cs typeface="Arial" panose="020B0604020202020204" pitchFamily="34" charset="0"/>
              </a:rPr>
              <a:t>arquivos binários</a:t>
            </a:r>
            <a:r>
              <a:rPr lang="pt-BR" sz="2800" dirty="0">
                <a:latin typeface="Arial" panose="020B0604020202020204" pitchFamily="34" charset="0"/>
                <a:cs typeface="Arial" panose="020B0604020202020204" pitchFamily="34" charset="0"/>
              </a:rPr>
              <a:t> como imagens, </a:t>
            </a:r>
            <a:r>
              <a:rPr lang="pt-BR" sz="2800" dirty="0" err="1">
                <a:latin typeface="Arial" panose="020B0604020202020204" pitchFamily="34" charset="0"/>
                <a:cs typeface="Arial" panose="020B0604020202020204" pitchFamily="34" charset="0"/>
              </a:rPr>
              <a:t>PDFs</a:t>
            </a:r>
            <a:r>
              <a:rPr lang="pt-BR" sz="2800" dirty="0">
                <a:latin typeface="Arial" panose="020B0604020202020204" pitchFamily="34" charset="0"/>
                <a:cs typeface="Arial" panose="020B0604020202020204" pitchFamily="34" charset="0"/>
              </a:rPr>
              <a:t>, áudios e vídeos.</a:t>
            </a:r>
            <a:br>
              <a:rPr lang="pt-BR" sz="28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pt-BR" sz="2800" dirty="0">
                <a:latin typeface="Arial" panose="020B0604020202020204" pitchFamily="34" charset="0"/>
                <a:cs typeface="Arial" panose="020B0604020202020204" pitchFamily="34" charset="0"/>
              </a:rPr>
              <a:t> Quando usar: fotos de perfil, documentos digitalizados, áudios, vídeos.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61EC02EE-2FFE-4E92-9FBB-780585975C93}"/>
              </a:ext>
            </a:extLst>
          </p:cNvPr>
          <p:cNvSpPr txBox="1"/>
          <p:nvPr/>
        </p:nvSpPr>
        <p:spPr>
          <a:xfrm>
            <a:off x="652817" y="446136"/>
            <a:ext cx="920086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800" b="1" dirty="0">
                <a:latin typeface="Arial Black" panose="020B0A04020102020204" pitchFamily="34" charset="0"/>
                <a:cs typeface="Arial" panose="020B0604020202020204" pitchFamily="34" charset="0"/>
              </a:rPr>
              <a:t>2. </a:t>
            </a:r>
            <a:r>
              <a:rPr lang="pt-BR" sz="2800" dirty="0">
                <a:latin typeface="Arial Black" panose="020B0A04020102020204" pitchFamily="34" charset="0"/>
              </a:rPr>
              <a:t>Principais Tipos Variáveis de Domínios</a:t>
            </a:r>
            <a:endParaRPr lang="pt-BR" sz="2800" b="1" dirty="0">
              <a:latin typeface="Arial Black" panose="020B0A040201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387867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  <p:bldP spid="3" grpId="0"/>
      <p:bldP spid="5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344543-0604-3173-2281-3C39E288BF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>
            <a:extLst>
              <a:ext uri="{FF2B5EF4-FFF2-40B4-BE49-F238E27FC236}">
                <a16:creationId xmlns:a16="http://schemas.microsoft.com/office/drawing/2014/main" id="{FE7E4D0A-40E9-8E3C-1B31-29EDEAC54E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2984" y="1569492"/>
            <a:ext cx="10946925" cy="5090405"/>
          </a:xfrm>
          <a:prstGeom prst="rect">
            <a:avLst/>
          </a:prstGeom>
        </p:spPr>
      </p:pic>
      <p:sp>
        <p:nvSpPr>
          <p:cNvPr id="5" name="CaixaDeTexto 4">
            <a:extLst>
              <a:ext uri="{FF2B5EF4-FFF2-40B4-BE49-F238E27FC236}">
                <a16:creationId xmlns:a16="http://schemas.microsoft.com/office/drawing/2014/main" id="{91041143-F8AD-CEBA-01BF-FF44882D2798}"/>
              </a:ext>
            </a:extLst>
          </p:cNvPr>
          <p:cNvSpPr txBox="1"/>
          <p:nvPr/>
        </p:nvSpPr>
        <p:spPr>
          <a:xfrm>
            <a:off x="652817" y="446136"/>
            <a:ext cx="920086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800" b="1" dirty="0">
                <a:latin typeface="Arial Black" panose="020B0A04020102020204" pitchFamily="34" charset="0"/>
                <a:cs typeface="Arial" panose="020B0604020202020204" pitchFamily="34" charset="0"/>
              </a:rPr>
              <a:t>2. </a:t>
            </a:r>
            <a:r>
              <a:rPr lang="pt-BR" sz="2800" dirty="0">
                <a:latin typeface="Arial Black" panose="020B0A04020102020204" pitchFamily="34" charset="0"/>
              </a:rPr>
              <a:t>Principais Tipos Variáveis de Domínios</a:t>
            </a:r>
            <a:endParaRPr lang="pt-BR" sz="2800" b="1" dirty="0">
              <a:latin typeface="Arial Black" panose="020B0A040201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825700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4650B1-2B2E-0D21-EE66-D366310A93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aixaDeTexto 4">
            <a:extLst>
              <a:ext uri="{FF2B5EF4-FFF2-40B4-BE49-F238E27FC236}">
                <a16:creationId xmlns:a16="http://schemas.microsoft.com/office/drawing/2014/main" id="{2CF880B2-F533-9DAB-57E9-9D3686AB9B01}"/>
              </a:ext>
            </a:extLst>
          </p:cNvPr>
          <p:cNvSpPr txBox="1"/>
          <p:nvPr/>
        </p:nvSpPr>
        <p:spPr>
          <a:xfrm>
            <a:off x="652817" y="446136"/>
            <a:ext cx="920086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800" b="1" dirty="0">
                <a:latin typeface="Arial Black" panose="020B0A04020102020204" pitchFamily="34" charset="0"/>
                <a:cs typeface="Arial" panose="020B0604020202020204" pitchFamily="34" charset="0"/>
              </a:rPr>
              <a:t>3. Exemplos Práticos</a:t>
            </a: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5483DF82-9E77-4FFD-2F46-85AF014FCE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8407" y="1119116"/>
            <a:ext cx="11615186" cy="55546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395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EA18C5-C8B1-BDC8-E93C-B6282AE38B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aixaDeTexto 4">
            <a:extLst>
              <a:ext uri="{FF2B5EF4-FFF2-40B4-BE49-F238E27FC236}">
                <a16:creationId xmlns:a16="http://schemas.microsoft.com/office/drawing/2014/main" id="{5389C93A-C6B4-9992-10FC-C92996408B74}"/>
              </a:ext>
            </a:extLst>
          </p:cNvPr>
          <p:cNvSpPr txBox="1"/>
          <p:nvPr/>
        </p:nvSpPr>
        <p:spPr>
          <a:xfrm>
            <a:off x="652817" y="446136"/>
            <a:ext cx="920086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800" b="1" dirty="0">
                <a:latin typeface="Arial Black" panose="020B0A04020102020204" pitchFamily="34" charset="0"/>
                <a:cs typeface="Arial" panose="020B0604020202020204" pitchFamily="34" charset="0"/>
              </a:rPr>
              <a:t>3. Exemplos Práticos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855BAF0A-5985-E8FD-9DC0-ABE477AF6C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6341" y="1064890"/>
            <a:ext cx="11345123" cy="56634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43930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CaixaDeTexto 10">
            <a:extLst>
              <a:ext uri="{FF2B5EF4-FFF2-40B4-BE49-F238E27FC236}">
                <a16:creationId xmlns:a16="http://schemas.microsoft.com/office/drawing/2014/main" id="{05F5B4B7-173A-4306-B538-C97140FA80FC}"/>
              </a:ext>
            </a:extLst>
          </p:cNvPr>
          <p:cNvSpPr txBox="1"/>
          <p:nvPr/>
        </p:nvSpPr>
        <p:spPr>
          <a:xfrm>
            <a:off x="2675467" y="441867"/>
            <a:ext cx="470746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800" dirty="0">
                <a:latin typeface="Arial Black" panose="020B0A04020102020204" pitchFamily="34" charset="0"/>
              </a:rPr>
              <a:t>ATIVIDADE PROPOSTA</a:t>
            </a:r>
            <a:endParaRPr lang="pt-BR" sz="2800" b="1" dirty="0">
              <a:latin typeface="Arial Black" panose="020B0A040201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652E8D61-4711-4829-B4A0-F15C4B57D182}"/>
              </a:ext>
            </a:extLst>
          </p:cNvPr>
          <p:cNvSpPr txBox="1"/>
          <p:nvPr/>
        </p:nvSpPr>
        <p:spPr>
          <a:xfrm>
            <a:off x="594183" y="1592684"/>
            <a:ext cx="588281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400" b="1" dirty="0">
                <a:latin typeface="Arial" panose="020B0604020202020204" pitchFamily="34" charset="0"/>
                <a:cs typeface="Arial" panose="020B0604020202020204" pitchFamily="34" charset="0"/>
              </a:rPr>
              <a:t>Responda o Formulário(</a:t>
            </a:r>
            <a:r>
              <a:rPr lang="pt-BR" sz="2400" b="1" dirty="0" err="1">
                <a:latin typeface="Arial" panose="020B0604020202020204" pitchFamily="34" charset="0"/>
                <a:cs typeface="Arial" panose="020B0604020202020204" pitchFamily="34" charset="0"/>
              </a:rPr>
              <a:t>Forms</a:t>
            </a:r>
            <a:r>
              <a:rPr lang="pt-BR" sz="2400" b="1" dirty="0">
                <a:latin typeface="Arial" panose="020B0604020202020204" pitchFamily="34" charset="0"/>
                <a:cs typeface="Arial" panose="020B0604020202020204" pitchFamily="34" charset="0"/>
              </a:rPr>
              <a:t> Google)</a:t>
            </a:r>
            <a:endParaRPr lang="pt-BR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6D4495A9-5EB5-47FB-A5F8-13BF3894B365}"/>
              </a:ext>
            </a:extLst>
          </p:cNvPr>
          <p:cNvSpPr txBox="1"/>
          <p:nvPr/>
        </p:nvSpPr>
        <p:spPr>
          <a:xfrm>
            <a:off x="594183" y="2622810"/>
            <a:ext cx="1082719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400" b="1" dirty="0">
                <a:latin typeface="Arial" panose="020B0604020202020204" pitchFamily="34" charset="0"/>
                <a:cs typeface="Arial" panose="020B0604020202020204" pitchFamily="34" charset="0"/>
              </a:rPr>
              <a:t>Local: Pasta Material de Apoio(Área de Trabalho)</a:t>
            </a:r>
            <a:endParaRPr lang="pt-BR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EBAF53C0-70C7-4CBC-BCD9-70416EF38D92}"/>
              </a:ext>
            </a:extLst>
          </p:cNvPr>
          <p:cNvSpPr txBox="1"/>
          <p:nvPr/>
        </p:nvSpPr>
        <p:spPr>
          <a:xfrm>
            <a:off x="670384" y="3652937"/>
            <a:ext cx="333435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400" b="1" dirty="0">
                <a:latin typeface="Arial" panose="020B0604020202020204" pitchFamily="34" charset="0"/>
                <a:cs typeface="Arial" panose="020B0604020202020204" pitchFamily="34" charset="0"/>
              </a:rPr>
              <a:t>Na Pasta:  </a:t>
            </a:r>
            <a:r>
              <a:rPr lang="pt-BR" sz="2400" dirty="0">
                <a:latin typeface="Arial" panose="020B0604020202020204" pitchFamily="34" charset="0"/>
                <a:cs typeface="Arial" panose="020B0604020202020204" pitchFamily="34" charset="0"/>
              </a:rPr>
              <a:t>DS ou BD I</a:t>
            </a:r>
          </a:p>
        </p:txBody>
      </p:sp>
    </p:spTree>
    <p:extLst>
      <p:ext uri="{BB962C8B-B14F-4D97-AF65-F5344CB8AC3E}">
        <p14:creationId xmlns:p14="http://schemas.microsoft.com/office/powerpoint/2010/main" val="668865225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Íon">
  <a:themeElements>
    <a:clrScheme name="Ion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EC76B5"/>
      </a:hlink>
      <a:folHlink>
        <a:srgbClr val="E8ACCD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A207AED3-9ABC-4A18-9978-A59B65688B1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305</TotalTime>
  <Words>433</Words>
  <Application>Microsoft Office PowerPoint</Application>
  <PresentationFormat>Widescreen</PresentationFormat>
  <Paragraphs>40</Paragraphs>
  <Slides>15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15</vt:i4>
      </vt:variant>
    </vt:vector>
  </HeadingPairs>
  <TitlesOfParts>
    <vt:vector size="20" baseType="lpstr">
      <vt:lpstr>Arial</vt:lpstr>
      <vt:lpstr>Arial Black</vt:lpstr>
      <vt:lpstr>Century Gothic</vt:lpstr>
      <vt:lpstr>Wingdings 3</vt:lpstr>
      <vt:lpstr>Íon</vt:lpstr>
      <vt:lpstr>Tipos de Variáveis de Domínios no Modelo  Relacional     Parte 2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Tipos de Domínios no Modelo Relacional           Parte 1</dc:title>
  <dc:creator>Daniel Jose de Oliveira Diniz</dc:creator>
  <cp:lastModifiedBy>Usuario 0107</cp:lastModifiedBy>
  <cp:revision>8</cp:revision>
  <dcterms:created xsi:type="dcterms:W3CDTF">2025-08-25T18:57:59Z</dcterms:created>
  <dcterms:modified xsi:type="dcterms:W3CDTF">2025-09-03T19:15:36Z</dcterms:modified>
</cp:coreProperties>
</file>