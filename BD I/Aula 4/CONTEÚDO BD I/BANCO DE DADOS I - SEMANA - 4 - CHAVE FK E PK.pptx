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71" r:id="rId9"/>
    <p:sldId id="272" r:id="rId10"/>
    <p:sldId id="269" r:id="rId11"/>
    <p:sldId id="270" r:id="rId12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947F2B1-E2BA-4CED-821E-46D9EECC59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25549B-65C1-4BEA-996B-FAC71F7089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5B266-F467-492B-9CB1-9D8DAE746656}" type="datetimeFigureOut">
              <a:rPr lang="pt-BR" smtClean="0"/>
              <a:t>19/08/2025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B1A06E0-82A3-4C94-B558-074B3248DF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170E91-12FF-42BD-8BDC-7AF2690C42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A62FC-A62D-4526-B7F3-A3D1B8D076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298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C4594-5209-43CD-867D-84E7774A7507}" type="datetimeFigureOut">
              <a:rPr lang="pt-BR" smtClean="0"/>
              <a:t>19/08/2025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noProof="0" dirty="0"/>
              <a:t>Editar estilos de texto Mestre</a:t>
            </a:r>
            <a:endParaRPr lang="pt-BR" dirty="0"/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D7D9D4-EF1E-4C2E-9DBA-ADFF91DD647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648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870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6917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F36BD-BE33-CFFC-C3A6-2A24D764E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79094CE-4041-F14D-542F-7DC5FAE10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8AC49A0-841C-177B-66DE-73098599E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5BE209-BB3E-2856-50FE-36B55829E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464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1091-B24E-0740-D461-15AD1BAB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0299AA5-1CC0-1855-E8AA-258933EAF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816BC84-694F-5722-FE4D-7526DE10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59CF55-BBDB-8C7F-D578-18602C6E5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144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EF4D6-FF81-8FDA-7328-E8A001D27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36E71C-FC8C-8E76-8DD7-054C1D058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853470-10ED-D3E6-A8CF-861170602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9D429A-3E3D-979B-7C63-390E6BF06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0676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69B7-C383-ACF8-EAB1-2BE963A9F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A879B6-4855-F781-1EBB-A59AF1CDA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EC7F1D-285C-745E-0989-4A2A2B532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1F46A6-94CA-00F7-BF01-6003F845F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165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60EA0-9A00-CEBB-62D8-6841CEED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22FE85-9D72-21FD-9FEF-D07D1A45E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7B3481-D193-D69A-3EEC-A75933F7D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5AE3F7-73B8-7786-7107-A95F75F8CE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973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57DEE-4847-4DB5-D25B-89BE858D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F878D0D-A8AD-9FB5-CA22-99A84BF79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6CAF23-0A14-76E9-2F05-2A8F12F25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B96DD5-5911-B25A-61AB-BC34EFECF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543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1A1A-2262-30B4-A4DF-2E0EE5305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5DBA77-B221-3A87-FFFC-D8C4095C2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B980C9-9B96-EE8C-F492-65A076C24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08E433-419C-9BEF-982C-4E2E67A86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704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0CB2-65EC-C4CC-D8BB-AA01A13A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F51949-1A2C-20C1-0CEF-63FC20C8F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D69593-C650-43A3-E9FC-EECE56FEE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A281DD-71EB-E0DC-FB6D-8DFF79074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165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4C715-E11B-280A-B239-D1C525F6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A728B8-20C6-6B6A-8C4D-E9F15CB99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33B3FC5-8921-D75A-4C83-87818C366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CBB9DA-0C6A-1205-BAFB-5BE25154D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D7D9D4-EF1E-4C2E-9DBA-ADFF91DD6475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067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m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tângulo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orma liv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orma Liv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tângulo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orma liv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orma liv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orma liv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orma liv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orma liv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orma liv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orma liv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orma liv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orma liv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orma liv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orma liv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orma liv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orma liv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orma liv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orma liv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orma liv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orma liv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orma liv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orma liv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orma liv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orma liv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orma liv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orma liv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orma liv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tângulo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orma liv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orma liv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orma liv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orma liv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orma liv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orma liv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orma liv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orma liv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orma liv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orma liv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orma liv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tângulo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orma liv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orma liv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orma liv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orma liv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orma liv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orma liv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orma liv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orma liv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orma liv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orma liv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orma liv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orma liv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orma liv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A36D024B-6521-43EE-B75B-026EF60BA7AA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C596BE-B23C-4E59-BC1A-9483DC8394B5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D7BE37-C264-483A-9871-139F2D8C2CAC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BF9FE5-D85B-40F6-BDA0-C55FD244BAE0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 rtl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1AF743-7AA7-4A27-A8F7-F31693243353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1EAB95-A7A3-4242-8365-938AB69D927B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E8544A-C266-48C9-A6C9-13B162D21F47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F205157-E6F1-45B4-B896-DE2A344F09C6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1F8E9B-B567-4425-A671-20F07253D543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D46644-0C8C-4B2E-8369-CCEA0EB26CA8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5BEA7F-1AFB-49DD-A3F1-64E1620E51B2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A47D19-B5A2-4A09-8BCF-61189AC8F394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60" name="Caixa de texto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61" name="Caixa de texto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9D303F-115C-4AB0-BF64-F84AF60E4332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9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196294-876E-45EB-8002-578B34D9D72B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image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9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0" name="Espaço reservado para imagem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21" name="Espaço Reservado para Texto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2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Editar estilos de texto Mestre</a:t>
            </a:r>
          </a:p>
        </p:txBody>
      </p:sp>
      <p:sp>
        <p:nvSpPr>
          <p:cNvPr id="23" name="Espaço Reservado para Imagem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24" name="Espaço Reservado para Texto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 rtl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dirty="0"/>
              <a:t>Editar estilos de texto Mestre</a:t>
            </a:r>
          </a:p>
        </p:txBody>
      </p:sp>
      <p:sp>
        <p:nvSpPr>
          <p:cNvPr id="26" name="Espaço Reservado para Imagem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pt-BR" noProof="0"/>
              <a:t>Clique no ícone para adicionar uma imagem</a:t>
            </a:r>
          </a:p>
        </p:txBody>
      </p:sp>
      <p:sp>
        <p:nvSpPr>
          <p:cNvPr id="27" name="Espaço Reservado para Texto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48C094-59C3-4D57-80C2-C16021DBB375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E65B06-1465-42AE-BF94-C0F0F1ABA3D0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04C83B-3B65-45AF-99D0-468CEDD0DC72}" type="datetime1">
              <a:rPr lang="pt-BR" noProof="0" smtClean="0"/>
              <a:t>19/08/2025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o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upo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tângulo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orma liv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orma Liv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orma liv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orma Liv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orma liv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orma liv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orma liv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orma liv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orma liv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orma liv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ha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orma liv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orma liv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orma liv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orma liv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tângulo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orma liv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orma liv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orma liv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orma liv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orma liv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orma liv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orma liv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orma liv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orma liv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orma liv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upo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a liv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orma liv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orma liv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orma liv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orma liv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orma liv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orma liv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orma liv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orma liv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tângulo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pt-BR" noProof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Editar estilos de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B1C55FA-99E2-4221-8083-01517F2C3AC3}" type="datetime1">
              <a:rPr lang="pt-BR" noProof="0" smtClean="0"/>
              <a:t>19/08/2025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769" y="2951163"/>
            <a:ext cx="10329431" cy="2387600"/>
          </a:xfrm>
        </p:spPr>
        <p:txBody>
          <a:bodyPr rtlCol="0">
            <a:normAutofit fontScale="90000"/>
          </a:bodyPr>
          <a:lstStyle/>
          <a:p>
            <a:pPr algn="ctr"/>
            <a:r>
              <a:rPr lang="pt-BR" sz="5400" b="1" dirty="0">
                <a:latin typeface="Arial Black" panose="020B0A04020102020204" pitchFamily="34" charset="0"/>
                <a:cs typeface="Arial" panose="020B0604020202020204" pitchFamily="34" charset="0"/>
              </a:rPr>
              <a:t>Importância da Chave Primária e Chave Estrangeira no Modelo Relacional</a:t>
            </a:r>
            <a:br>
              <a:rPr lang="pt-BR" sz="5400" b="1" dirty="0"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pt-BR" sz="5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C6C7F59D-8F53-B419-6DF1-C74F2E5B94AA}"/>
              </a:ext>
            </a:extLst>
          </p:cNvPr>
          <p:cNvSpPr txBox="1"/>
          <p:nvPr/>
        </p:nvSpPr>
        <p:spPr>
          <a:xfrm>
            <a:off x="858982" y="1009656"/>
            <a:ext cx="113330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Objetivos da Aula</a:t>
            </a:r>
          </a:p>
          <a:p>
            <a:pPr>
              <a:buNone/>
            </a:pPr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Compreender o papel das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chaves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no modelo relacional.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Entender como 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Chave Primária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garante 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unicidade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dos registros.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Identificar como 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Chave Estrangeira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cria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relacionamentos entre tabelas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Aplicar esses conceitos em exemplos práticos.</a:t>
            </a:r>
          </a:p>
        </p:txBody>
      </p:sp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084BA-F80E-B106-DC42-44E23F96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5CFBC98-B446-45F7-ADC0-7EC468123426}"/>
              </a:ext>
            </a:extLst>
          </p:cNvPr>
          <p:cNvSpPr txBox="1"/>
          <p:nvPr/>
        </p:nvSpPr>
        <p:spPr>
          <a:xfrm>
            <a:off x="720437" y="1439147"/>
            <a:ext cx="1133301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Revisão: Estrutura de uma Tabela</a:t>
            </a:r>
          </a:p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Atributos: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Colunas que definem as propriedades (Ex.: Nome, Curso, Matrícula).</a:t>
            </a:r>
          </a:p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Tuplas: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Linhas (registros) que representam instâncias reais de dados.</a:t>
            </a:r>
          </a:p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Domínios: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Conjunto de valores possíveis para cada atributo.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📌 </a:t>
            </a:r>
            <a:r>
              <a:rPr lang="pt-BR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Problema: Como garantir que cada registro seja único e como relacionar dados entre tabelas?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➡️ Solução: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Chaves (PK e FK).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00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0DD05-4512-C883-0B8E-01561AA47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17943FE6-EB72-60A3-780E-F84ACC46C42C}"/>
              </a:ext>
            </a:extLst>
          </p:cNvPr>
          <p:cNvSpPr txBox="1"/>
          <p:nvPr/>
        </p:nvSpPr>
        <p:spPr>
          <a:xfrm>
            <a:off x="858982" y="566678"/>
            <a:ext cx="113330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Chave Primária (Primary Key – PK)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É um atributo (ou conjunto de atributos) que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identifica unicamente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cada tupla.</a:t>
            </a:r>
          </a:p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Regras: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Valor único (não pode se repetir).</a:t>
            </a:r>
          </a:p>
          <a:p>
            <a:pPr lvl="1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Não pode ser nulo (NULL).</a:t>
            </a:r>
          </a:p>
          <a:p>
            <a:pPr lvl="1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</a:p>
          <a:p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F1A11EC-66FF-D362-A14D-E3103EAEB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900" y="3139413"/>
            <a:ext cx="8287692" cy="262580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82D3906-435B-C3FF-9688-E7013429AB6C}"/>
              </a:ext>
            </a:extLst>
          </p:cNvPr>
          <p:cNvSpPr txBox="1"/>
          <p:nvPr/>
        </p:nvSpPr>
        <p:spPr>
          <a:xfrm>
            <a:off x="2447059" y="6072733"/>
            <a:ext cx="97449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ID_Aluno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é a PK → identifica cada aluno de forma única.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CA43CFD-53DF-F6B6-73B1-F84D67C15BA9}"/>
              </a:ext>
            </a:extLst>
          </p:cNvPr>
          <p:cNvCxnSpPr>
            <a:cxnSpLocks/>
          </p:cNvCxnSpPr>
          <p:nvPr/>
        </p:nvCxnSpPr>
        <p:spPr>
          <a:xfrm flipV="1">
            <a:off x="3006437" y="4452314"/>
            <a:ext cx="0" cy="1686975"/>
          </a:xfrm>
          <a:prstGeom prst="straightConnector1">
            <a:avLst/>
          </a:prstGeom>
          <a:ln w="762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44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8AC18-1AFA-F3E2-14DE-AB24252C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C75DE260-0C39-233F-7910-183DAD037C9C}"/>
              </a:ext>
            </a:extLst>
          </p:cNvPr>
          <p:cNvSpPr txBox="1"/>
          <p:nvPr/>
        </p:nvSpPr>
        <p:spPr>
          <a:xfrm>
            <a:off x="1787326" y="386570"/>
            <a:ext cx="861734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Chave Estrangeira (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Foreign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Key – FK)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É um atributo que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referencia a PK de outra tabela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Garante 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integridade referencial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entre tabelas.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</a:p>
          <a:p>
            <a:endParaRPr lang="pt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00869A-1727-61BF-6473-8C3FD50E3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543" y="2302629"/>
            <a:ext cx="5943422" cy="355669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8892-7C02-8337-6AD5-05E3B81E58F4}"/>
              </a:ext>
            </a:extLst>
          </p:cNvPr>
          <p:cNvSpPr txBox="1"/>
          <p:nvPr/>
        </p:nvSpPr>
        <p:spPr>
          <a:xfrm>
            <a:off x="2784853" y="6134456"/>
            <a:ext cx="9407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ID_Curso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(FK)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conecta a tabela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ALUNO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à tabela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CURSO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9C8E05E-46FF-AEA0-E1DC-DC35E39B4B8B}"/>
              </a:ext>
            </a:extLst>
          </p:cNvPr>
          <p:cNvCxnSpPr>
            <a:cxnSpLocks/>
          </p:cNvCxnSpPr>
          <p:nvPr/>
        </p:nvCxnSpPr>
        <p:spPr>
          <a:xfrm flipV="1">
            <a:off x="6705601" y="4876800"/>
            <a:ext cx="0" cy="1132965"/>
          </a:xfrm>
          <a:prstGeom prst="straightConnector1">
            <a:avLst/>
          </a:prstGeom>
          <a:ln w="762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26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DAEB-7689-40E2-E77C-C8432CA6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7F8865A-004F-3C4F-466A-C8852BDABDB6}"/>
              </a:ext>
            </a:extLst>
          </p:cNvPr>
          <p:cNvSpPr txBox="1"/>
          <p:nvPr/>
        </p:nvSpPr>
        <p:spPr>
          <a:xfrm>
            <a:off x="2123210" y="1166842"/>
            <a:ext cx="840624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Importância das Chaves</a:t>
            </a:r>
          </a:p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Chave Primária (PK):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Evita duplicidade de registros.</a:t>
            </a:r>
          </a:p>
          <a:p>
            <a:pPr lvl="1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Identifica unicamente cada tupla.</a:t>
            </a:r>
          </a:p>
          <a:p>
            <a:pPr lvl="1"/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Chave Estrangeira (FK):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Conecta tabelas diferentes.</a:t>
            </a:r>
          </a:p>
          <a:p>
            <a:pPr lvl="1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Mantém consistência (não existe aluno em um curso que não foi cadastrado).</a:t>
            </a:r>
          </a:p>
          <a:p>
            <a:pPr lvl="1"/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90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232F0-3A2F-A9EB-3FC4-DECA3E9D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2BF3EBE-5B75-64E7-FB34-411E0EAD32A4}"/>
              </a:ext>
            </a:extLst>
          </p:cNvPr>
          <p:cNvSpPr txBox="1"/>
          <p:nvPr/>
        </p:nvSpPr>
        <p:spPr>
          <a:xfrm>
            <a:off x="928255" y="1443841"/>
            <a:ext cx="110697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RESUMO</a:t>
            </a:r>
          </a:p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PK: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garante unicidade → identifica cada registro.</a:t>
            </a:r>
          </a:p>
          <a:p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FK: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 conecta tabelas → garante integridade relacional.</a:t>
            </a:r>
          </a:p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Juntas, mantêm o 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modelo relacional organizado, consistente e sem redundâncias indevidas</a:t>
            </a:r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05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E96B6-511A-8E4E-8169-D1F2E6D0E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D4F48E8-5F99-3E91-3B8E-1CABFE07F97A}"/>
              </a:ext>
            </a:extLst>
          </p:cNvPr>
          <p:cNvSpPr txBox="1"/>
          <p:nvPr/>
        </p:nvSpPr>
        <p:spPr>
          <a:xfrm>
            <a:off x="798908" y="1114908"/>
            <a:ext cx="1106978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Questão 1 (Conceitual - Objetiva)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O que é uma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chave primária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em uma tabela de banco de dados relacional?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DF31B80-2F9D-ADD6-2662-F63C8F62BEFE}"/>
              </a:ext>
            </a:extLst>
          </p:cNvPr>
          <p:cNvSpPr txBox="1"/>
          <p:nvPr/>
        </p:nvSpPr>
        <p:spPr>
          <a:xfrm>
            <a:off x="3023754" y="473425"/>
            <a:ext cx="39502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QUIZ – QUICKLY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14F43B-D6F6-B440-66C8-8404820D5B58}"/>
              </a:ext>
            </a:extLst>
          </p:cNvPr>
          <p:cNvSpPr txBox="1"/>
          <p:nvPr/>
        </p:nvSpPr>
        <p:spPr>
          <a:xfrm>
            <a:off x="710301" y="4419179"/>
            <a:ext cx="11099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d) Um campo opcional que pode ser usado como índice secundário.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0768231-1AD6-78AA-D186-3FFB58EE1565}"/>
              </a:ext>
            </a:extLst>
          </p:cNvPr>
          <p:cNvSpPr txBox="1"/>
          <p:nvPr/>
        </p:nvSpPr>
        <p:spPr>
          <a:xfrm>
            <a:off x="710301" y="3024139"/>
            <a:ext cx="120094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b) Um campo que identifica de forma única cada linha (tupla) da tabela.</a:t>
            </a:r>
            <a:b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2233A36-072B-9813-817B-F4ADC48A704D}"/>
              </a:ext>
            </a:extLst>
          </p:cNvPr>
          <p:cNvSpPr txBox="1"/>
          <p:nvPr/>
        </p:nvSpPr>
        <p:spPr>
          <a:xfrm>
            <a:off x="710301" y="2505089"/>
            <a:ext cx="10307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a) Um campo que permite valores repetidos e nulos.</a:t>
            </a:r>
            <a:endParaRPr lang="pt-BR" sz="28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BA2BB2D-9C4E-2BE7-43F3-7414A04F3D8F}"/>
              </a:ext>
            </a:extLst>
          </p:cNvPr>
          <p:cNvSpPr txBox="1"/>
          <p:nvPr/>
        </p:nvSpPr>
        <p:spPr>
          <a:xfrm>
            <a:off x="710301" y="3501192"/>
            <a:ext cx="109312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c) Um campo usado apenas para criar relações entre tabelas diferentes.</a:t>
            </a:r>
            <a:endParaRPr lang="pt-BR" sz="28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7DCFD17-4DD6-0AF6-4284-E96AC98513A3}"/>
              </a:ext>
            </a:extLst>
          </p:cNvPr>
          <p:cNvSpPr txBox="1"/>
          <p:nvPr/>
        </p:nvSpPr>
        <p:spPr>
          <a:xfrm>
            <a:off x="603115" y="5266038"/>
            <a:ext cx="11461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Resposta: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b) Um campo que identifica de forma única cada linha (tupla) da tabela.</a:t>
            </a:r>
          </a:p>
        </p:txBody>
      </p:sp>
    </p:spTree>
    <p:extLst>
      <p:ext uri="{BB962C8B-B14F-4D97-AF65-F5344CB8AC3E}">
        <p14:creationId xmlns:p14="http://schemas.microsoft.com/office/powerpoint/2010/main" val="61749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E5E54-8DC5-A706-8F95-870BB0EA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A7A69BD-3DDE-0E3F-75C5-4DAAA5D19941}"/>
              </a:ext>
            </a:extLst>
          </p:cNvPr>
          <p:cNvSpPr txBox="1"/>
          <p:nvPr/>
        </p:nvSpPr>
        <p:spPr>
          <a:xfrm>
            <a:off x="798908" y="1114908"/>
            <a:ext cx="1106978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Questão 1 (Conceitual - Objetiva)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O que é uma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chave primária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em uma tabela de banco de dados relacional?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6125B5F-1E2E-B557-FDEE-36907D32CC39}"/>
              </a:ext>
            </a:extLst>
          </p:cNvPr>
          <p:cNvSpPr txBox="1"/>
          <p:nvPr/>
        </p:nvSpPr>
        <p:spPr>
          <a:xfrm>
            <a:off x="3023754" y="473425"/>
            <a:ext cx="39502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QUIZ – QUICKLY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553F8F-884B-107D-1BF5-E1EA1676F6CD}"/>
              </a:ext>
            </a:extLst>
          </p:cNvPr>
          <p:cNvSpPr txBox="1"/>
          <p:nvPr/>
        </p:nvSpPr>
        <p:spPr>
          <a:xfrm>
            <a:off x="710301" y="4419179"/>
            <a:ext cx="11099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d) Um campo opcional que pode ser usado como índice secundário.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78B1978-DDF9-45F5-1F24-A165AB7A3499}"/>
              </a:ext>
            </a:extLst>
          </p:cNvPr>
          <p:cNvSpPr txBox="1"/>
          <p:nvPr/>
        </p:nvSpPr>
        <p:spPr>
          <a:xfrm>
            <a:off x="710301" y="3024139"/>
            <a:ext cx="120094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b) Um campo que identifica de forma única cada linha (tupla) da tabela.</a:t>
            </a:r>
            <a:b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A8C2B5A-8FCC-2E98-4DD5-46FC2EB2B6D5}"/>
              </a:ext>
            </a:extLst>
          </p:cNvPr>
          <p:cNvSpPr txBox="1"/>
          <p:nvPr/>
        </p:nvSpPr>
        <p:spPr>
          <a:xfrm>
            <a:off x="710301" y="2505089"/>
            <a:ext cx="10307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a) Um campo que permite valores repetidos e nulos.</a:t>
            </a:r>
            <a:endParaRPr lang="pt-BR" sz="28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5614004-D406-F53F-A9D1-F075275F59B4}"/>
              </a:ext>
            </a:extLst>
          </p:cNvPr>
          <p:cNvSpPr txBox="1"/>
          <p:nvPr/>
        </p:nvSpPr>
        <p:spPr>
          <a:xfrm>
            <a:off x="710301" y="3501192"/>
            <a:ext cx="109312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c) Um campo usado apenas para criar relações entre tabelas diferentes.</a:t>
            </a:r>
            <a:endParaRPr lang="pt-BR" sz="280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05C76BA-882B-311C-9937-D605ADF2297B}"/>
              </a:ext>
            </a:extLst>
          </p:cNvPr>
          <p:cNvSpPr txBox="1"/>
          <p:nvPr/>
        </p:nvSpPr>
        <p:spPr>
          <a:xfrm>
            <a:off x="603115" y="5266038"/>
            <a:ext cx="11461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Resposta: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b) Um campo que identifica de forma única cada linha (tupla) da tabela.</a:t>
            </a:r>
          </a:p>
        </p:txBody>
      </p:sp>
    </p:spTree>
    <p:extLst>
      <p:ext uri="{BB962C8B-B14F-4D97-AF65-F5344CB8AC3E}">
        <p14:creationId xmlns:p14="http://schemas.microsoft.com/office/powerpoint/2010/main" val="268960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1440-84CD-D477-E4AB-2AF7CE96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A867572-5E0C-8EE1-D9D8-0410BF8376DC}"/>
              </a:ext>
            </a:extLst>
          </p:cNvPr>
          <p:cNvSpPr txBox="1"/>
          <p:nvPr/>
        </p:nvSpPr>
        <p:spPr>
          <a:xfrm>
            <a:off x="955964" y="1734787"/>
            <a:ext cx="110697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Crie duas tabelas simples:</a:t>
            </a:r>
          </a:p>
          <a:p>
            <a:pPr lvl="1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PROFESSOR(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ID_Prof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, Nome, Disciplina)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TURMA(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ID_Turma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Nome_Turma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ID_Prof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Defina 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Chave Primária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de cada tabela.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Indique 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Chave Estrangeira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e explique como ela conecta as tabelas.</a:t>
            </a:r>
          </a:p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Explique a importância da integridade referencial nesse contexto.</a:t>
            </a:r>
          </a:p>
          <a:p>
            <a:pPr lvl="1"/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FD0034F-15BA-4E9E-D5AE-2AC2569EB24B}"/>
              </a:ext>
            </a:extLst>
          </p:cNvPr>
          <p:cNvSpPr txBox="1"/>
          <p:nvPr/>
        </p:nvSpPr>
        <p:spPr>
          <a:xfrm>
            <a:off x="3023753" y="473425"/>
            <a:ext cx="64943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ATIVIDADE PROPOSTA</a:t>
            </a:r>
          </a:p>
        </p:txBody>
      </p:sp>
    </p:spTree>
    <p:extLst>
      <p:ext uri="{BB962C8B-B14F-4D97-AF65-F5344CB8AC3E}">
        <p14:creationId xmlns:p14="http://schemas.microsoft.com/office/powerpoint/2010/main" val="115464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54F7D-58FC-9363-51C6-80FE8DEF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8E6F044-A59B-88A7-CF02-37E536906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28" y="1565564"/>
            <a:ext cx="10941507" cy="42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922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1_TF77815013" id="{E30E2F6C-5D44-4D3E-8213-EDE611CF4B2F}" vid="{3526DC68-6CC1-492C-872A-53A0297BCE9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Ciclo de solução de problemas </Template>
  <TotalTime>104</TotalTime>
  <Words>565</Words>
  <Application>Microsoft Office PowerPoint</Application>
  <PresentationFormat>Widescreen</PresentationFormat>
  <Paragraphs>75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Tw Cen MT</vt:lpstr>
      <vt:lpstr>Circuito</vt:lpstr>
      <vt:lpstr>Importância da Chave Primária e Chave Estrangeira no Modelo Relacional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 0459</dc:creator>
  <cp:lastModifiedBy>DANIEL JOSE DE OLIVEIRA DINIZ</cp:lastModifiedBy>
  <cp:revision>7</cp:revision>
  <dcterms:created xsi:type="dcterms:W3CDTF">2025-08-19T12:53:01Z</dcterms:created>
  <dcterms:modified xsi:type="dcterms:W3CDTF">2025-08-20T00:51:26Z</dcterms:modified>
</cp:coreProperties>
</file>