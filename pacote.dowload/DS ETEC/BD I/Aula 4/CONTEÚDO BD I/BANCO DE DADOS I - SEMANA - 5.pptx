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6C98A-D261-4C97-BE4C-62048ED45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44283"/>
            <a:ext cx="10647578" cy="3329581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Tipos de Domínios no Modelo Relacional</a:t>
            </a:r>
            <a:r>
              <a:rPr lang="pt-BR" sz="2400" dirty="0">
                <a:latin typeface="Arial Black" panose="020B0A04020102020204" pitchFamily="34" charset="0"/>
              </a:rPr>
              <a:t>(</a:t>
            </a:r>
            <a:r>
              <a:rPr lang="pt-BR" sz="2000" i="1" dirty="0">
                <a:latin typeface="Arial Black" panose="020B0A04020102020204" pitchFamily="34" charset="0"/>
              </a:rPr>
              <a:t>Conceitos)</a:t>
            </a:r>
            <a:r>
              <a:rPr lang="pt-BR" dirty="0">
                <a:latin typeface="Arial Black" panose="020B0A04020102020204" pitchFamily="34" charset="0"/>
              </a:rPr>
              <a:t>     </a:t>
            </a:r>
            <a:r>
              <a:rPr lang="pt-BR" sz="3200" i="1" dirty="0">
                <a:latin typeface="Arial Black" panose="020B0A04020102020204" pitchFamily="34" charset="0"/>
              </a:rPr>
              <a:t>Parte 1</a:t>
            </a:r>
            <a:endParaRPr lang="pt-BR" i="1" dirty="0"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E85101-6CFB-42DC-8E06-32AC5EC946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Banco de Dados I</a:t>
            </a:r>
          </a:p>
        </p:txBody>
      </p:sp>
    </p:spTree>
    <p:extLst>
      <p:ext uri="{BB962C8B-B14F-4D97-AF65-F5344CB8AC3E}">
        <p14:creationId xmlns:p14="http://schemas.microsoft.com/office/powerpoint/2010/main" val="37956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4327C94-5E6B-4E4A-9352-16E48DCEC4C8}"/>
              </a:ext>
            </a:extLst>
          </p:cNvPr>
          <p:cNvSpPr txBox="1"/>
          <p:nvPr/>
        </p:nvSpPr>
        <p:spPr>
          <a:xfrm>
            <a:off x="685799" y="3883504"/>
            <a:ext cx="10405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Assim, os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tipos de domínios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são fundamentais para garantir a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consistência e a integridade dos dados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2000" y="416467"/>
            <a:ext cx="358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A802C44-3C3B-436A-9FE5-21A8A0404C91}"/>
              </a:ext>
            </a:extLst>
          </p:cNvPr>
          <p:cNvSpPr txBox="1"/>
          <p:nvPr/>
        </p:nvSpPr>
        <p:spPr>
          <a:xfrm>
            <a:off x="685799" y="1417935"/>
            <a:ext cx="10058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cada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atributo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(coluna) de uma tabela precisa estar associado a um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domínio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4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2EA45DD-B070-4493-A0CE-9E3525B41C0C}"/>
              </a:ext>
            </a:extLst>
          </p:cNvPr>
          <p:cNvSpPr txBox="1"/>
          <p:nvPr/>
        </p:nvSpPr>
        <p:spPr>
          <a:xfrm>
            <a:off x="668868" y="2618264"/>
            <a:ext cx="1056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domínio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define o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tipo de valor permitido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para aquele atributo e pode incluir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restrições adicionais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(intervalos, formatos, listas de valores).</a:t>
            </a:r>
          </a:p>
        </p:txBody>
      </p:sp>
    </p:spTree>
    <p:extLst>
      <p:ext uri="{BB962C8B-B14F-4D97-AF65-F5344CB8AC3E}">
        <p14:creationId xmlns:p14="http://schemas.microsoft.com/office/powerpoint/2010/main" val="3037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02733" y="331800"/>
            <a:ext cx="358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1. Revisão Rápida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6D08E0-E14A-4AF9-A1FE-48CB7008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2" y="1018394"/>
            <a:ext cx="6739467" cy="202739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27E688D-50E5-44C3-A6BF-16D0773ED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3" y="3234774"/>
            <a:ext cx="3505689" cy="14384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8282DE0-9EAE-4131-92A0-9C2893FE7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32" y="4917034"/>
            <a:ext cx="3486637" cy="1819529"/>
          </a:xfrm>
          <a:prstGeom prst="rect">
            <a:avLst/>
          </a:prstGeom>
        </p:spPr>
      </p:pic>
      <p:sp>
        <p:nvSpPr>
          <p:cNvPr id="8" name="Chave Direita 7">
            <a:extLst>
              <a:ext uri="{FF2B5EF4-FFF2-40B4-BE49-F238E27FC236}">
                <a16:creationId xmlns:a16="http://schemas.microsoft.com/office/drawing/2014/main" id="{3AB4D91C-3139-40BF-9586-376795911D49}"/>
              </a:ext>
            </a:extLst>
          </p:cNvPr>
          <p:cNvSpPr/>
          <p:nvPr/>
        </p:nvSpPr>
        <p:spPr>
          <a:xfrm>
            <a:off x="7577667" y="1018394"/>
            <a:ext cx="770466" cy="2027394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have Direita 13">
            <a:extLst>
              <a:ext uri="{FF2B5EF4-FFF2-40B4-BE49-F238E27FC236}">
                <a16:creationId xmlns:a16="http://schemas.microsoft.com/office/drawing/2014/main" id="{BB081FFE-2FE6-4D2D-A987-1BBCFAC0C6F7}"/>
              </a:ext>
            </a:extLst>
          </p:cNvPr>
          <p:cNvSpPr/>
          <p:nvPr/>
        </p:nvSpPr>
        <p:spPr>
          <a:xfrm>
            <a:off x="4360334" y="3262173"/>
            <a:ext cx="321733" cy="1438477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have Direita 15">
            <a:extLst>
              <a:ext uri="{FF2B5EF4-FFF2-40B4-BE49-F238E27FC236}">
                <a16:creationId xmlns:a16="http://schemas.microsoft.com/office/drawing/2014/main" id="{5C1FB778-BBA9-4969-A454-FE094FD57135}"/>
              </a:ext>
            </a:extLst>
          </p:cNvPr>
          <p:cNvSpPr/>
          <p:nvPr/>
        </p:nvSpPr>
        <p:spPr>
          <a:xfrm>
            <a:off x="4330944" y="4917033"/>
            <a:ext cx="380511" cy="1819529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2E49F00-ACC6-4565-8DCA-231FB6E1FC5D}"/>
              </a:ext>
            </a:extLst>
          </p:cNvPr>
          <p:cNvSpPr txBox="1"/>
          <p:nvPr/>
        </p:nvSpPr>
        <p:spPr>
          <a:xfrm>
            <a:off x="8483601" y="1608758"/>
            <a:ext cx="3276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Tuplas</a:t>
            </a:r>
            <a:r>
              <a:rPr lang="pt-BR" sz="2800" b="1" i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(linhas ou registros)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B5C3BA-3081-492A-B8DA-03052570D0C7}"/>
              </a:ext>
            </a:extLst>
          </p:cNvPr>
          <p:cNvSpPr txBox="1"/>
          <p:nvPr/>
        </p:nvSpPr>
        <p:spPr>
          <a:xfrm>
            <a:off x="4833979" y="3692402"/>
            <a:ext cx="3446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Atributos(Colunas)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1AA4E4A-559A-4E38-8EA4-C53F7BC4CC33}"/>
              </a:ext>
            </a:extLst>
          </p:cNvPr>
          <p:cNvSpPr txBox="1"/>
          <p:nvPr/>
        </p:nvSpPr>
        <p:spPr>
          <a:xfrm>
            <a:off x="4901712" y="5453468"/>
            <a:ext cx="1964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Domínios</a:t>
            </a:r>
          </a:p>
        </p:txBody>
      </p:sp>
    </p:spTree>
    <p:extLst>
      <p:ext uri="{BB962C8B-B14F-4D97-AF65-F5344CB8AC3E}">
        <p14:creationId xmlns:p14="http://schemas.microsoft.com/office/powerpoint/2010/main" val="345132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animBg="1"/>
      <p:bldP spid="14" grpId="0" animBg="1"/>
      <p:bldP spid="16" grpId="0" animBg="1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6900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26C958-63FA-449B-B49E-AC3F26D5D019}"/>
              </a:ext>
            </a:extLst>
          </p:cNvPr>
          <p:cNvSpPr txBox="1"/>
          <p:nvPr/>
        </p:nvSpPr>
        <p:spPr>
          <a:xfrm>
            <a:off x="651933" y="1364733"/>
            <a:ext cx="2252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Numéricos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06D7387-6C49-476B-9624-A53B5E3BA5B7}"/>
              </a:ext>
            </a:extLst>
          </p:cNvPr>
          <p:cNvSpPr txBox="1"/>
          <p:nvPr/>
        </p:nvSpPr>
        <p:spPr>
          <a:xfrm>
            <a:off x="651933" y="1914436"/>
            <a:ext cx="81703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Permitem apenas números, podendo ser: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Inteiros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→ sem casas decimais.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Reais/Decimais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→ com casas decimais.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9DFC72A-1735-4D6C-81AF-3F82DEC5037E}"/>
              </a:ext>
            </a:extLst>
          </p:cNvPr>
          <p:cNvSpPr txBox="1"/>
          <p:nvPr/>
        </p:nvSpPr>
        <p:spPr>
          <a:xfrm>
            <a:off x="651933" y="322133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Idade: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valores inteiros de 0 a 120.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Preço: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valores decimais maiores que 0.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8EB1843B-E914-4BAB-9956-45410384A783}"/>
              </a:ext>
            </a:extLst>
          </p:cNvPr>
          <p:cNvGrpSpPr/>
          <p:nvPr/>
        </p:nvGrpSpPr>
        <p:grpSpPr>
          <a:xfrm>
            <a:off x="4648200" y="3729165"/>
            <a:ext cx="3386667" cy="961368"/>
            <a:chOff x="4648200" y="3729165"/>
            <a:chExt cx="3386667" cy="96136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D05EBA94-B035-4C11-BDCF-4166683CC730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729165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5268F7A3-A765-4227-8430-FFD8588C9FE0}"/>
                </a:ext>
              </a:extLst>
            </p:cNvPr>
            <p:cNvCxnSpPr/>
            <p:nvPr/>
          </p:nvCxnSpPr>
          <p:spPr>
            <a:xfrm>
              <a:off x="8034867" y="3729165"/>
              <a:ext cx="0" cy="9613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A83100D6-DB27-4283-8E3D-C567D821D3D7}"/>
              </a:ext>
            </a:extLst>
          </p:cNvPr>
          <p:cNvGrpSpPr/>
          <p:nvPr/>
        </p:nvGrpSpPr>
        <p:grpSpPr>
          <a:xfrm>
            <a:off x="5253566" y="4042431"/>
            <a:ext cx="4821765" cy="648102"/>
            <a:chOff x="5253566" y="4042431"/>
            <a:chExt cx="4821765" cy="648102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BDBB03E4-DCBD-466A-89ED-7E1F91355429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66" y="4042431"/>
              <a:ext cx="4817533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034CE668-2145-45A6-BCCC-90F6C488C8EF}"/>
                </a:ext>
              </a:extLst>
            </p:cNvPr>
            <p:cNvCxnSpPr>
              <a:cxnSpLocks/>
            </p:cNvCxnSpPr>
            <p:nvPr/>
          </p:nvCxnSpPr>
          <p:spPr>
            <a:xfrm>
              <a:off x="10071099" y="4042431"/>
              <a:ext cx="4232" cy="64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33" name="Imagem 32">
            <a:extLst>
              <a:ext uri="{FF2B5EF4-FFF2-40B4-BE49-F238E27FC236}">
                <a16:creationId xmlns:a16="http://schemas.microsoft.com/office/drawing/2014/main" id="{3F5E2774-0C28-4676-BC63-776657B8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743" y="4772965"/>
            <a:ext cx="3845051" cy="126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8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6900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06D7387-6C49-476B-9624-A53B5E3BA5B7}"/>
              </a:ext>
            </a:extLst>
          </p:cNvPr>
          <p:cNvSpPr txBox="1"/>
          <p:nvPr/>
        </p:nvSpPr>
        <p:spPr>
          <a:xfrm>
            <a:off x="651933" y="1914435"/>
            <a:ext cx="9440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Aceitam letras, números e caracteres especiais.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Definidos por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tamanho máximo.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6BE8253-0FC4-43DF-98C4-8B3274B26FC6}"/>
              </a:ext>
            </a:extLst>
          </p:cNvPr>
          <p:cNvSpPr txBox="1"/>
          <p:nvPr/>
        </p:nvSpPr>
        <p:spPr>
          <a:xfrm>
            <a:off x="761999" y="1242395"/>
            <a:ext cx="3429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Alfanuméricos (Texto)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4F86D33-D27B-4769-9550-24CFB14E7F42}"/>
              </a:ext>
            </a:extLst>
          </p:cNvPr>
          <p:cNvSpPr txBox="1"/>
          <p:nvPr/>
        </p:nvSpPr>
        <p:spPr>
          <a:xfrm>
            <a:off x="651933" y="27218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Nome: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até 100 caracteres.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texto com 11 dígitos formatados ("000.000.000-00").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1732FA5-91F2-43C9-8D59-7F74BCE74EC1}"/>
              </a:ext>
            </a:extLst>
          </p:cNvPr>
          <p:cNvGrpSpPr/>
          <p:nvPr/>
        </p:nvGrpSpPr>
        <p:grpSpPr>
          <a:xfrm>
            <a:off x="3547535" y="3183466"/>
            <a:ext cx="3245619" cy="1439334"/>
            <a:chOff x="3406487" y="3183466"/>
            <a:chExt cx="3386667" cy="1439334"/>
          </a:xfrm>
        </p:grpSpPr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43205268-3AE0-4349-989B-BB185915A955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CB879E5F-6875-4D67-A271-C5D28C9FBA5A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A07E1FE-0847-4E26-86E8-06A670DFEC2D}"/>
              </a:ext>
            </a:extLst>
          </p:cNvPr>
          <p:cNvGrpSpPr/>
          <p:nvPr/>
        </p:nvGrpSpPr>
        <p:grpSpPr>
          <a:xfrm>
            <a:off x="6623821" y="3429000"/>
            <a:ext cx="2774179" cy="1193800"/>
            <a:chOff x="6623821" y="3429000"/>
            <a:chExt cx="2774179" cy="1193800"/>
          </a:xfrm>
        </p:grpSpPr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5C2C360E-92AD-4049-8D85-0F41426ACB69}"/>
                </a:ext>
              </a:extLst>
            </p:cNvPr>
            <p:cNvCxnSpPr>
              <a:cxnSpLocks/>
            </p:cNvCxnSpPr>
            <p:nvPr/>
          </p:nvCxnSpPr>
          <p:spPr>
            <a:xfrm>
              <a:off x="6623821" y="3429000"/>
              <a:ext cx="2774179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13173A10-2C48-46D0-A709-F5C8D22536EB}"/>
                </a:ext>
              </a:extLst>
            </p:cNvPr>
            <p:cNvCxnSpPr>
              <a:cxnSpLocks/>
            </p:cNvCxnSpPr>
            <p:nvPr/>
          </p:nvCxnSpPr>
          <p:spPr>
            <a:xfrm>
              <a:off x="9398000" y="3429000"/>
              <a:ext cx="0" cy="11938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062274CC-ACFD-4F7D-B3F0-DC84C13E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132" y="4825425"/>
            <a:ext cx="6460065" cy="123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0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6900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0293785-510E-4E82-A8F4-8FB31D35AE1B}"/>
              </a:ext>
            </a:extLst>
          </p:cNvPr>
          <p:cNvSpPr txBox="1"/>
          <p:nvPr/>
        </p:nvSpPr>
        <p:spPr>
          <a:xfrm>
            <a:off x="1020232" y="2420878"/>
            <a:ext cx="84920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Data de nascimento: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formato  DD-MM-YYYY (ex.: 12-05-2000).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Hora de entrada: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08:30.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C9447A-D206-4054-80F3-4204650219A2}"/>
              </a:ext>
            </a:extLst>
          </p:cNvPr>
          <p:cNvSpPr txBox="1"/>
          <p:nvPr/>
        </p:nvSpPr>
        <p:spPr>
          <a:xfrm>
            <a:off x="567269" y="1246313"/>
            <a:ext cx="217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Datas e Horas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EC86DB-19A0-4A97-9E9D-17DDF33BBCDD}"/>
              </a:ext>
            </a:extLst>
          </p:cNvPr>
          <p:cNvSpPr txBox="1"/>
          <p:nvPr/>
        </p:nvSpPr>
        <p:spPr>
          <a:xfrm>
            <a:off x="1020232" y="19909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Aceitam valores de data, hora ou ambos.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3EF3B9C-A072-416B-8370-02AAD369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333" y="4613732"/>
            <a:ext cx="7068311" cy="1078710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53D6E29-3B52-4CB2-AEFC-2679D1F66DDA}"/>
              </a:ext>
            </a:extLst>
          </p:cNvPr>
          <p:cNvGrpSpPr/>
          <p:nvPr/>
        </p:nvGrpSpPr>
        <p:grpSpPr>
          <a:xfrm>
            <a:off x="7662332" y="2954866"/>
            <a:ext cx="1849967" cy="1439334"/>
            <a:chOff x="3406487" y="3183466"/>
            <a:chExt cx="3386667" cy="1439334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9FAFCF26-570C-4D1E-810A-72702C0B98E4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D84C57A9-9758-4398-BD3C-B52B843DFF58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2366AA-690D-46A0-8F4F-23F31CB87DB5}"/>
              </a:ext>
            </a:extLst>
          </p:cNvPr>
          <p:cNvGrpSpPr/>
          <p:nvPr/>
        </p:nvGrpSpPr>
        <p:grpSpPr>
          <a:xfrm>
            <a:off x="3689349" y="3121773"/>
            <a:ext cx="2618318" cy="1439334"/>
            <a:chOff x="3406487" y="3183466"/>
            <a:chExt cx="3386667" cy="1439334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C0E5E361-1272-4285-AEA6-BE488AEF4746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014C048F-C2E1-4CD8-8098-905CA99EBF7C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185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6900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0293785-510E-4E82-A8F4-8FB31D35AE1B}"/>
              </a:ext>
            </a:extLst>
          </p:cNvPr>
          <p:cNvSpPr txBox="1"/>
          <p:nvPr/>
        </p:nvSpPr>
        <p:spPr>
          <a:xfrm>
            <a:off x="1020232" y="2420878"/>
            <a:ext cx="84920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Ativo (TRUE/FALSE).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Pago (Sim/Não).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C9447A-D206-4054-80F3-4204650219A2}"/>
              </a:ext>
            </a:extLst>
          </p:cNvPr>
          <p:cNvSpPr txBox="1"/>
          <p:nvPr/>
        </p:nvSpPr>
        <p:spPr>
          <a:xfrm>
            <a:off x="567268" y="1246313"/>
            <a:ext cx="4394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Domínios Lógicos (Booleanos)</a:t>
            </a:r>
            <a:endParaRPr lang="pt-BR" b="1" dirty="0">
              <a:latin typeface="Arial Black" panose="020B0A040201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EC86DB-19A0-4A97-9E9D-17DDF33BBCDD}"/>
              </a:ext>
            </a:extLst>
          </p:cNvPr>
          <p:cNvSpPr txBox="1"/>
          <p:nvPr/>
        </p:nvSpPr>
        <p:spPr>
          <a:xfrm>
            <a:off x="1020232" y="1885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Aceitam apenas dois valores: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verdadeiro ou falso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53D6E29-3B52-4CB2-AEFC-2679D1F66DDA}"/>
              </a:ext>
            </a:extLst>
          </p:cNvPr>
          <p:cNvGrpSpPr/>
          <p:nvPr/>
        </p:nvGrpSpPr>
        <p:grpSpPr>
          <a:xfrm>
            <a:off x="2920998" y="3211296"/>
            <a:ext cx="6096002" cy="1439334"/>
            <a:chOff x="3406487" y="3183466"/>
            <a:chExt cx="3386667" cy="1439334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9FAFCF26-570C-4D1E-810A-72702C0B98E4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D84C57A9-9758-4398-BD3C-B52B843DFF58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2366AA-690D-46A0-8F4F-23F31CB87DB5}"/>
              </a:ext>
            </a:extLst>
          </p:cNvPr>
          <p:cNvGrpSpPr/>
          <p:nvPr/>
        </p:nvGrpSpPr>
        <p:grpSpPr>
          <a:xfrm>
            <a:off x="3376083" y="2927037"/>
            <a:ext cx="2525182" cy="1810537"/>
            <a:chOff x="3406487" y="3183466"/>
            <a:chExt cx="3386667" cy="1439334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C0E5E361-1272-4285-AEA6-BE488AEF4746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014C048F-C2E1-4CD8-8098-905CA99EBF7C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DCE59F7C-07DE-4B0A-BEDC-ED2998AC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06" y="4737588"/>
            <a:ext cx="7066687" cy="10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7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6900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0293785-510E-4E82-A8F4-8FB31D35AE1B}"/>
              </a:ext>
            </a:extLst>
          </p:cNvPr>
          <p:cNvSpPr txBox="1"/>
          <p:nvPr/>
        </p:nvSpPr>
        <p:spPr>
          <a:xfrm>
            <a:off x="1020232" y="2420878"/>
            <a:ext cx="84920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Sexo: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{Masculino, Feminino, Outro}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Status: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{Pendente, Aprovado, Rejeitado}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C9447A-D206-4054-80F3-4204650219A2}"/>
              </a:ext>
            </a:extLst>
          </p:cNvPr>
          <p:cNvSpPr txBox="1"/>
          <p:nvPr/>
        </p:nvSpPr>
        <p:spPr>
          <a:xfrm>
            <a:off x="567268" y="1246313"/>
            <a:ext cx="552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  <a:cs typeface="Arial" panose="020B0604020202020204" pitchFamily="34" charset="0"/>
              </a:rPr>
              <a:t>Domínios Enumerados (Listas de Valores)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EC86DB-19A0-4A97-9E9D-17DDF33BBCDD}"/>
              </a:ext>
            </a:extLst>
          </p:cNvPr>
          <p:cNvSpPr txBox="1"/>
          <p:nvPr/>
        </p:nvSpPr>
        <p:spPr>
          <a:xfrm>
            <a:off x="1020232" y="1885765"/>
            <a:ext cx="7996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atributo só pode assumir valores de um conjunto pré-definido.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53D6E29-3B52-4CB2-AEFC-2679D1F66DDA}"/>
              </a:ext>
            </a:extLst>
          </p:cNvPr>
          <p:cNvGrpSpPr/>
          <p:nvPr/>
        </p:nvGrpSpPr>
        <p:grpSpPr>
          <a:xfrm>
            <a:off x="4810416" y="2866284"/>
            <a:ext cx="1463383" cy="1626018"/>
            <a:chOff x="3406487" y="3183466"/>
            <a:chExt cx="3386667" cy="1439334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9FAFCF26-570C-4D1E-810A-72702C0B98E4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D84C57A9-9758-4398-BD3C-B52B843DFF58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2366AA-690D-46A0-8F4F-23F31CB87DB5}"/>
              </a:ext>
            </a:extLst>
          </p:cNvPr>
          <p:cNvGrpSpPr/>
          <p:nvPr/>
        </p:nvGrpSpPr>
        <p:grpSpPr>
          <a:xfrm>
            <a:off x="5333998" y="3127704"/>
            <a:ext cx="4246035" cy="1364598"/>
            <a:chOff x="3406487" y="3183466"/>
            <a:chExt cx="3386667" cy="1439334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C0E5E361-1272-4285-AEA6-BE488AEF4746}"/>
                </a:ext>
              </a:extLst>
            </p:cNvPr>
            <p:cNvCxnSpPr>
              <a:cxnSpLocks/>
            </p:cNvCxnSpPr>
            <p:nvPr/>
          </p:nvCxnSpPr>
          <p:spPr>
            <a:xfrm>
              <a:off x="3406487" y="3183466"/>
              <a:ext cx="3386667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014C048F-C2E1-4CD8-8098-905CA99EBF7C}"/>
                </a:ext>
              </a:extLst>
            </p:cNvPr>
            <p:cNvCxnSpPr>
              <a:cxnSpLocks/>
            </p:cNvCxnSpPr>
            <p:nvPr/>
          </p:nvCxnSpPr>
          <p:spPr>
            <a:xfrm>
              <a:off x="6793154" y="3183466"/>
              <a:ext cx="0" cy="143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9A126249-F2CA-40EB-B4DD-4B341CD12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166" y="4594847"/>
            <a:ext cx="7292503" cy="108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8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4529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3. Exemplos Práticos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7729C8-E671-421D-B1A9-352D2954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270001"/>
            <a:ext cx="10404594" cy="50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4529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3. Exemplos Práticos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CE19A44-A7E4-4632-AD26-B17D0C4D0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54916"/>
            <a:ext cx="10139908" cy="50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6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9" y="416467"/>
            <a:ext cx="84165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4. Importância dos Tipos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74D593-C618-44D1-8424-C3BA3C1B00E1}"/>
              </a:ext>
            </a:extLst>
          </p:cNvPr>
          <p:cNvSpPr txBox="1"/>
          <p:nvPr/>
        </p:nvSpPr>
        <p:spPr>
          <a:xfrm>
            <a:off x="680448" y="4316277"/>
            <a:ext cx="777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Segurança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→ protege contra informações incoerentes.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2E8D61-4711-4829-B4A0-F15C4B57D182}"/>
              </a:ext>
            </a:extLst>
          </p:cNvPr>
          <p:cNvSpPr txBox="1"/>
          <p:nvPr/>
        </p:nvSpPr>
        <p:spPr>
          <a:xfrm>
            <a:off x="594182" y="1592684"/>
            <a:ext cx="8584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Validação automática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→ impede dados inválidos.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4495A9-5EB5-47FB-A5F8-13BF3894B365}"/>
              </a:ext>
            </a:extLst>
          </p:cNvPr>
          <p:cNvSpPr txBox="1"/>
          <p:nvPr/>
        </p:nvSpPr>
        <p:spPr>
          <a:xfrm>
            <a:off x="594183" y="2512566"/>
            <a:ext cx="1082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Padronização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→ todos seguem o mesmo formato.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BAF53C0-70C7-4CBC-BCD9-70416EF38D92}"/>
              </a:ext>
            </a:extLst>
          </p:cNvPr>
          <p:cNvSpPr txBox="1"/>
          <p:nvPr/>
        </p:nvSpPr>
        <p:spPr>
          <a:xfrm>
            <a:off x="594183" y="3429000"/>
            <a:ext cx="94297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Consistência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→ evita erros como idade = -10 ou data inexistente.</a:t>
            </a:r>
          </a:p>
        </p:txBody>
      </p:sp>
    </p:spTree>
    <p:extLst>
      <p:ext uri="{BB962C8B-B14F-4D97-AF65-F5344CB8AC3E}">
        <p14:creationId xmlns:p14="http://schemas.microsoft.com/office/powerpoint/2010/main" val="218010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7" grpId="0"/>
      <p:bldP spid="9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2675467" y="441867"/>
            <a:ext cx="4707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ATIVIDADE PROPOSTA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2E8D61-4711-4829-B4A0-F15C4B57D182}"/>
              </a:ext>
            </a:extLst>
          </p:cNvPr>
          <p:cNvSpPr txBox="1"/>
          <p:nvPr/>
        </p:nvSpPr>
        <p:spPr>
          <a:xfrm>
            <a:off x="594183" y="1592684"/>
            <a:ext cx="58828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Responda o Formulário(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Google)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4495A9-5EB5-47FB-A5F8-13BF3894B365}"/>
              </a:ext>
            </a:extLst>
          </p:cNvPr>
          <p:cNvSpPr txBox="1"/>
          <p:nvPr/>
        </p:nvSpPr>
        <p:spPr>
          <a:xfrm>
            <a:off x="594183" y="2622810"/>
            <a:ext cx="1082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Local: Pasta Material de Apoio(Área de Trabalho)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BAF53C0-70C7-4CBC-BCD9-70416EF38D92}"/>
              </a:ext>
            </a:extLst>
          </p:cNvPr>
          <p:cNvSpPr txBox="1"/>
          <p:nvPr/>
        </p:nvSpPr>
        <p:spPr>
          <a:xfrm>
            <a:off x="670384" y="3652937"/>
            <a:ext cx="3334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Na Pasta: 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DS ou BD I</a:t>
            </a:r>
          </a:p>
        </p:txBody>
      </p:sp>
    </p:spTree>
    <p:extLst>
      <p:ext uri="{BB962C8B-B14F-4D97-AF65-F5344CB8AC3E}">
        <p14:creationId xmlns:p14="http://schemas.microsoft.com/office/powerpoint/2010/main" val="668865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210</TotalTime>
  <Words>377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Century Gothic</vt:lpstr>
      <vt:lpstr>Wingdings 3</vt:lpstr>
      <vt:lpstr>Íon</vt:lpstr>
      <vt:lpstr>Tipos de Domínios no Modelo Relacional(Conceitos)     Parte 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Domínios no Modelo Relacional           Parte 1</dc:title>
  <dc:creator>Daniel Jose de Oliveira Diniz</dc:creator>
  <cp:lastModifiedBy>Daniel Jose de Oliveira Diniz</cp:lastModifiedBy>
  <cp:revision>5</cp:revision>
  <dcterms:created xsi:type="dcterms:W3CDTF">2025-08-25T18:57:59Z</dcterms:created>
  <dcterms:modified xsi:type="dcterms:W3CDTF">2025-08-26T15:09:41Z</dcterms:modified>
</cp:coreProperties>
</file>