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Arial Narrow"/>
      <p:regular r:id="rId17"/>
      <p:bold r:id="rId18"/>
      <p:italic r:id="rId19"/>
      <p:boldItalic r:id="rId20"/>
    </p:embeddedFont>
    <p:embeddedFont>
      <p:font typeface="Arial Black"/>
      <p:regular r:id="rId21"/>
    </p:embeddedFont>
    <p:embeddedFont>
      <p:font typeface="Century Gothic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iUk0nHBG0Ma3cJ3mry7WVSqV16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Narrow-boldItalic.fntdata"/><Relationship Id="rId22" Type="http://schemas.openxmlformats.org/officeDocument/2006/relationships/font" Target="fonts/CenturyGothic-regular.fntdata"/><Relationship Id="rId21" Type="http://schemas.openxmlformats.org/officeDocument/2006/relationships/font" Target="fonts/ArialBlack-regular.fntdata"/><Relationship Id="rId24" Type="http://schemas.openxmlformats.org/officeDocument/2006/relationships/font" Target="fonts/CenturyGothic-italic.fntdata"/><Relationship Id="rId23" Type="http://schemas.openxmlformats.org/officeDocument/2006/relationships/font" Target="fonts/CenturyGothic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CenturyGothic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ArialNarrow-regular.fntdata"/><Relationship Id="rId16" Type="http://schemas.openxmlformats.org/officeDocument/2006/relationships/slide" Target="slides/slide12.xml"/><Relationship Id="rId19" Type="http://schemas.openxmlformats.org/officeDocument/2006/relationships/font" Target="fonts/ArialNarrow-italic.fntdata"/><Relationship Id="rId18" Type="http://schemas.openxmlformats.org/officeDocument/2006/relationships/font" Target="fonts/ArialNarrow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ctrTitle"/>
          </p:nvPr>
        </p:nvSpPr>
        <p:spPr>
          <a:xfrm>
            <a:off x="1154955" y="1447800"/>
            <a:ext cx="882565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  <a:defRPr sz="7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chemeClr val="accent1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1154956" y="2861733"/>
            <a:ext cx="882565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1154955" y="4777381"/>
            <a:ext cx="882565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1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" type="body"/>
          </p:nvPr>
        </p:nvSpPr>
        <p:spPr>
          <a:xfrm>
            <a:off x="1103312" y="2060575"/>
            <a:ext cx="4396339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8" name="Google Shape;38;p17"/>
          <p:cNvSpPr txBox="1"/>
          <p:nvPr>
            <p:ph idx="2" type="body"/>
          </p:nvPr>
        </p:nvSpPr>
        <p:spPr>
          <a:xfrm>
            <a:off x="5654493" y="2056092"/>
            <a:ext cx="4396341" cy="42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9" name="Google Shape;39;p1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" type="body"/>
          </p:nvPr>
        </p:nvSpPr>
        <p:spPr>
          <a:xfrm>
            <a:off x="1103313" y="1905000"/>
            <a:ext cx="439633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2" type="body"/>
          </p:nvPr>
        </p:nvSpPr>
        <p:spPr>
          <a:xfrm>
            <a:off x="1103312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6" name="Google Shape;46;p18"/>
          <p:cNvSpPr txBox="1"/>
          <p:nvPr>
            <p:ph idx="3" type="body"/>
          </p:nvPr>
        </p:nvSpPr>
        <p:spPr>
          <a:xfrm>
            <a:off x="5654495" y="1905000"/>
            <a:ext cx="439633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7" name="Google Shape;47;p18"/>
          <p:cNvSpPr txBox="1"/>
          <p:nvPr>
            <p:ph idx="4" type="body"/>
          </p:nvPr>
        </p:nvSpPr>
        <p:spPr>
          <a:xfrm>
            <a:off x="5654495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8" name="Google Shape;48;p1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9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1"/>
          <p:cNvSpPr txBox="1"/>
          <p:nvPr>
            <p:ph type="title"/>
          </p:nvPr>
        </p:nvSpPr>
        <p:spPr>
          <a:xfrm>
            <a:off x="1154954" y="1447800"/>
            <a:ext cx="3401064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1"/>
          <p:cNvSpPr txBox="1"/>
          <p:nvPr>
            <p:ph idx="1" type="body"/>
          </p:nvPr>
        </p:nvSpPr>
        <p:spPr>
          <a:xfrm>
            <a:off x="4784616" y="1447800"/>
            <a:ext cx="519599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19" lvl="3" marL="1828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63" name="Google Shape;63;p21"/>
          <p:cNvSpPr txBox="1"/>
          <p:nvPr>
            <p:ph idx="2" type="body"/>
          </p:nvPr>
        </p:nvSpPr>
        <p:spPr>
          <a:xfrm>
            <a:off x="1154954" y="3129280"/>
            <a:ext cx="3401063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4" name="Google Shape;64;p2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2"/>
          <p:cNvSpPr txBox="1"/>
          <p:nvPr>
            <p:ph type="title"/>
          </p:nvPr>
        </p:nvSpPr>
        <p:spPr>
          <a:xfrm>
            <a:off x="1153907" y="1854192"/>
            <a:ext cx="5092906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2"/>
          <p:cNvSpPr/>
          <p:nvPr>
            <p:ph idx="2" type="pic"/>
          </p:nvPr>
        </p:nvSpPr>
        <p:spPr>
          <a:xfrm>
            <a:off x="6949546" y="1143000"/>
            <a:ext cx="3200400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0" name="Google Shape;70;p22"/>
          <p:cNvSpPr txBox="1"/>
          <p:nvPr>
            <p:ph idx="1" type="body"/>
          </p:nvPr>
        </p:nvSpPr>
        <p:spPr>
          <a:xfrm>
            <a:off x="1154954" y="3657600"/>
            <a:ext cx="50849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Panorâmica com Legenda">
  <p:cSld name="Foto Panorâmica com Legenda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>
            <a:off x="1154956" y="4800587"/>
            <a:ext cx="882565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/>
          <p:nvPr>
            <p:ph idx="2" type="pic"/>
          </p:nvPr>
        </p:nvSpPr>
        <p:spPr>
          <a:xfrm>
            <a:off x="1154955" y="685800"/>
            <a:ext cx="8825658" cy="364066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7" name="Google Shape;77;p23"/>
          <p:cNvSpPr txBox="1"/>
          <p:nvPr>
            <p:ph idx="1" type="body"/>
          </p:nvPr>
        </p:nvSpPr>
        <p:spPr>
          <a:xfrm>
            <a:off x="1154956" y="5367325"/>
            <a:ext cx="882565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8" name="Google Shape;78;p2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Legenda">
  <p:cSld name="Título e Legenda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4"/>
          <p:cNvSpPr txBox="1"/>
          <p:nvPr>
            <p:ph type="title"/>
          </p:nvPr>
        </p:nvSpPr>
        <p:spPr>
          <a:xfrm>
            <a:off x="1154954" y="1447800"/>
            <a:ext cx="8825659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" type="body"/>
          </p:nvPr>
        </p:nvSpPr>
        <p:spPr>
          <a:xfrm>
            <a:off x="1154954" y="3657600"/>
            <a:ext cx="882565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4" name="Google Shape;84;p2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ção com Legenda">
  <p:cSld name="Citação com Legenda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5"/>
          <p:cNvSpPr txBox="1"/>
          <p:nvPr>
            <p:ph type="title"/>
          </p:nvPr>
        </p:nvSpPr>
        <p:spPr>
          <a:xfrm>
            <a:off x="1574801" y="1447800"/>
            <a:ext cx="7999315" cy="2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5"/>
          <p:cNvSpPr txBox="1"/>
          <p:nvPr>
            <p:ph idx="1" type="body"/>
          </p:nvPr>
        </p:nvSpPr>
        <p:spPr>
          <a:xfrm>
            <a:off x="1930400" y="3771174"/>
            <a:ext cx="727964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0" name="Google Shape;90;p25"/>
          <p:cNvSpPr txBox="1"/>
          <p:nvPr>
            <p:ph idx="2" type="body"/>
          </p:nvPr>
        </p:nvSpPr>
        <p:spPr>
          <a:xfrm>
            <a:off x="1154954" y="4350657"/>
            <a:ext cx="8825659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1" name="Google Shape;91;p2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4" name="Google Shape;94;p25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5" name="Google Shape;95;p25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tão de Nome">
  <p:cSld name="Cartão de Nom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6"/>
          <p:cNvSpPr txBox="1"/>
          <p:nvPr>
            <p:ph type="title"/>
          </p:nvPr>
        </p:nvSpPr>
        <p:spPr>
          <a:xfrm>
            <a:off x="1154954" y="3124201"/>
            <a:ext cx="8825660" cy="165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6"/>
          <p:cNvSpPr txBox="1"/>
          <p:nvPr>
            <p:ph idx="1" type="body"/>
          </p:nvPr>
        </p:nvSpPr>
        <p:spPr>
          <a:xfrm>
            <a:off x="1154954" y="4777381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2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nas">
  <p:cSld name="3 Coluna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7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7"/>
          <p:cNvSpPr txBox="1"/>
          <p:nvPr>
            <p:ph idx="1" type="body"/>
          </p:nvPr>
        </p:nvSpPr>
        <p:spPr>
          <a:xfrm>
            <a:off x="632947" y="1981200"/>
            <a:ext cx="29468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5" name="Google Shape;105;p27"/>
          <p:cNvSpPr txBox="1"/>
          <p:nvPr>
            <p:ph idx="2" type="body"/>
          </p:nvPr>
        </p:nvSpPr>
        <p:spPr>
          <a:xfrm>
            <a:off x="652463" y="2667000"/>
            <a:ext cx="2927350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6" name="Google Shape;106;p27"/>
          <p:cNvSpPr txBox="1"/>
          <p:nvPr>
            <p:ph idx="3" type="body"/>
          </p:nvPr>
        </p:nvSpPr>
        <p:spPr>
          <a:xfrm>
            <a:off x="3883659" y="1981200"/>
            <a:ext cx="29362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7" name="Google Shape;107;p27"/>
          <p:cNvSpPr txBox="1"/>
          <p:nvPr>
            <p:ph idx="4" type="body"/>
          </p:nvPr>
        </p:nvSpPr>
        <p:spPr>
          <a:xfrm>
            <a:off x="3873106" y="2667000"/>
            <a:ext cx="294679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8" name="Google Shape;108;p27"/>
          <p:cNvSpPr txBox="1"/>
          <p:nvPr>
            <p:ph idx="5" type="body"/>
          </p:nvPr>
        </p:nvSpPr>
        <p:spPr>
          <a:xfrm>
            <a:off x="7124700" y="1981200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9" name="Google Shape;109;p27"/>
          <p:cNvSpPr txBox="1"/>
          <p:nvPr>
            <p:ph idx="6" type="body"/>
          </p:nvPr>
        </p:nvSpPr>
        <p:spPr>
          <a:xfrm>
            <a:off x="7124700" y="2667000"/>
            <a:ext cx="2932113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10" name="Google Shape;110;p27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27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2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nas de Imagem">
  <p:cSld name="3 Colunas de Imagem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8"/>
          <p:cNvSpPr txBox="1"/>
          <p:nvPr>
            <p:ph idx="1" type="body"/>
          </p:nvPr>
        </p:nvSpPr>
        <p:spPr>
          <a:xfrm>
            <a:off x="652463" y="4250949"/>
            <a:ext cx="29400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8" name="Google Shape;118;p28"/>
          <p:cNvSpPr/>
          <p:nvPr>
            <p:ph idx="2" type="pic"/>
          </p:nvPr>
        </p:nvSpPr>
        <p:spPr>
          <a:xfrm>
            <a:off x="652463" y="2209800"/>
            <a:ext cx="2940050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19" name="Google Shape;119;p28"/>
          <p:cNvSpPr txBox="1"/>
          <p:nvPr>
            <p:ph idx="3" type="body"/>
          </p:nvPr>
        </p:nvSpPr>
        <p:spPr>
          <a:xfrm>
            <a:off x="652463" y="4827211"/>
            <a:ext cx="2940050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0" name="Google Shape;120;p28"/>
          <p:cNvSpPr txBox="1"/>
          <p:nvPr>
            <p:ph idx="4" type="body"/>
          </p:nvPr>
        </p:nvSpPr>
        <p:spPr>
          <a:xfrm>
            <a:off x="3889375" y="4250949"/>
            <a:ext cx="29305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1" name="Google Shape;121;p28"/>
          <p:cNvSpPr/>
          <p:nvPr>
            <p:ph idx="5" type="pic"/>
          </p:nvPr>
        </p:nvSpPr>
        <p:spPr>
          <a:xfrm>
            <a:off x="3889374" y="2209800"/>
            <a:ext cx="2930525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2" name="Google Shape;122;p28"/>
          <p:cNvSpPr txBox="1"/>
          <p:nvPr>
            <p:ph idx="6" type="body"/>
          </p:nvPr>
        </p:nvSpPr>
        <p:spPr>
          <a:xfrm>
            <a:off x="3888022" y="4827210"/>
            <a:ext cx="2934406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3" name="Google Shape;123;p28"/>
          <p:cNvSpPr txBox="1"/>
          <p:nvPr>
            <p:ph idx="7" type="body"/>
          </p:nvPr>
        </p:nvSpPr>
        <p:spPr>
          <a:xfrm>
            <a:off x="7124700" y="4250949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4" name="Google Shape;124;p28"/>
          <p:cNvSpPr/>
          <p:nvPr>
            <p:ph idx="8" type="pic"/>
          </p:nvPr>
        </p:nvSpPr>
        <p:spPr>
          <a:xfrm>
            <a:off x="7124699" y="2209800"/>
            <a:ext cx="2932113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5" name="Google Shape;125;p28"/>
          <p:cNvSpPr txBox="1"/>
          <p:nvPr>
            <p:ph idx="9" type="body"/>
          </p:nvPr>
        </p:nvSpPr>
        <p:spPr>
          <a:xfrm>
            <a:off x="7124575" y="4827208"/>
            <a:ext cx="2935997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26" name="Google Shape;126;p28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28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2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9"/>
          <p:cNvSpPr txBox="1"/>
          <p:nvPr>
            <p:ph idx="1" type="body"/>
          </p:nvPr>
        </p:nvSpPr>
        <p:spPr>
          <a:xfrm rot="5400000">
            <a:off x="3478842" y="-322612"/>
            <a:ext cx="4195481" cy="8946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4" name="Google Shape;134;p2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/>
          <p:nvPr>
            <p:ph type="title"/>
          </p:nvPr>
        </p:nvSpPr>
        <p:spPr>
          <a:xfrm rot="5400000">
            <a:off x="6267450" y="2466975"/>
            <a:ext cx="5826125" cy="1752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0"/>
          <p:cNvSpPr txBox="1"/>
          <p:nvPr>
            <p:ph idx="1" type="body"/>
          </p:nvPr>
        </p:nvSpPr>
        <p:spPr>
          <a:xfrm rot="5400000">
            <a:off x="1679576" y="-139699"/>
            <a:ext cx="5368924" cy="7423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0" name="Google Shape;140;p3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6.xml"/><Relationship Id="rId22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5.xml"/><Relationship Id="rId21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23" Type="http://schemas.openxmlformats.org/officeDocument/2006/relationships/theme" Target="../theme/theme1.xml"/><Relationship Id="rId1" Type="http://schemas.openxmlformats.org/officeDocument/2006/relationships/image" Target="../media/image5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11.xml"/><Relationship Id="rId5" Type="http://schemas.openxmlformats.org/officeDocument/2006/relationships/image" Target="../media/image1.png"/><Relationship Id="rId19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.xml"/><Relationship Id="rId1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3"/>
          <p:cNvPicPr preferRelativeResize="0"/>
          <p:nvPr/>
        </p:nvPicPr>
        <p:blipFill rotWithShape="1">
          <a:blip r:embed="rId2">
            <a:alphaModFix/>
          </a:blip>
          <a:srcRect b="0" l="3613" r="0" t="0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3"/>
          <p:cNvPicPr preferRelativeResize="0"/>
          <p:nvPr/>
        </p:nvPicPr>
        <p:blipFill rotWithShape="1">
          <a:blip r:embed="rId3">
            <a:alphaModFix/>
          </a:blip>
          <a:srcRect b="0" l="35640" r="0" t="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3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78C4F1">
                  <a:alpha val="6666"/>
                </a:srgbClr>
              </a:gs>
              <a:gs pos="36000">
                <a:srgbClr val="78C4F1">
                  <a:alpha val="5882"/>
                </a:srgbClr>
              </a:gs>
              <a:gs pos="69000">
                <a:srgbClr val="78C4F1">
                  <a:alpha val="0"/>
                </a:srgbClr>
              </a:gs>
              <a:gs pos="100000">
                <a:srgbClr val="78C4F1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" name="Google Shape;9;p13"/>
          <p:cNvPicPr preferRelativeResize="0"/>
          <p:nvPr/>
        </p:nvPicPr>
        <p:blipFill rotWithShape="1">
          <a:blip r:embed="rId4">
            <a:alphaModFix/>
          </a:blip>
          <a:srcRect b="0" l="0" r="0" t="28812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3"/>
          <p:cNvPicPr preferRelativeResize="0"/>
          <p:nvPr/>
        </p:nvPicPr>
        <p:blipFill rotWithShape="1">
          <a:blip r:embed="rId5">
            <a:alphaModFix/>
          </a:blip>
          <a:srcRect b="23320" l="0" r="0" t="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3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19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  <p:sldLayoutId id="2147483661" r:id="rId18"/>
    <p:sldLayoutId id="2147483662" r:id="rId19"/>
    <p:sldLayoutId id="2147483663" r:id="rId20"/>
    <p:sldLayoutId id="2147483664" r:id="rId21"/>
    <p:sldLayoutId id="2147483665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1180354" y="2326152"/>
            <a:ext cx="10181911" cy="11028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Arial Black"/>
              <a:buNone/>
            </a:pPr>
            <a:r>
              <a:rPr lang="pt-BR">
                <a:latin typeface="Arial Black"/>
                <a:ea typeface="Arial Black"/>
                <a:cs typeface="Arial Black"/>
                <a:sym typeface="Arial Black"/>
              </a:rPr>
              <a:t>Modelo Relacional</a:t>
            </a:r>
            <a:endParaRPr/>
          </a:p>
        </p:txBody>
      </p:sp>
      <p:sp>
        <p:nvSpPr>
          <p:cNvPr id="148" name="Google Shape;148;p1"/>
          <p:cNvSpPr txBox="1"/>
          <p:nvPr>
            <p:ph idx="1" type="subTitle"/>
          </p:nvPr>
        </p:nvSpPr>
        <p:spPr>
          <a:xfrm>
            <a:off x="8758021" y="3714686"/>
            <a:ext cx="2985245" cy="459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/>
              <a:t>BANCO DE </a:t>
            </a:r>
            <a:r>
              <a:rPr b="1" lang="pt-BR">
                <a:latin typeface="Arial Narrow"/>
                <a:ea typeface="Arial Narrow"/>
                <a:cs typeface="Arial Narrow"/>
                <a:sym typeface="Arial Narrow"/>
              </a:rPr>
              <a:t>DADOS</a:t>
            </a:r>
            <a:r>
              <a:rPr b="1" lang="pt-BR"/>
              <a:t> 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"/>
          <p:cNvSpPr txBox="1"/>
          <p:nvPr>
            <p:ph type="ctrTitle"/>
          </p:nvPr>
        </p:nvSpPr>
        <p:spPr>
          <a:xfrm>
            <a:off x="374277" y="1511604"/>
            <a:ext cx="9513046" cy="262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lang="pt-BR" sz="2400">
                <a:latin typeface="Arial"/>
                <a:ea typeface="Arial"/>
                <a:cs typeface="Arial"/>
                <a:sym typeface="Arial"/>
              </a:rPr>
              <a:t>O que é um Banco de Dados:</a:t>
            </a:r>
            <a:r>
              <a:rPr lang="pt-BR" sz="2400">
                <a:latin typeface="Arial"/>
                <a:ea typeface="Arial"/>
                <a:cs typeface="Arial"/>
                <a:sym typeface="Arial"/>
              </a:rPr>
              <a:t> coleção organizada de dados.</a:t>
            </a:r>
            <a:endParaRPr sz="8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374277" y="2868628"/>
            <a:ext cx="11303001" cy="262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Por que o Modelo Relacional:</a:t>
            </a:r>
            <a:r>
              <a:rPr b="0" i="0" lang="pt-BR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mais organizado, seguro e fácil de manter do que listas ou planilhas simples.</a:t>
            </a:r>
            <a:endParaRPr/>
          </a:p>
        </p:txBody>
      </p:sp>
      <p:sp>
        <p:nvSpPr>
          <p:cNvPr id="155" name="Google Shape;155;p2"/>
          <p:cNvSpPr txBox="1"/>
          <p:nvPr/>
        </p:nvSpPr>
        <p:spPr>
          <a:xfrm>
            <a:off x="177800" y="3828534"/>
            <a:ext cx="613436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Analogia:</a:t>
            </a:r>
            <a:r>
              <a:rPr b="0" i="0" lang="pt-B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uma planilha do Excel com várias abas pode ser vista como várias tabelas relacionadas.</a:t>
            </a:r>
            <a:endParaRPr/>
          </a:p>
        </p:txBody>
      </p:sp>
      <p:sp>
        <p:nvSpPr>
          <p:cNvPr id="156" name="Google Shape;156;p2"/>
          <p:cNvSpPr txBox="1"/>
          <p:nvPr/>
        </p:nvSpPr>
        <p:spPr>
          <a:xfrm>
            <a:off x="8509000" y="228600"/>
            <a:ext cx="1512046" cy="3037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 Black"/>
              <a:buNone/>
            </a:pPr>
            <a:r>
              <a:rPr b="0" i="0" lang="pt-BR" sz="1000" u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Modelo Relacional</a:t>
            </a:r>
            <a:endParaRPr/>
          </a:p>
        </p:txBody>
      </p:sp>
      <p:sp>
        <p:nvSpPr>
          <p:cNvPr id="157" name="Google Shape;157;p2"/>
          <p:cNvSpPr txBox="1"/>
          <p:nvPr/>
        </p:nvSpPr>
        <p:spPr>
          <a:xfrm>
            <a:off x="9372600" y="505820"/>
            <a:ext cx="1029446" cy="173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Noto Sans Symbols"/>
              <a:buNone/>
            </a:pPr>
            <a:r>
              <a:rPr b="0" i="0" lang="pt-BR" sz="700" u="non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BANCO DE </a:t>
            </a:r>
            <a:r>
              <a:rPr b="0" i="0" lang="pt-BR" sz="700" u="none" cap="none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rPr>
              <a:t>DADOS</a:t>
            </a:r>
            <a:r>
              <a:rPr b="0" i="0" lang="pt-BR" sz="700" u="non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</a:t>
            </a:r>
            <a:endParaRPr/>
          </a:p>
        </p:txBody>
      </p:sp>
      <p:pic>
        <p:nvPicPr>
          <p:cNvPr id="158" name="Google Shape;15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2832" y="3304678"/>
            <a:ext cx="6134368" cy="344837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"/>
          <p:cNvSpPr txBox="1"/>
          <p:nvPr/>
        </p:nvSpPr>
        <p:spPr>
          <a:xfrm>
            <a:off x="1642533" y="228600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Abertura e Contextualização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"/>
          <p:cNvSpPr txBox="1"/>
          <p:nvPr>
            <p:ph type="ctrTitle"/>
          </p:nvPr>
        </p:nvSpPr>
        <p:spPr>
          <a:xfrm>
            <a:off x="1352923" y="1258135"/>
            <a:ext cx="9513046" cy="262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lang="pt-BR" sz="2000">
                <a:latin typeface="Arial"/>
                <a:ea typeface="Arial"/>
                <a:cs typeface="Arial"/>
                <a:sym typeface="Arial"/>
              </a:rPr>
              <a:t>Tabela (Relação)</a:t>
            </a:r>
            <a:r>
              <a:rPr lang="pt-BR" sz="2000">
                <a:latin typeface="Arial"/>
                <a:ea typeface="Arial"/>
                <a:cs typeface="Arial"/>
                <a:sym typeface="Arial"/>
              </a:rPr>
              <a:t>: conjunto de linhas (tuplas) e colunas (atributos).</a:t>
            </a:r>
            <a:endParaRPr/>
          </a:p>
        </p:txBody>
      </p:sp>
      <p:sp>
        <p:nvSpPr>
          <p:cNvPr id="165" name="Google Shape;165;p3"/>
          <p:cNvSpPr txBox="1"/>
          <p:nvPr/>
        </p:nvSpPr>
        <p:spPr>
          <a:xfrm>
            <a:off x="8509000" y="228600"/>
            <a:ext cx="1512046" cy="3037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 Black"/>
              <a:buNone/>
            </a:pPr>
            <a:r>
              <a:rPr b="0" i="0" lang="pt-BR" sz="1000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Modelo Relacional</a:t>
            </a:r>
            <a:endParaRPr/>
          </a:p>
        </p:txBody>
      </p:sp>
      <p:sp>
        <p:nvSpPr>
          <p:cNvPr id="166" name="Google Shape;166;p3"/>
          <p:cNvSpPr txBox="1"/>
          <p:nvPr/>
        </p:nvSpPr>
        <p:spPr>
          <a:xfrm>
            <a:off x="9372600" y="445462"/>
            <a:ext cx="1029446" cy="173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Noto Sans Symbols"/>
              <a:buNone/>
            </a:pPr>
            <a:r>
              <a:rPr b="0" i="0" lang="pt-BR" sz="7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BANCO DE </a:t>
            </a:r>
            <a:r>
              <a:rPr b="0" i="0" lang="pt-BR" sz="700" cap="none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rPr>
              <a:t>DADOS</a:t>
            </a:r>
            <a:r>
              <a:rPr b="0" i="0" lang="pt-BR" sz="7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</a:t>
            </a:r>
            <a:endParaRPr/>
          </a:p>
        </p:txBody>
      </p:sp>
      <p:sp>
        <p:nvSpPr>
          <p:cNvPr id="167" name="Google Shape;167;p3"/>
          <p:cNvSpPr txBox="1"/>
          <p:nvPr/>
        </p:nvSpPr>
        <p:spPr>
          <a:xfrm>
            <a:off x="1469838" y="353656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Conceitos Fundamentais</a:t>
            </a:r>
            <a:endParaRPr b="1" sz="28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8" name="Google Shape;168;p3"/>
          <p:cNvSpPr txBox="1"/>
          <p:nvPr/>
        </p:nvSpPr>
        <p:spPr>
          <a:xfrm>
            <a:off x="5461000" y="1749596"/>
            <a:ext cx="6096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Atributos</a:t>
            </a:r>
            <a:r>
              <a:rPr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características (campos) da tabela.</a:t>
            </a:r>
            <a:endParaRPr/>
          </a:p>
        </p:txBody>
      </p:sp>
      <p:sp>
        <p:nvSpPr>
          <p:cNvPr id="169" name="Google Shape;169;p3"/>
          <p:cNvSpPr txBox="1"/>
          <p:nvPr/>
        </p:nvSpPr>
        <p:spPr>
          <a:xfrm>
            <a:off x="921123" y="1737444"/>
            <a:ext cx="440441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Tuplas</a:t>
            </a:r>
            <a:r>
              <a:rPr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registros individuais (linhas).</a:t>
            </a:r>
            <a:endParaRPr/>
          </a:p>
        </p:txBody>
      </p:sp>
      <p:sp>
        <p:nvSpPr>
          <p:cNvPr id="170" name="Google Shape;170;p3"/>
          <p:cNvSpPr txBox="1"/>
          <p:nvPr/>
        </p:nvSpPr>
        <p:spPr>
          <a:xfrm>
            <a:off x="1331009" y="2794219"/>
            <a:ext cx="952997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Domínio</a:t>
            </a:r>
            <a:r>
              <a:rPr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tipo de dado que um atributo pode armazenar.</a:t>
            </a:r>
            <a:endParaRPr/>
          </a:p>
        </p:txBody>
      </p:sp>
      <p:sp>
        <p:nvSpPr>
          <p:cNvPr id="171" name="Google Shape;171;p3"/>
          <p:cNvSpPr txBox="1"/>
          <p:nvPr/>
        </p:nvSpPr>
        <p:spPr>
          <a:xfrm>
            <a:off x="1307291" y="3638787"/>
            <a:ext cx="901525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Chave Primária (Primary Key - PK)</a:t>
            </a:r>
            <a:r>
              <a:rPr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identifica unicamente cada registro.</a:t>
            </a:r>
            <a:endParaRPr/>
          </a:p>
        </p:txBody>
      </p:sp>
      <p:sp>
        <p:nvSpPr>
          <p:cNvPr id="172" name="Google Shape;172;p3"/>
          <p:cNvSpPr txBox="1"/>
          <p:nvPr/>
        </p:nvSpPr>
        <p:spPr>
          <a:xfrm>
            <a:off x="1307291" y="4506312"/>
            <a:ext cx="869016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Chave Estrangeira (Foreign Key - FK)</a:t>
            </a:r>
            <a:r>
              <a:rPr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cria ligação entre tabelas.</a:t>
            </a:r>
            <a:endParaRPr/>
          </a:p>
        </p:txBody>
      </p:sp>
      <p:sp>
        <p:nvSpPr>
          <p:cNvPr id="173" name="Google Shape;173;p3"/>
          <p:cNvSpPr txBox="1"/>
          <p:nvPr/>
        </p:nvSpPr>
        <p:spPr>
          <a:xfrm>
            <a:off x="1307291" y="5399810"/>
            <a:ext cx="925232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Integridade referencial</a:t>
            </a:r>
            <a:r>
              <a:rPr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garante que os relacionamentos sejam válidos.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"/>
          <p:cNvSpPr txBox="1"/>
          <p:nvPr/>
        </p:nvSpPr>
        <p:spPr>
          <a:xfrm>
            <a:off x="8509000" y="228600"/>
            <a:ext cx="1512046" cy="3037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 Black"/>
              <a:buNone/>
            </a:pPr>
            <a:r>
              <a:rPr b="0" i="0" lang="pt-BR" sz="1000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Modelo Relacional</a:t>
            </a:r>
            <a:endParaRPr/>
          </a:p>
        </p:txBody>
      </p:sp>
      <p:sp>
        <p:nvSpPr>
          <p:cNvPr id="179" name="Google Shape;179;p4"/>
          <p:cNvSpPr txBox="1"/>
          <p:nvPr/>
        </p:nvSpPr>
        <p:spPr>
          <a:xfrm>
            <a:off x="9372600" y="445462"/>
            <a:ext cx="1029446" cy="173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Noto Sans Symbols"/>
              <a:buNone/>
            </a:pPr>
            <a:r>
              <a:rPr b="0" i="0" lang="pt-BR" sz="7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BANCO DE </a:t>
            </a:r>
            <a:r>
              <a:rPr b="0" i="0" lang="pt-BR" sz="700" cap="none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rPr>
              <a:t>DADOS</a:t>
            </a:r>
            <a:r>
              <a:rPr b="0" i="0" lang="pt-BR" sz="7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</a:t>
            </a:r>
            <a:endParaRPr/>
          </a:p>
        </p:txBody>
      </p:sp>
      <p:sp>
        <p:nvSpPr>
          <p:cNvPr id="180" name="Google Shape;180;p4"/>
          <p:cNvSpPr txBox="1"/>
          <p:nvPr>
            <p:ph type="ctrTitle"/>
          </p:nvPr>
        </p:nvSpPr>
        <p:spPr>
          <a:xfrm>
            <a:off x="3162298" y="756078"/>
            <a:ext cx="3424767" cy="262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"/>
              <a:buNone/>
            </a:pPr>
            <a:r>
              <a:rPr b="1" lang="pt-BR" sz="3200">
                <a:latin typeface="Arial"/>
                <a:ea typeface="Arial"/>
                <a:cs typeface="Arial"/>
                <a:sym typeface="Arial"/>
              </a:rPr>
              <a:t>Tabela (Relação)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541867" y="1298441"/>
            <a:ext cx="993986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</a:t>
            </a:r>
            <a:r>
              <a:rPr b="1"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modelo relacional</a:t>
            </a: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uma tabela</a:t>
            </a: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(também chamada de </a:t>
            </a:r>
            <a:r>
              <a:rPr b="1"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relação</a:t>
            </a: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 é usada para armazenar dados de forma estruturada.</a:t>
            </a:r>
            <a:endParaRPr/>
          </a:p>
        </p:txBody>
      </p:sp>
      <p:sp>
        <p:nvSpPr>
          <p:cNvPr id="182" name="Google Shape;182;p4"/>
          <p:cNvSpPr txBox="1"/>
          <p:nvPr/>
        </p:nvSpPr>
        <p:spPr>
          <a:xfrm>
            <a:off x="541867" y="2029936"/>
            <a:ext cx="1064259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Ela é formada por: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Colunas (Atributos):</a:t>
            </a: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descrevem o tipo de informação que será armazenada.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Linhas (Tuplas):</a:t>
            </a: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cada registro individual que contém dados para todos os atributos.</a:t>
            </a:r>
            <a:endParaRPr/>
          </a:p>
        </p:txBody>
      </p:sp>
      <p:sp>
        <p:nvSpPr>
          <p:cNvPr id="183" name="Google Shape;183;p4"/>
          <p:cNvSpPr txBox="1"/>
          <p:nvPr/>
        </p:nvSpPr>
        <p:spPr>
          <a:xfrm>
            <a:off x="541867" y="3168134"/>
            <a:ext cx="270086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Exemplo: </a:t>
            </a:r>
            <a:r>
              <a:rPr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Tabela CLIENTE</a:t>
            </a:r>
            <a:endParaRPr/>
          </a:p>
        </p:txBody>
      </p:sp>
      <p:pic>
        <p:nvPicPr>
          <p:cNvPr id="184" name="Google Shape;18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8737" y="3506688"/>
            <a:ext cx="6327130" cy="3228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8277" y="3125473"/>
            <a:ext cx="5760723" cy="341604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5"/>
          <p:cNvSpPr txBox="1"/>
          <p:nvPr/>
        </p:nvSpPr>
        <p:spPr>
          <a:xfrm>
            <a:off x="8509000" y="228600"/>
            <a:ext cx="1512046" cy="3037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 Black"/>
              <a:buNone/>
            </a:pPr>
            <a:r>
              <a:rPr b="0" i="0" lang="pt-BR" sz="1000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Modelo Relacional</a:t>
            </a:r>
            <a:endParaRPr/>
          </a:p>
        </p:txBody>
      </p:sp>
      <p:sp>
        <p:nvSpPr>
          <p:cNvPr id="191" name="Google Shape;191;p5"/>
          <p:cNvSpPr txBox="1"/>
          <p:nvPr/>
        </p:nvSpPr>
        <p:spPr>
          <a:xfrm>
            <a:off x="9372600" y="445462"/>
            <a:ext cx="1029446" cy="173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Noto Sans Symbols"/>
              <a:buNone/>
            </a:pPr>
            <a:r>
              <a:rPr b="0" i="0" lang="pt-BR" sz="7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BANCO DE </a:t>
            </a:r>
            <a:r>
              <a:rPr b="0" i="0" lang="pt-BR" sz="700" cap="none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rPr>
              <a:t>DADOS</a:t>
            </a:r>
            <a:r>
              <a:rPr b="0" i="0" lang="pt-BR" sz="7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</a:t>
            </a:r>
            <a:endParaRPr/>
          </a:p>
        </p:txBody>
      </p:sp>
      <p:sp>
        <p:nvSpPr>
          <p:cNvPr id="192" name="Google Shape;192;p5"/>
          <p:cNvSpPr txBox="1"/>
          <p:nvPr>
            <p:ph type="ctrTitle"/>
          </p:nvPr>
        </p:nvSpPr>
        <p:spPr>
          <a:xfrm>
            <a:off x="345318" y="913440"/>
            <a:ext cx="3424767" cy="262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 Black"/>
              <a:buNone/>
            </a:pPr>
            <a:r>
              <a:rPr lang="pt-BR" sz="2400">
                <a:latin typeface="Arial Black"/>
                <a:ea typeface="Arial Black"/>
                <a:cs typeface="Arial Black"/>
                <a:sym typeface="Arial Black"/>
              </a:rPr>
              <a:t>Explicação:</a:t>
            </a:r>
            <a:endParaRPr sz="8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0" y="-323165"/>
            <a:ext cx="457176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8657912" y="4174226"/>
            <a:ext cx="3742268" cy="823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Linhas (Tuplas):</a:t>
            </a:r>
            <a:endParaRPr b="0" i="0" sz="16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pt-BR" sz="1050" u="none" cap="none" strike="noStrike">
                <a:solidFill>
                  <a:srgbClr val="FFFF00"/>
                </a:solidFill>
                <a:latin typeface="Arial Narrow"/>
                <a:ea typeface="Arial Narrow"/>
                <a:cs typeface="Arial Narrow"/>
                <a:sym typeface="Arial Narrow"/>
              </a:rPr>
              <a:t>Primeira linha: Cliente com ID 1, João Silva, e email joao@email.com.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pt-BR" sz="1050" u="none" cap="none" strike="noStrike">
                <a:solidFill>
                  <a:srgbClr val="FFFF00"/>
                </a:solidFill>
                <a:latin typeface="Arial Narrow"/>
                <a:ea typeface="Arial Narrow"/>
                <a:cs typeface="Arial Narrow"/>
                <a:sym typeface="Arial Narrow"/>
              </a:rPr>
              <a:t>Segunda linha: Cliente com ID 2, Maria Lima...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pt-BR" sz="1050" u="none" cap="none" strike="noStrike">
                <a:solidFill>
                  <a:srgbClr val="FFFF00"/>
                </a:solidFill>
                <a:latin typeface="Arial Narrow"/>
                <a:ea typeface="Arial Narrow"/>
                <a:cs typeface="Arial Narrow"/>
                <a:sym typeface="Arial Narrow"/>
              </a:rPr>
              <a:t>Terceira linha: Cliente com ID 3, Pedro Costa</a:t>
            </a:r>
            <a:endParaRPr sz="1050">
              <a:solidFill>
                <a:srgbClr val="FFFF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5218329" y="1853130"/>
            <a:ext cx="3290671" cy="500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Nome da Tabela:</a:t>
            </a:r>
            <a:r>
              <a:rPr b="0" i="0" lang="pt-BR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1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r>
              <a:rPr b="0" i="0" lang="pt-BR" sz="105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b="0" i="0" lang="pt-BR" sz="1050" u="none" cap="none" strike="noStrike">
                <a:solidFill>
                  <a:srgbClr val="FFFF00"/>
                </a:solidFill>
                <a:latin typeface="Arial Narrow"/>
                <a:ea typeface="Arial Narrow"/>
                <a:cs typeface="Arial Narrow"/>
                <a:sym typeface="Arial Narrow"/>
              </a:rPr>
              <a:t>representa o conjunto de todos os clientes cadastrados.</a:t>
            </a:r>
            <a:endParaRPr sz="1050">
              <a:solidFill>
                <a:srgbClr val="FFFF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345318" y="2519413"/>
            <a:ext cx="3472508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Colunas (Atributos):</a:t>
            </a:r>
            <a:endParaRPr b="0" i="0" sz="16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FFFF00"/>
                </a:solidFill>
                <a:latin typeface="Arial Narrow"/>
                <a:ea typeface="Arial Narrow"/>
                <a:cs typeface="Arial Narrow"/>
                <a:sym typeface="Arial Narrow"/>
              </a:rPr>
              <a:t>ID_Cliente</a:t>
            </a:r>
            <a:r>
              <a:rPr b="0" i="0" lang="pt-BR" sz="1050" u="none" cap="none" strike="noStrike">
                <a:solidFill>
                  <a:srgbClr val="FFFF00"/>
                </a:solidFill>
                <a:latin typeface="Arial Narrow"/>
                <a:ea typeface="Arial Narrow"/>
                <a:cs typeface="Arial Narrow"/>
                <a:sym typeface="Arial Narrow"/>
              </a:rPr>
              <a:t> → identifica unicamente cada cliente (chave primária).</a:t>
            </a:r>
            <a:endParaRPr b="0" i="0" sz="2800" u="none" cap="none" strike="noStrike">
              <a:solidFill>
                <a:srgbClr val="FFFF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FFFF00"/>
                </a:solidFill>
                <a:latin typeface="Arial Narrow"/>
                <a:ea typeface="Arial Narrow"/>
                <a:cs typeface="Arial Narrow"/>
                <a:sym typeface="Arial Narrow"/>
              </a:rPr>
              <a:t>Nome</a:t>
            </a:r>
            <a:r>
              <a:rPr b="0" i="0" lang="pt-BR" sz="1050" u="none" cap="none" strike="noStrike">
                <a:solidFill>
                  <a:srgbClr val="FFFF00"/>
                </a:solidFill>
                <a:latin typeface="Arial Narrow"/>
                <a:ea typeface="Arial Narrow"/>
                <a:cs typeface="Arial Narrow"/>
                <a:sym typeface="Arial Narrow"/>
              </a:rPr>
              <a:t> → nome completo do cliente.</a:t>
            </a:r>
            <a:endParaRPr b="0" i="0" sz="2800" u="none" cap="none" strike="noStrike">
              <a:solidFill>
                <a:srgbClr val="FFFF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FFFF00"/>
                </a:solidFill>
                <a:latin typeface="Arial Narrow"/>
                <a:ea typeface="Arial Narrow"/>
                <a:cs typeface="Arial Narrow"/>
                <a:sym typeface="Arial Narrow"/>
              </a:rPr>
              <a:t>Email</a:t>
            </a:r>
            <a:r>
              <a:rPr b="0" i="0" lang="pt-BR" sz="1050" u="none" cap="none" strike="noStrike">
                <a:solidFill>
                  <a:srgbClr val="FFFF00"/>
                </a:solidFill>
                <a:latin typeface="Arial Narrow"/>
                <a:ea typeface="Arial Narrow"/>
                <a:cs typeface="Arial Narrow"/>
                <a:sym typeface="Arial Narrow"/>
              </a:rPr>
              <a:t> → endereço eletrônico do cliente.</a:t>
            </a:r>
            <a:endParaRPr sz="1050">
              <a:solidFill>
                <a:srgbClr val="FFFF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197" name="Google Shape;197;p5"/>
          <p:cNvCxnSpPr/>
          <p:nvPr/>
        </p:nvCxnSpPr>
        <p:spPr>
          <a:xfrm>
            <a:off x="2334454" y="3411965"/>
            <a:ext cx="827641" cy="762261"/>
          </a:xfrm>
          <a:prstGeom prst="straightConnector1">
            <a:avLst/>
          </a:prstGeom>
          <a:noFill/>
          <a:ln cap="rnd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198" name="Google Shape;198;p5"/>
          <p:cNvCxnSpPr/>
          <p:nvPr/>
        </p:nvCxnSpPr>
        <p:spPr>
          <a:xfrm flipH="1">
            <a:off x="3881943" y="2364850"/>
            <a:ext cx="1746696" cy="971017"/>
          </a:xfrm>
          <a:prstGeom prst="straightConnector1">
            <a:avLst/>
          </a:prstGeom>
          <a:noFill/>
          <a:ln cap="rnd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199" name="Google Shape;199;p5"/>
          <p:cNvCxnSpPr/>
          <p:nvPr/>
        </p:nvCxnSpPr>
        <p:spPr>
          <a:xfrm flipH="1">
            <a:off x="7569201" y="4833495"/>
            <a:ext cx="1156445" cy="297305"/>
          </a:xfrm>
          <a:prstGeom prst="straightConnector1">
            <a:avLst/>
          </a:prstGeom>
          <a:noFill/>
          <a:ln cap="rnd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"/>
          <p:cNvSpPr txBox="1"/>
          <p:nvPr/>
        </p:nvSpPr>
        <p:spPr>
          <a:xfrm>
            <a:off x="8509000" y="228600"/>
            <a:ext cx="1512046" cy="3037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 Black"/>
              <a:buNone/>
            </a:pPr>
            <a:r>
              <a:rPr b="0" i="0" lang="pt-BR" sz="1000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Modelo Relacional</a:t>
            </a:r>
            <a:endParaRPr/>
          </a:p>
        </p:txBody>
      </p:sp>
      <p:sp>
        <p:nvSpPr>
          <p:cNvPr id="205" name="Google Shape;205;p6"/>
          <p:cNvSpPr txBox="1"/>
          <p:nvPr/>
        </p:nvSpPr>
        <p:spPr>
          <a:xfrm>
            <a:off x="9372600" y="445462"/>
            <a:ext cx="1029446" cy="173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Noto Sans Symbols"/>
              <a:buNone/>
            </a:pPr>
            <a:r>
              <a:rPr b="0" i="0" lang="pt-BR" sz="7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BANCO DE </a:t>
            </a:r>
            <a:r>
              <a:rPr b="0" i="0" lang="pt-BR" sz="700" cap="none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rPr>
              <a:t>DADOS</a:t>
            </a:r>
            <a:r>
              <a:rPr b="0" i="0" lang="pt-BR" sz="7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</a:t>
            </a:r>
            <a:endParaRPr/>
          </a:p>
        </p:txBody>
      </p:sp>
      <p:sp>
        <p:nvSpPr>
          <p:cNvPr id="206" name="Google Shape;206;p6"/>
          <p:cNvSpPr txBox="1"/>
          <p:nvPr>
            <p:ph type="ctrTitle"/>
          </p:nvPr>
        </p:nvSpPr>
        <p:spPr>
          <a:xfrm>
            <a:off x="3892549" y="724179"/>
            <a:ext cx="3424767" cy="262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 Black"/>
              <a:buNone/>
            </a:pPr>
            <a:r>
              <a:rPr lang="pt-BR" sz="3200">
                <a:latin typeface="Arial Black"/>
                <a:ea typeface="Arial Black"/>
                <a:cs typeface="Arial Black"/>
                <a:sym typeface="Arial Black"/>
              </a:rPr>
              <a:t>Domínio</a:t>
            </a:r>
            <a:endParaRPr sz="115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478367" y="1497847"/>
            <a:ext cx="1096433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domínio</a:t>
            </a:r>
            <a:r>
              <a:rPr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é o </a:t>
            </a:r>
            <a:r>
              <a:rPr b="1"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conjunto de valores possíveis</a:t>
            </a:r>
            <a:r>
              <a:rPr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que um atributo pode armazenar. Ele define o </a:t>
            </a:r>
            <a:r>
              <a:rPr b="1"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tipo de dado</a:t>
            </a:r>
            <a:r>
              <a:rPr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o </a:t>
            </a:r>
            <a:r>
              <a:rPr b="1"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formato</a:t>
            </a:r>
            <a:r>
              <a:rPr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e, às vezes, </a:t>
            </a:r>
            <a:r>
              <a:rPr b="1"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restrições adicionais</a:t>
            </a:r>
            <a:r>
              <a:rPr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08" name="Google Shape;208;p6"/>
          <p:cNvSpPr txBox="1"/>
          <p:nvPr/>
        </p:nvSpPr>
        <p:spPr>
          <a:xfrm>
            <a:off x="541867" y="3168134"/>
            <a:ext cx="270086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Exemplo: </a:t>
            </a:r>
            <a:r>
              <a:rPr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Tabela CLIENTE</a:t>
            </a:r>
            <a:endParaRPr/>
          </a:p>
        </p:txBody>
      </p:sp>
      <p:pic>
        <p:nvPicPr>
          <p:cNvPr id="209" name="Google Shape;2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7289" y="3599758"/>
            <a:ext cx="7195311" cy="3182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"/>
          <p:cNvSpPr txBox="1"/>
          <p:nvPr/>
        </p:nvSpPr>
        <p:spPr>
          <a:xfrm>
            <a:off x="8509000" y="228600"/>
            <a:ext cx="1512046" cy="3037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 Black"/>
              <a:buNone/>
            </a:pPr>
            <a:r>
              <a:rPr b="0" i="0" lang="pt-BR" sz="1000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Modelo Relacional</a:t>
            </a:r>
            <a:endParaRPr/>
          </a:p>
        </p:txBody>
      </p:sp>
      <p:sp>
        <p:nvSpPr>
          <p:cNvPr id="215" name="Google Shape;215;p7"/>
          <p:cNvSpPr txBox="1"/>
          <p:nvPr/>
        </p:nvSpPr>
        <p:spPr>
          <a:xfrm>
            <a:off x="9372600" y="445462"/>
            <a:ext cx="1029446" cy="173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Noto Sans Symbols"/>
              <a:buNone/>
            </a:pPr>
            <a:r>
              <a:rPr b="0" i="0" lang="pt-BR" sz="7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BANCO DE </a:t>
            </a:r>
            <a:r>
              <a:rPr b="0" i="0" lang="pt-BR" sz="700" cap="none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rPr>
              <a:t>DADOS</a:t>
            </a:r>
            <a:r>
              <a:rPr b="0" i="0" lang="pt-BR" sz="7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</a:t>
            </a:r>
            <a:endParaRPr/>
          </a:p>
        </p:txBody>
      </p:sp>
      <p:sp>
        <p:nvSpPr>
          <p:cNvPr id="216" name="Google Shape;216;p7"/>
          <p:cNvSpPr txBox="1"/>
          <p:nvPr>
            <p:ph type="ctrTitle"/>
          </p:nvPr>
        </p:nvSpPr>
        <p:spPr>
          <a:xfrm>
            <a:off x="345318" y="913440"/>
            <a:ext cx="3424767" cy="262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 Black"/>
              <a:buNone/>
            </a:pPr>
            <a:r>
              <a:rPr lang="pt-BR" sz="2400">
                <a:latin typeface="Arial Black"/>
                <a:ea typeface="Arial Black"/>
                <a:cs typeface="Arial Black"/>
                <a:sym typeface="Arial Black"/>
              </a:rPr>
              <a:t>Explicação:</a:t>
            </a:r>
            <a:endParaRPr sz="8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0" y="-323165"/>
            <a:ext cx="457176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 txBox="1"/>
          <p:nvPr/>
        </p:nvSpPr>
        <p:spPr>
          <a:xfrm>
            <a:off x="4558582" y="5673874"/>
            <a:ext cx="612813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Email</a:t>
            </a:r>
            <a:endParaRPr sz="12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Domínio:</a:t>
            </a:r>
            <a:r>
              <a:rPr lang="pt-BR" sz="1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texto que siga o formato de endereço eletrônico (com “@” e domínio válido).</a:t>
            </a:r>
            <a:endParaRPr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Exemplos válidos:</a:t>
            </a:r>
            <a:r>
              <a:rPr lang="pt-BR" sz="1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“joao@email.com”.</a:t>
            </a:r>
            <a:endParaRPr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Exemplos inválidos:</a:t>
            </a:r>
            <a:r>
              <a:rPr lang="pt-BR" sz="1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“joao.com”, “maria@”.</a:t>
            </a:r>
            <a:endParaRPr/>
          </a:p>
        </p:txBody>
      </p:sp>
      <p:sp>
        <p:nvSpPr>
          <p:cNvPr id="219" name="Google Shape;219;p7"/>
          <p:cNvSpPr txBox="1"/>
          <p:nvPr/>
        </p:nvSpPr>
        <p:spPr>
          <a:xfrm>
            <a:off x="5551331" y="629174"/>
            <a:ext cx="591533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sz="12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Domínio:</a:t>
            </a:r>
            <a:r>
              <a:rPr lang="pt-BR" sz="1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sequência de caracteres (texto) com até 50 letras.</a:t>
            </a:r>
            <a:endParaRPr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Exemplos válidos:</a:t>
            </a:r>
            <a:r>
              <a:rPr lang="pt-BR" sz="1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“João Silva”, “Maria Lima”.</a:t>
            </a:r>
            <a:endParaRPr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Exemplos inválidos:</a:t>
            </a:r>
            <a:r>
              <a:rPr lang="pt-BR" sz="1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números isolados (ex.: “123”).</a:t>
            </a:r>
            <a:endParaRPr/>
          </a:p>
        </p:txBody>
      </p:sp>
      <p:sp>
        <p:nvSpPr>
          <p:cNvPr id="220" name="Google Shape;220;p7"/>
          <p:cNvSpPr txBox="1"/>
          <p:nvPr/>
        </p:nvSpPr>
        <p:spPr>
          <a:xfrm>
            <a:off x="0" y="3232802"/>
            <a:ext cx="2898213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ID_Cliente</a:t>
            </a:r>
            <a:endParaRPr sz="12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Domínio:</a:t>
            </a:r>
            <a:r>
              <a:rPr lang="pt-BR" sz="1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números inteiros positivos.</a:t>
            </a:r>
            <a:endParaRPr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Exemplos válidos:</a:t>
            </a:r>
            <a:r>
              <a:rPr lang="pt-BR" sz="1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1, 2, 3</a:t>
            </a:r>
            <a:endParaRPr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Exemplos inválidos:</a:t>
            </a:r>
            <a:r>
              <a:rPr lang="pt-BR" sz="1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-1, 0, “ABC”.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3531" y="1766181"/>
            <a:ext cx="7513607" cy="318204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2" name="Google Shape;222;p7"/>
          <p:cNvCxnSpPr/>
          <p:nvPr/>
        </p:nvCxnSpPr>
        <p:spPr>
          <a:xfrm flipH="1">
            <a:off x="5551331" y="1460171"/>
            <a:ext cx="383643" cy="1059242"/>
          </a:xfrm>
          <a:prstGeom prst="straightConnector1">
            <a:avLst/>
          </a:prstGeom>
          <a:noFill/>
          <a:ln cap="rnd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23" name="Google Shape;223;p7"/>
          <p:cNvCxnSpPr/>
          <p:nvPr/>
        </p:nvCxnSpPr>
        <p:spPr>
          <a:xfrm flipH="1" rot="10800000">
            <a:off x="2523206" y="2996904"/>
            <a:ext cx="922673" cy="432096"/>
          </a:xfrm>
          <a:prstGeom prst="straightConnector1">
            <a:avLst/>
          </a:prstGeom>
          <a:noFill/>
          <a:ln cap="rnd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24" name="Google Shape;224;p7"/>
          <p:cNvCxnSpPr/>
          <p:nvPr/>
        </p:nvCxnSpPr>
        <p:spPr>
          <a:xfrm flipH="1" rot="10800000">
            <a:off x="6504317" y="4217687"/>
            <a:ext cx="396815" cy="1657317"/>
          </a:xfrm>
          <a:prstGeom prst="straightConnector1">
            <a:avLst/>
          </a:prstGeom>
          <a:noFill/>
          <a:ln cap="rnd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"/>
          <p:cNvSpPr txBox="1"/>
          <p:nvPr/>
        </p:nvSpPr>
        <p:spPr>
          <a:xfrm>
            <a:off x="8509000" y="228600"/>
            <a:ext cx="1512046" cy="3037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 Black"/>
              <a:buNone/>
            </a:pPr>
            <a:r>
              <a:rPr b="0" i="0" lang="pt-BR" sz="1000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Modelo Relacional</a:t>
            </a:r>
            <a:endParaRPr/>
          </a:p>
        </p:txBody>
      </p:sp>
      <p:sp>
        <p:nvSpPr>
          <p:cNvPr id="230" name="Google Shape;230;p8"/>
          <p:cNvSpPr txBox="1"/>
          <p:nvPr/>
        </p:nvSpPr>
        <p:spPr>
          <a:xfrm>
            <a:off x="9372600" y="445462"/>
            <a:ext cx="1029446" cy="173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Noto Sans Symbols"/>
              <a:buNone/>
            </a:pPr>
            <a:r>
              <a:rPr b="0" i="0" lang="pt-BR" sz="7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BANCO DE </a:t>
            </a:r>
            <a:r>
              <a:rPr b="0" i="0" lang="pt-BR" sz="700" cap="none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rPr>
              <a:t>DADOS</a:t>
            </a:r>
            <a:r>
              <a:rPr b="0" i="0" lang="pt-BR" sz="7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</a:t>
            </a:r>
            <a:endParaRPr/>
          </a:p>
        </p:txBody>
      </p:sp>
      <p:sp>
        <p:nvSpPr>
          <p:cNvPr id="231" name="Google Shape;231;p8"/>
          <p:cNvSpPr txBox="1"/>
          <p:nvPr>
            <p:ph type="ctrTitle"/>
          </p:nvPr>
        </p:nvSpPr>
        <p:spPr>
          <a:xfrm>
            <a:off x="541867" y="690893"/>
            <a:ext cx="10193866" cy="262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 Black"/>
              <a:buNone/>
            </a:pPr>
            <a:r>
              <a:rPr lang="pt-BR" sz="1800">
                <a:latin typeface="Arial Black"/>
                <a:ea typeface="Arial Black"/>
                <a:cs typeface="Arial Black"/>
                <a:sym typeface="Arial Black"/>
              </a:rPr>
              <a:t>Chave Primária (Primary Key – PK) e Chave Estrangeira (Foreign Key – FK)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2" name="Google Shape;232;p8"/>
          <p:cNvSpPr txBox="1"/>
          <p:nvPr/>
        </p:nvSpPr>
        <p:spPr>
          <a:xfrm>
            <a:off x="1196726" y="3429000"/>
            <a:ext cx="270086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Exemplo: </a:t>
            </a:r>
            <a:r>
              <a:rPr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Tabela CLIENTE</a:t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541867" y="1263552"/>
            <a:ext cx="979257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Chave Primária (Primary Key – PK):</a:t>
            </a: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atributo ou conjunto de atributos que identifica unicamente cada registro da tabela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Chave Estrangeira (Foreign Key – FK):</a:t>
            </a: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atributo em uma tabela que se refere à </a:t>
            </a: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PK de outra tabela</a:t>
            </a: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criando um vínculo entre elas.</a:t>
            </a:r>
            <a:endParaRPr/>
          </a:p>
        </p:txBody>
      </p:sp>
      <p:pic>
        <p:nvPicPr>
          <p:cNvPr id="234" name="Google Shape;23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328" y="4068872"/>
            <a:ext cx="5255083" cy="1909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1773" y="4068871"/>
            <a:ext cx="4062564" cy="190923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8"/>
          <p:cNvSpPr txBox="1"/>
          <p:nvPr/>
        </p:nvSpPr>
        <p:spPr>
          <a:xfrm>
            <a:off x="7633579" y="3478544"/>
            <a:ext cx="270086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Exemplo: </a:t>
            </a:r>
            <a:r>
              <a:rPr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Tabela PEDIDO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"/>
          <p:cNvSpPr txBox="1"/>
          <p:nvPr/>
        </p:nvSpPr>
        <p:spPr>
          <a:xfrm>
            <a:off x="8509000" y="228600"/>
            <a:ext cx="1512046" cy="3037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 Black"/>
              <a:buNone/>
            </a:pPr>
            <a:r>
              <a:rPr b="0" i="0" lang="pt-BR" sz="1000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Modelo Relacional</a:t>
            </a:r>
            <a:endParaRPr/>
          </a:p>
        </p:txBody>
      </p:sp>
      <p:sp>
        <p:nvSpPr>
          <p:cNvPr id="242" name="Google Shape;242;p9"/>
          <p:cNvSpPr txBox="1"/>
          <p:nvPr/>
        </p:nvSpPr>
        <p:spPr>
          <a:xfrm>
            <a:off x="9372600" y="445462"/>
            <a:ext cx="1029446" cy="173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Noto Sans Symbols"/>
              <a:buNone/>
            </a:pPr>
            <a:r>
              <a:rPr b="0" i="0" lang="pt-BR" sz="7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BANCO DE </a:t>
            </a:r>
            <a:r>
              <a:rPr b="0" i="0" lang="pt-BR" sz="700" cap="none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rPr>
              <a:t>DADOS</a:t>
            </a:r>
            <a:r>
              <a:rPr b="0" i="0" lang="pt-BR" sz="7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</a:t>
            </a:r>
            <a:endParaRPr/>
          </a:p>
        </p:txBody>
      </p:sp>
      <p:pic>
        <p:nvPicPr>
          <p:cNvPr id="243" name="Google Shape;24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438" y="4068872"/>
            <a:ext cx="4659861" cy="1909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35018" y="4068871"/>
            <a:ext cx="4062564" cy="190923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9"/>
          <p:cNvSpPr txBox="1"/>
          <p:nvPr/>
        </p:nvSpPr>
        <p:spPr>
          <a:xfrm>
            <a:off x="372825" y="307084"/>
            <a:ext cx="16398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Explicação: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9"/>
          <p:cNvSpPr txBox="1"/>
          <p:nvPr/>
        </p:nvSpPr>
        <p:spPr>
          <a:xfrm>
            <a:off x="532307" y="708801"/>
            <a:ext cx="981329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ID_Cliente da tabela </a:t>
            </a: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PEDIDO</a:t>
            </a: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aponta para um cliente existente na tabela </a:t>
            </a: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r>
              <a:rPr b="0" i="0" lang="pt-B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  <p:sp>
        <p:nvSpPr>
          <p:cNvPr id="247" name="Google Shape;247;p9"/>
          <p:cNvSpPr txBox="1"/>
          <p:nvPr/>
        </p:nvSpPr>
        <p:spPr>
          <a:xfrm>
            <a:off x="532307" y="1189628"/>
            <a:ext cx="95645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Isso garante </a:t>
            </a:r>
            <a:r>
              <a:rPr b="1"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integridade referencial</a:t>
            </a: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não é possível inserir um pedido para um cliente que não existe.</a:t>
            </a:r>
            <a:endParaRPr/>
          </a:p>
        </p:txBody>
      </p:sp>
      <p:sp>
        <p:nvSpPr>
          <p:cNvPr id="248" name="Google Shape;248;p9"/>
          <p:cNvSpPr txBox="1"/>
          <p:nvPr/>
        </p:nvSpPr>
        <p:spPr>
          <a:xfrm>
            <a:off x="4928086" y="4699131"/>
            <a:ext cx="274414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Pedido 101 → cliente 1 (João Silva)</a:t>
            </a:r>
            <a:endParaRPr/>
          </a:p>
        </p:txBody>
      </p:sp>
      <p:sp>
        <p:nvSpPr>
          <p:cNvPr id="249" name="Google Shape;249;p9"/>
          <p:cNvSpPr txBox="1"/>
          <p:nvPr/>
        </p:nvSpPr>
        <p:spPr>
          <a:xfrm>
            <a:off x="4928086" y="5362876"/>
            <a:ext cx="28776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Pedido 102 → cliente 2 (Maria Lima)</a:t>
            </a:r>
            <a:endParaRPr/>
          </a:p>
        </p:txBody>
      </p:sp>
      <p:sp>
        <p:nvSpPr>
          <p:cNvPr id="250" name="Google Shape;250;p9"/>
          <p:cNvSpPr txBox="1"/>
          <p:nvPr/>
        </p:nvSpPr>
        <p:spPr>
          <a:xfrm>
            <a:off x="3963119" y="2920466"/>
            <a:ext cx="35936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Pedido 103 → cliente 1 (João Silva)</a:t>
            </a:r>
            <a:endParaRPr/>
          </a:p>
        </p:txBody>
      </p:sp>
      <p:cxnSp>
        <p:nvCxnSpPr>
          <p:cNvPr id="251" name="Google Shape;251;p9"/>
          <p:cNvCxnSpPr>
            <a:stCxn id="244" idx="1"/>
          </p:cNvCxnSpPr>
          <p:nvPr/>
        </p:nvCxnSpPr>
        <p:spPr>
          <a:xfrm flipH="1">
            <a:off x="1233718" y="5023489"/>
            <a:ext cx="6501300" cy="1161600"/>
          </a:xfrm>
          <a:prstGeom prst="bentConnector3">
            <a:avLst>
              <a:gd fmla="val 50000" name="adj1"/>
            </a:avLst>
          </a:prstGeom>
          <a:noFill/>
          <a:ln cap="rnd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52" name="Google Shape;252;p9"/>
          <p:cNvCxnSpPr/>
          <p:nvPr/>
        </p:nvCxnSpPr>
        <p:spPr>
          <a:xfrm rot="10800000">
            <a:off x="1233577" y="5094611"/>
            <a:ext cx="0" cy="1090529"/>
          </a:xfrm>
          <a:prstGeom prst="straightConnector1">
            <a:avLst/>
          </a:prstGeom>
          <a:noFill/>
          <a:ln cap="rnd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53" name="Google Shape;253;p9"/>
          <p:cNvCxnSpPr/>
          <p:nvPr/>
        </p:nvCxnSpPr>
        <p:spPr>
          <a:xfrm rot="10800000">
            <a:off x="394318" y="3861942"/>
            <a:ext cx="7340700" cy="1408800"/>
          </a:xfrm>
          <a:prstGeom prst="bentConnector3">
            <a:avLst>
              <a:gd fmla="val 49999" name="adj1"/>
            </a:avLst>
          </a:prstGeom>
          <a:noFill/>
          <a:ln cap="rnd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54" name="Google Shape;254;p9"/>
          <p:cNvCxnSpPr/>
          <p:nvPr/>
        </p:nvCxnSpPr>
        <p:spPr>
          <a:xfrm>
            <a:off x="394418" y="3861840"/>
            <a:ext cx="0" cy="1615934"/>
          </a:xfrm>
          <a:prstGeom prst="straightConnector1">
            <a:avLst/>
          </a:prstGeom>
          <a:noFill/>
          <a:ln cap="rnd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55" name="Google Shape;255;p9"/>
          <p:cNvCxnSpPr/>
          <p:nvPr/>
        </p:nvCxnSpPr>
        <p:spPr>
          <a:xfrm>
            <a:off x="8315864" y="5501375"/>
            <a:ext cx="517585" cy="0"/>
          </a:xfrm>
          <a:prstGeom prst="straightConnector1">
            <a:avLst/>
          </a:prstGeom>
          <a:noFill/>
          <a:ln cap="rnd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56" name="Google Shape;256;p9"/>
          <p:cNvCxnSpPr/>
          <p:nvPr/>
        </p:nvCxnSpPr>
        <p:spPr>
          <a:xfrm rot="10800000">
            <a:off x="8842075" y="3260785"/>
            <a:ext cx="0" cy="2240590"/>
          </a:xfrm>
          <a:prstGeom prst="straightConnector1">
            <a:avLst/>
          </a:prstGeom>
          <a:noFill/>
          <a:ln cap="rnd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57" name="Google Shape;257;p9"/>
          <p:cNvCxnSpPr/>
          <p:nvPr/>
        </p:nvCxnSpPr>
        <p:spPr>
          <a:xfrm rot="10800000">
            <a:off x="2044460" y="3243532"/>
            <a:ext cx="6788989" cy="0"/>
          </a:xfrm>
          <a:prstGeom prst="straightConnector1">
            <a:avLst/>
          </a:prstGeom>
          <a:noFill/>
          <a:ln cap="rnd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cxnSp>
        <p:nvCxnSpPr>
          <p:cNvPr id="258" name="Google Shape;258;p9"/>
          <p:cNvCxnSpPr/>
          <p:nvPr/>
        </p:nvCxnSpPr>
        <p:spPr>
          <a:xfrm>
            <a:off x="2044460" y="3260785"/>
            <a:ext cx="0" cy="1762703"/>
          </a:xfrm>
          <a:prstGeom prst="straightConnector1">
            <a:avLst/>
          </a:prstGeom>
          <a:noFill/>
          <a:ln cap="rnd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</p:cxnSp>
      <p:sp>
        <p:nvSpPr>
          <p:cNvPr id="259" name="Google Shape;259;p9"/>
          <p:cNvSpPr txBox="1"/>
          <p:nvPr/>
        </p:nvSpPr>
        <p:spPr>
          <a:xfrm>
            <a:off x="617507" y="2382659"/>
            <a:ext cx="43905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PK:</a:t>
            </a:r>
            <a:r>
              <a:rPr i="1"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identifica de forma única cada linha.</a:t>
            </a:r>
            <a:endParaRPr/>
          </a:p>
        </p:txBody>
      </p:sp>
      <p:sp>
        <p:nvSpPr>
          <p:cNvPr id="260" name="Google Shape;260;p9"/>
          <p:cNvSpPr txBox="1"/>
          <p:nvPr/>
        </p:nvSpPr>
        <p:spPr>
          <a:xfrm>
            <a:off x="617507" y="2005869"/>
            <a:ext cx="7054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FK:</a:t>
            </a:r>
            <a:r>
              <a:rPr i="1"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conecta uma tabela a outra, mantendo a coerência dos dados.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"/>
          <p:cNvSpPr txBox="1"/>
          <p:nvPr/>
        </p:nvSpPr>
        <p:spPr>
          <a:xfrm>
            <a:off x="8509000" y="228600"/>
            <a:ext cx="1512046" cy="3037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 Black"/>
              <a:buNone/>
            </a:pPr>
            <a:r>
              <a:rPr b="0" i="0" lang="pt-BR" sz="1000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Modelo Relacional</a:t>
            </a:r>
            <a:endParaRPr/>
          </a:p>
        </p:txBody>
      </p:sp>
      <p:sp>
        <p:nvSpPr>
          <p:cNvPr id="266" name="Google Shape;266;p10"/>
          <p:cNvSpPr txBox="1"/>
          <p:nvPr/>
        </p:nvSpPr>
        <p:spPr>
          <a:xfrm>
            <a:off x="9372600" y="445462"/>
            <a:ext cx="1029446" cy="173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Noto Sans Symbols"/>
              <a:buNone/>
            </a:pPr>
            <a:r>
              <a:rPr b="0" i="0" lang="pt-BR" sz="7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BANCO DE </a:t>
            </a:r>
            <a:r>
              <a:rPr b="0" i="0" lang="pt-BR" sz="700" cap="none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rPr>
              <a:t>DADOS</a:t>
            </a:r>
            <a:r>
              <a:rPr b="0" i="0" lang="pt-BR" sz="7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</a:t>
            </a:r>
            <a:endParaRPr/>
          </a:p>
        </p:txBody>
      </p:sp>
      <p:sp>
        <p:nvSpPr>
          <p:cNvPr id="267" name="Google Shape;267;p10"/>
          <p:cNvSpPr txBox="1"/>
          <p:nvPr>
            <p:ph type="ctrTitle"/>
          </p:nvPr>
        </p:nvSpPr>
        <p:spPr>
          <a:xfrm>
            <a:off x="3176717" y="494674"/>
            <a:ext cx="3261344" cy="262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 Black"/>
              <a:buNone/>
            </a:pPr>
            <a:r>
              <a:rPr lang="pt-BR" sz="1800">
                <a:latin typeface="Arial Black"/>
                <a:ea typeface="Arial Black"/>
                <a:cs typeface="Arial Black"/>
                <a:sym typeface="Arial Black"/>
              </a:rPr>
              <a:t>Integridade Referencial</a:t>
            </a:r>
            <a:endParaRPr sz="4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8" name="Google Shape;268;p10"/>
          <p:cNvSpPr txBox="1"/>
          <p:nvPr/>
        </p:nvSpPr>
        <p:spPr>
          <a:xfrm>
            <a:off x="1196726" y="3429000"/>
            <a:ext cx="270086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Exemplo: </a:t>
            </a:r>
            <a:r>
              <a:rPr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Tabela CLIENTE</a:t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352245" y="1114355"/>
            <a:ext cx="1116753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integridade referencial</a:t>
            </a: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é uma regra do </a:t>
            </a:r>
            <a:r>
              <a:rPr b="1"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modelo relacional</a:t>
            </a: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que garante que os </a:t>
            </a:r>
            <a:r>
              <a:rPr b="1"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valores de uma chave estrangeira (FK)</a:t>
            </a: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em uma tabela correspondam a </a:t>
            </a:r>
            <a:r>
              <a:rPr b="1"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valores existentes na chave primária (PK)</a:t>
            </a: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da tabela relacionada.</a:t>
            </a: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Assim, </a:t>
            </a:r>
            <a:r>
              <a:rPr b="1"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não é possível</a:t>
            </a: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criar relacionamentos inválidos ou “órfãos” no banco de dados.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0" name="Google Shape;27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328" y="4068872"/>
            <a:ext cx="5255083" cy="1909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2373" y="4082236"/>
            <a:ext cx="4062564" cy="190923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0"/>
          <p:cNvSpPr txBox="1"/>
          <p:nvPr/>
        </p:nvSpPr>
        <p:spPr>
          <a:xfrm>
            <a:off x="7633579" y="3478544"/>
            <a:ext cx="270086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Exemplo: </a:t>
            </a:r>
            <a:r>
              <a:rPr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Tabela PEDIDO</a:t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1615826" y="6110147"/>
            <a:ext cx="1862666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PK: </a:t>
            </a:r>
            <a:r>
              <a:rPr b="1" i="1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ID_Cliente </a:t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3556000" y="2403101"/>
            <a:ext cx="1847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5936012" y="6110147"/>
            <a:ext cx="6096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PK:</a:t>
            </a:r>
            <a:r>
              <a:rPr b="0" lang="pt-BR" sz="1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0" i="1" lang="pt-BR" sz="1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ID_Pedido</a:t>
            </a:r>
            <a:endParaRPr b="0" i="1" sz="16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FK:</a:t>
            </a:r>
            <a:r>
              <a:rPr b="0" lang="pt-BR" sz="1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0" i="1" lang="pt-BR" sz="1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ID_Cliente → referência à PK da tabela </a:t>
            </a:r>
            <a:r>
              <a:rPr b="1" i="1" lang="pt-BR" sz="1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CLIENTE</a:t>
            </a:r>
            <a:endParaRPr b="0" i="1" sz="16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"/>
          <p:cNvSpPr txBox="1"/>
          <p:nvPr/>
        </p:nvSpPr>
        <p:spPr>
          <a:xfrm>
            <a:off x="8509000" y="228600"/>
            <a:ext cx="1512046" cy="3037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 Black"/>
              <a:buNone/>
            </a:pPr>
            <a:r>
              <a:rPr b="0" i="0" lang="pt-BR" sz="1000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Modelo Relacional</a:t>
            </a:r>
            <a:endParaRPr/>
          </a:p>
        </p:txBody>
      </p:sp>
      <p:sp>
        <p:nvSpPr>
          <p:cNvPr id="281" name="Google Shape;281;p11"/>
          <p:cNvSpPr txBox="1"/>
          <p:nvPr/>
        </p:nvSpPr>
        <p:spPr>
          <a:xfrm>
            <a:off x="9372600" y="445462"/>
            <a:ext cx="1029446" cy="173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Noto Sans Symbols"/>
              <a:buNone/>
            </a:pPr>
            <a:r>
              <a:rPr b="0" i="0" lang="pt-BR" sz="7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BANCO DE </a:t>
            </a:r>
            <a:r>
              <a:rPr b="0" i="0" lang="pt-BR" sz="700" cap="none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rPr>
              <a:t>DADOS</a:t>
            </a:r>
            <a:r>
              <a:rPr b="0" i="0" lang="pt-BR" sz="7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</a:t>
            </a:r>
            <a:endParaRPr/>
          </a:p>
        </p:txBody>
      </p:sp>
      <p:sp>
        <p:nvSpPr>
          <p:cNvPr id="282" name="Google Shape;282;p11"/>
          <p:cNvSpPr txBox="1"/>
          <p:nvPr>
            <p:ph type="ctrTitle"/>
          </p:nvPr>
        </p:nvSpPr>
        <p:spPr>
          <a:xfrm>
            <a:off x="3176717" y="494674"/>
            <a:ext cx="3261344" cy="262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 Black"/>
              <a:buNone/>
            </a:pPr>
            <a:r>
              <a:rPr lang="pt-BR" sz="1800">
                <a:latin typeface="Arial Black"/>
                <a:ea typeface="Arial Black"/>
                <a:cs typeface="Arial Black"/>
                <a:sym typeface="Arial Black"/>
              </a:rPr>
              <a:t>Integridade Referencial</a:t>
            </a:r>
            <a:endParaRPr sz="4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3556000" y="2403101"/>
            <a:ext cx="1847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1"/>
          <p:cNvSpPr txBox="1"/>
          <p:nvPr/>
        </p:nvSpPr>
        <p:spPr>
          <a:xfrm>
            <a:off x="1161676" y="1346707"/>
            <a:ext cx="872564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Benefícios da integridade referencial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AutoNum type="arabicPeriod"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Evita registros “órfãos” (um pedido sem cliente, por exemplo).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AutoNum type="arabicPeriod"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Garante consistência dos dados.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AutoNum type="arabicPeriod"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Facilita a manutenção e evita erros lógicos.</a:t>
            </a:r>
            <a:endParaRPr/>
          </a:p>
        </p:txBody>
      </p:sp>
      <p:pic>
        <p:nvPicPr>
          <p:cNvPr id="285" name="Google Shape;28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1676" y="3106045"/>
            <a:ext cx="8392645" cy="1641101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1"/>
          <p:cNvSpPr txBox="1"/>
          <p:nvPr/>
        </p:nvSpPr>
        <p:spPr>
          <a:xfrm>
            <a:off x="1583268" y="4942682"/>
            <a:ext cx="6019799" cy="368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✅ Válido → FK aponta para PK existente.</a:t>
            </a:r>
            <a:endParaRPr/>
          </a:p>
        </p:txBody>
      </p:sp>
      <p:sp>
        <p:nvSpPr>
          <p:cNvPr id="287" name="Google Shape;287;p11"/>
          <p:cNvSpPr txBox="1"/>
          <p:nvPr/>
        </p:nvSpPr>
        <p:spPr>
          <a:xfrm>
            <a:off x="1583268" y="5332063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❌ Inválido → FK aponta para PK inexistente.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"/>
          <p:cNvSpPr txBox="1"/>
          <p:nvPr/>
        </p:nvSpPr>
        <p:spPr>
          <a:xfrm>
            <a:off x="8509000" y="228600"/>
            <a:ext cx="1512046" cy="3037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 Black"/>
              <a:buNone/>
            </a:pPr>
            <a:r>
              <a:rPr b="0" i="0" lang="pt-BR" sz="1000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Modelo Relacional</a:t>
            </a:r>
            <a:endParaRPr/>
          </a:p>
        </p:txBody>
      </p:sp>
      <p:sp>
        <p:nvSpPr>
          <p:cNvPr id="293" name="Google Shape;293;p12"/>
          <p:cNvSpPr txBox="1"/>
          <p:nvPr/>
        </p:nvSpPr>
        <p:spPr>
          <a:xfrm>
            <a:off x="9372600" y="445462"/>
            <a:ext cx="1029446" cy="173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Noto Sans Symbols"/>
              <a:buNone/>
            </a:pPr>
            <a:r>
              <a:rPr b="0" i="0" lang="pt-BR" sz="7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BANCO DE </a:t>
            </a:r>
            <a:r>
              <a:rPr b="0" i="0" lang="pt-BR" sz="700" cap="none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rPr>
              <a:t>DADOS</a:t>
            </a:r>
            <a:r>
              <a:rPr b="0" i="0" lang="pt-BR" sz="7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</a:t>
            </a:r>
            <a:endParaRPr/>
          </a:p>
        </p:txBody>
      </p:sp>
      <p:sp>
        <p:nvSpPr>
          <p:cNvPr id="294" name="Google Shape;294;p12"/>
          <p:cNvSpPr txBox="1"/>
          <p:nvPr/>
        </p:nvSpPr>
        <p:spPr>
          <a:xfrm>
            <a:off x="1613771" y="470317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OBSERVE AS TABELAS</a:t>
            </a:r>
            <a:endParaRPr/>
          </a:p>
        </p:txBody>
      </p:sp>
      <p:pic>
        <p:nvPicPr>
          <p:cNvPr id="295" name="Google Shape;29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285" y="1218154"/>
            <a:ext cx="8877038" cy="5487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Íon">
  <a:themeElements>
    <a:clrScheme name="Ion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2025-08-12T17:03:07Z</dcterms:created>
  <dc:creator>Daniel Jose de Oliveira Diniz</dc:creator>
</cp:coreProperties>
</file>